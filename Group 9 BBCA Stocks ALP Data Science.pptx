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svg" ContentType="image/svg"/>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19.12-->
<p:presentation xmlns:r="http://schemas.openxmlformats.org/officeDocument/2006/relationships" xmlns:a="http://schemas.openxmlformats.org/drawingml/2006/main"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8288000" cy="10287000"/>
  <p:notesSz cx="6858000" cy="9144000"/>
  <p:embeddedFontLst>
    <p:embeddedFont>
      <p:font typeface="Agrandir Bold" panose="00000800000000000000"/>
      <p:regular r:id="rId51"/>
    </p:embeddedFont>
    <p:embeddedFont>
      <p:font typeface="Montserrat Semi-Bold" panose="00000700000000000000"/>
      <p:regular r:id="rId52"/>
    </p:embeddedFont>
    <p:embeddedFont>
      <p:font typeface="Montserrat Bold" panose="00000800000000000000"/>
      <p:regular r:id="rId53"/>
    </p:embeddedFont>
    <p:embeddedFont>
      <p:font typeface="Agrandir" panose="00000500000000000000"/>
      <p:regular r:id="rId54"/>
    </p:embeddedFont>
    <p:embeddedFont>
      <p:font typeface="Helvetica World Bold" panose="020B0800040000020004"/>
      <p:regular r:id="rId55"/>
    </p:embeddedFont>
    <p:embeddedFont>
      <p:font typeface="Inter" panose="020B0502030000000004"/>
      <p:regular r:id="rId56"/>
    </p:embeddedFont>
    <p:embeddedFont>
      <p:font typeface="Londrina Solid Heavy" panose="00000A00000000000000"/>
      <p:regular r:id="rId57"/>
    </p:embeddedFont>
  </p:embeddedFontLst>
  <p:custDataLst>
    <p:tags r:id="rId5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1" d="100"/>
          <a:sy n="1" d="100"/>
        </p:scale>
        <p:origin x="0" y="0"/>
      </p:cViewPr>
    </p:cSldViewPr>
  </p:notesViewPr>
  <p:gridSpacing cx="76200" cy="7620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 Type="http://schemas.openxmlformats.org/officeDocument/2006/relationships/slide" Target="slides/slide1.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 Type="http://schemas.openxmlformats.org/officeDocument/2006/relationships/slide" Target="slides/slide2.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 Type="http://schemas.openxmlformats.org/officeDocument/2006/relationships/slide" Target="slides/slide3.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 Type="http://schemas.openxmlformats.org/officeDocument/2006/relationships/slide" Target="slides/slide4.xml" /><Relationship Id="rId50" Type="http://schemas.openxmlformats.org/officeDocument/2006/relationships/tags" Target="tags/tag1.xml" /><Relationship Id="rId51" Type="http://schemas.openxmlformats.org/officeDocument/2006/relationships/font" Target="fonts/font1.fntdata" /><Relationship Id="rId52" Type="http://schemas.openxmlformats.org/officeDocument/2006/relationships/font" Target="fonts/font2.fntdata" /><Relationship Id="rId53" Type="http://schemas.openxmlformats.org/officeDocument/2006/relationships/font" Target="fonts/font3.fntdata" /><Relationship Id="rId54" Type="http://schemas.openxmlformats.org/officeDocument/2006/relationships/font" Target="fonts/font4.fntdata" /><Relationship Id="rId55" Type="http://schemas.openxmlformats.org/officeDocument/2006/relationships/font" Target="fonts/font5.fntdata" /><Relationship Id="rId56" Type="http://schemas.openxmlformats.org/officeDocument/2006/relationships/font" Target="fonts/font6.fntdata" /><Relationship Id="rId57" Type="http://schemas.openxmlformats.org/officeDocument/2006/relationships/font" Target="fonts/font7.fntdata" /><Relationship Id="rId58" Type="http://schemas.openxmlformats.org/officeDocument/2006/relationships/presProps" Target="presProps.xml" /><Relationship Id="rId59" Type="http://schemas.openxmlformats.org/officeDocument/2006/relationships/viewProps" Target="viewProps.xml" /><Relationship Id="rId6" Type="http://schemas.openxmlformats.org/officeDocument/2006/relationships/slide" Target="slides/slide5.xml" /><Relationship Id="rId60" Type="http://schemas.openxmlformats.org/officeDocument/2006/relationships/theme" Target="theme/theme1.xml" /><Relationship Id="rId61" Type="http://schemas.openxmlformats.org/officeDocument/2006/relationships/tableStyles" Target="tableStyles.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type="blank" preserve="1">
  <p:cSld name="Blank">
    <p:spTree>
      <p:nvGrpSpPr>
        <p:cNvPr id="1" name=""/>
        <p:cNvGrpSpPr/>
        <p:nvPr/>
      </p:nvGrpSpPr>
      <p:grpSpPr>
        <a:xfrm>
          <a:off x="0" y="0"/>
          <a:ext cx="0" cy="0"/>
        </a:xfrm>
      </p:grpSpPr>
      <p:sp>
        <p:nvSpPr>
          <p:cNvPr id="2" name="Date Placeholder 1"/>
          <p:cNvSpPr>
            <a:spLocks noGrp="1"/>
          </p:cNvSpPr>
          <p:nvPr>
            <p:ph type="dt" sz="half" idx="10"/>
          </p:nvPr>
        </p:nvSpPr>
        <p:spPr/>
        <p:txBody>
          <a:bodyPr/>
          <a:lstStyle/>
          <a:p>
            <a:fld id="{1D8BD707-D9CF-40AE-B4C6-C98DA3205C09}" type="datetimeFigureOut">
              <a:rPr lang="en-US" smtClean="0"/>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Ref idx="1001">
        <a:schemeClr val="bg1"/>
      </p:bgRef>
    </p:bg>
    <p:spTree>
      <p:nvGrpSpPr>
        <p:cNvPr id="1" name=""/>
        <p:cNvGrpSpPr/>
        <p:nvPr/>
      </p:nvGrpSpPr>
      <p:grpSpPr>
        <a:xfrm>
          <a:off x="0" y="0"/>
          <a: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1.jpeg" /><Relationship Id="rId3" Type="http://schemas.openxmlformats.org/officeDocument/2006/relationships/image" Target="../media/image2.png" /><Relationship Id="rId4" Type="http://schemas.openxmlformats.org/officeDocument/2006/relationships/image" Target="../media/image3.svg" /><Relationship Id="rId5" Type="http://schemas.openxmlformats.org/officeDocument/2006/relationships/image" Target="../media/image4.svg" /><Relationship Id="rId6" Type="http://schemas.openxmlformats.org/officeDocument/2006/relationships/image" Target="../media/image5.png" /><Relationship Id="rId7" Type="http://schemas.openxmlformats.org/officeDocument/2006/relationships/image" Target="../media/image6.svg" /><Relationship Id="rId8" Type="http://schemas.openxmlformats.org/officeDocument/2006/relationships/image" Target="../media/image7.sv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8.svg" /><Relationship Id="rId4" Type="http://schemas.openxmlformats.org/officeDocument/2006/relationships/image" Target="../media/image5.png" /><Relationship Id="rId5" Type="http://schemas.openxmlformats.org/officeDocument/2006/relationships/image" Target="../media/image9.svg" /><Relationship Id="rId6" Type="http://schemas.openxmlformats.org/officeDocument/2006/relationships/image" Target="../media/image10.svg" /><Relationship Id="rId7" Type="http://schemas.openxmlformats.org/officeDocument/2006/relationships/image" Target="../media/image11.jpe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12.jpeg" /><Relationship Id="rId3" Type="http://schemas.openxmlformats.org/officeDocument/2006/relationships/image" Target="../media/image5.png" /><Relationship Id="rId4" Type="http://schemas.openxmlformats.org/officeDocument/2006/relationships/image" Target="../media/image13.svg" /><Relationship Id="rId5" Type="http://schemas.openxmlformats.org/officeDocument/2006/relationships/image" Target="../media/image2.png" /><Relationship Id="rId6" Type="http://schemas.openxmlformats.org/officeDocument/2006/relationships/image" Target="../media/image14.svg"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5.png" /><Relationship Id="rId3" Type="http://schemas.openxmlformats.org/officeDocument/2006/relationships/image" Target="../media/image15.svg" /><Relationship Id="rId4" Type="http://schemas.openxmlformats.org/officeDocument/2006/relationships/image" Target="../media/image16.svg" /><Relationship Id="rId5" Type="http://schemas.openxmlformats.org/officeDocument/2006/relationships/image" Target="../media/image17.jpeg" /><Relationship Id="rId6" Type="http://schemas.openxmlformats.org/officeDocument/2006/relationships/image" Target="../media/image2.png" /><Relationship Id="rId7" Type="http://schemas.openxmlformats.org/officeDocument/2006/relationships/image" Target="../media/image18.svg" /><Relationship Id="rId8" Type="http://schemas.openxmlformats.org/officeDocument/2006/relationships/image" Target="../media/image19.png" /><Relationship Id="rId9" Type="http://schemas.openxmlformats.org/officeDocument/2006/relationships/image" Target="../media/image20.svg"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12.jpeg" /><Relationship Id="rId3" Type="http://schemas.openxmlformats.org/officeDocument/2006/relationships/image" Target="../media/image5.png" /><Relationship Id="rId4" Type="http://schemas.openxmlformats.org/officeDocument/2006/relationships/image" Target="../media/image21.svg" /><Relationship Id="rId5" Type="http://schemas.openxmlformats.org/officeDocument/2006/relationships/image" Target="../media/image2.png" /><Relationship Id="rId6" Type="http://schemas.openxmlformats.org/officeDocument/2006/relationships/image" Target="../media/image22.svg" /><Relationship Id="rId7" Type="http://schemas.openxmlformats.org/officeDocument/2006/relationships/image" Target="../media/image23.png" /><Relationship Id="rId8" Type="http://schemas.openxmlformats.org/officeDocument/2006/relationships/image" Target="../media/image24.svg"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image" Target="../media/image30.svg" /><Relationship Id="rId11" Type="http://schemas.openxmlformats.org/officeDocument/2006/relationships/image" Target="../media/image31.svg" /><Relationship Id="rId12" Type="http://schemas.openxmlformats.org/officeDocument/2006/relationships/image" Target="../media/image32.svg" /><Relationship Id="rId2" Type="http://schemas.openxmlformats.org/officeDocument/2006/relationships/image" Target="../media/image12.jpeg" /><Relationship Id="rId3" Type="http://schemas.openxmlformats.org/officeDocument/2006/relationships/image" Target="../media/image5.png" /><Relationship Id="rId4" Type="http://schemas.openxmlformats.org/officeDocument/2006/relationships/image" Target="../media/image25.svg" /><Relationship Id="rId5" Type="http://schemas.openxmlformats.org/officeDocument/2006/relationships/image" Target="../media/image2.png" /><Relationship Id="rId6" Type="http://schemas.openxmlformats.org/officeDocument/2006/relationships/image" Target="../media/image26.svg" /><Relationship Id="rId7" Type="http://schemas.openxmlformats.org/officeDocument/2006/relationships/image" Target="../media/image27.png" /><Relationship Id="rId8" Type="http://schemas.openxmlformats.org/officeDocument/2006/relationships/image" Target="../media/image28.svg" /><Relationship Id="rId9" Type="http://schemas.openxmlformats.org/officeDocument/2006/relationships/image" Target="../media/image29.svg"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17.jpeg" /><Relationship Id="rId3" Type="http://schemas.openxmlformats.org/officeDocument/2006/relationships/image" Target="../media/image2.png" /><Relationship Id="rId4" Type="http://schemas.openxmlformats.org/officeDocument/2006/relationships/image" Target="../media/image33.svg" /><Relationship Id="rId5" Type="http://schemas.openxmlformats.org/officeDocument/2006/relationships/image" Target="../media/image5.png" /><Relationship Id="rId6" Type="http://schemas.openxmlformats.org/officeDocument/2006/relationships/image" Target="../media/image34.svg" /><Relationship Id="rId7" Type="http://schemas.openxmlformats.org/officeDocument/2006/relationships/image" Target="../media/image35.svg" /><Relationship Id="rId8" Type="http://schemas.openxmlformats.org/officeDocument/2006/relationships/image" Target="../media/image36.png" /><Relationship Id="rId9" Type="http://schemas.openxmlformats.org/officeDocument/2006/relationships/image" Target="../media/image37.svg"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38.jpeg" /><Relationship Id="rId3" Type="http://schemas.openxmlformats.org/officeDocument/2006/relationships/image" Target="../media/image5.png" /><Relationship Id="rId4" Type="http://schemas.openxmlformats.org/officeDocument/2006/relationships/image" Target="../media/image39.svg" /><Relationship Id="rId5" Type="http://schemas.openxmlformats.org/officeDocument/2006/relationships/image" Target="../media/image40.svg" /><Relationship Id="rId6" Type="http://schemas.openxmlformats.org/officeDocument/2006/relationships/image" Target="../media/image41.png" /><Relationship Id="rId7" Type="http://schemas.openxmlformats.org/officeDocument/2006/relationships/image" Target="../media/image42.svg"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image" Target="../media/image48.svg" /><Relationship Id="rId11" Type="http://schemas.openxmlformats.org/officeDocument/2006/relationships/image" Target="../media/image49.svg" /><Relationship Id="rId12" Type="http://schemas.openxmlformats.org/officeDocument/2006/relationships/image" Target="../media/image41.png" /><Relationship Id="rId13" Type="http://schemas.openxmlformats.org/officeDocument/2006/relationships/image" Target="../media/image50.svg" /><Relationship Id="rId14" Type="http://schemas.openxmlformats.org/officeDocument/2006/relationships/image" Target="../media/image51.png" /><Relationship Id="rId15" Type="http://schemas.openxmlformats.org/officeDocument/2006/relationships/image" Target="../media/image52.svg" /><Relationship Id="rId2" Type="http://schemas.openxmlformats.org/officeDocument/2006/relationships/image" Target="../media/image38.jpeg" /><Relationship Id="rId3" Type="http://schemas.openxmlformats.org/officeDocument/2006/relationships/image" Target="../media/image2.png" /><Relationship Id="rId4" Type="http://schemas.openxmlformats.org/officeDocument/2006/relationships/image" Target="../media/image43.svg" /><Relationship Id="rId5" Type="http://schemas.openxmlformats.org/officeDocument/2006/relationships/image" Target="../media/image44.svg" /><Relationship Id="rId6" Type="http://schemas.openxmlformats.org/officeDocument/2006/relationships/image" Target="../media/image5.png" /><Relationship Id="rId7" Type="http://schemas.openxmlformats.org/officeDocument/2006/relationships/image" Target="../media/image45.svg" /><Relationship Id="rId8" Type="http://schemas.openxmlformats.org/officeDocument/2006/relationships/image" Target="../media/image46.svg" /><Relationship Id="rId9" Type="http://schemas.openxmlformats.org/officeDocument/2006/relationships/image" Target="../media/image47.png"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53.jpeg" /><Relationship Id="rId3" Type="http://schemas.openxmlformats.org/officeDocument/2006/relationships/image" Target="../media/image2.png" /><Relationship Id="rId4" Type="http://schemas.openxmlformats.org/officeDocument/2006/relationships/image" Target="../media/image54.svg" /><Relationship Id="rId5" Type="http://schemas.openxmlformats.org/officeDocument/2006/relationships/image" Target="../media/image55.svg" /><Relationship Id="rId6" Type="http://schemas.openxmlformats.org/officeDocument/2006/relationships/image" Target="../media/image5.png" /><Relationship Id="rId7" Type="http://schemas.openxmlformats.org/officeDocument/2006/relationships/image" Target="../media/image56.svg" /><Relationship Id="rId8" Type="http://schemas.openxmlformats.org/officeDocument/2006/relationships/image" Target="../media/image57.png" /><Relationship Id="rId9" Type="http://schemas.openxmlformats.org/officeDocument/2006/relationships/image" Target="../media/image58.svg"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59.jpeg" /><Relationship Id="rId3" Type="http://schemas.openxmlformats.org/officeDocument/2006/relationships/image" Target="../media/image2.png" /><Relationship Id="rId4" Type="http://schemas.openxmlformats.org/officeDocument/2006/relationships/image" Target="../media/image60.svg" /><Relationship Id="rId5" Type="http://schemas.openxmlformats.org/officeDocument/2006/relationships/image" Target="../media/image61.svg" /><Relationship Id="rId6" Type="http://schemas.openxmlformats.org/officeDocument/2006/relationships/image" Target="../media/image5.png" /><Relationship Id="rId7" Type="http://schemas.openxmlformats.org/officeDocument/2006/relationships/image" Target="../media/image62.svg" /><Relationship Id="rId8" Type="http://schemas.openxmlformats.org/officeDocument/2006/relationships/image" Target="../media/image63.png" /><Relationship Id="rId9" Type="http://schemas.openxmlformats.org/officeDocument/2006/relationships/image" Target="../media/image64.svg"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image" Target="../media/image70.svg" /><Relationship Id="rId2" Type="http://schemas.openxmlformats.org/officeDocument/2006/relationships/image" Target="../media/image2.png" /><Relationship Id="rId3" Type="http://schemas.openxmlformats.org/officeDocument/2006/relationships/image" Target="../media/image65.svg" /><Relationship Id="rId4" Type="http://schemas.openxmlformats.org/officeDocument/2006/relationships/image" Target="../media/image66.svg" /><Relationship Id="rId5" Type="http://schemas.openxmlformats.org/officeDocument/2006/relationships/image" Target="../media/image5.png" /><Relationship Id="rId6" Type="http://schemas.openxmlformats.org/officeDocument/2006/relationships/image" Target="../media/image67.svg" /><Relationship Id="rId7" Type="http://schemas.openxmlformats.org/officeDocument/2006/relationships/image" Target="../media/image59.jpeg" /><Relationship Id="rId8" Type="http://schemas.openxmlformats.org/officeDocument/2006/relationships/image" Target="../media/image68.jpeg" /><Relationship Id="rId9" Type="http://schemas.openxmlformats.org/officeDocument/2006/relationships/image" Target="../media/image69.png"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53.jpeg" /><Relationship Id="rId3" Type="http://schemas.openxmlformats.org/officeDocument/2006/relationships/image" Target="../media/image2.png" /><Relationship Id="rId4" Type="http://schemas.openxmlformats.org/officeDocument/2006/relationships/image" Target="../media/image71.svg" /><Relationship Id="rId5" Type="http://schemas.openxmlformats.org/officeDocument/2006/relationships/image" Target="../media/image72.svg" /><Relationship Id="rId6" Type="http://schemas.openxmlformats.org/officeDocument/2006/relationships/image" Target="../media/image5.png" /><Relationship Id="rId7" Type="http://schemas.openxmlformats.org/officeDocument/2006/relationships/image" Target="../media/image73.svg"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74.svg" /><Relationship Id="rId4" Type="http://schemas.openxmlformats.org/officeDocument/2006/relationships/image" Target="../media/image53.jpeg" /><Relationship Id="rId5" Type="http://schemas.openxmlformats.org/officeDocument/2006/relationships/image" Target="../media/image75.svg" /><Relationship Id="rId6" Type="http://schemas.openxmlformats.org/officeDocument/2006/relationships/image" Target="../media/image5.png" /><Relationship Id="rId7" Type="http://schemas.openxmlformats.org/officeDocument/2006/relationships/image" Target="../media/image76.svg"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77.svg" /><Relationship Id="rId4" Type="http://schemas.openxmlformats.org/officeDocument/2006/relationships/image" Target="../media/image78.svg" /><Relationship Id="rId5" Type="http://schemas.openxmlformats.org/officeDocument/2006/relationships/image" Target="../media/image5.png" /><Relationship Id="rId6" Type="http://schemas.openxmlformats.org/officeDocument/2006/relationships/image" Target="../media/image79.svg" /><Relationship Id="rId7" Type="http://schemas.openxmlformats.org/officeDocument/2006/relationships/image" Target="../media/image53.jpeg"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80.svg" /><Relationship Id="rId4" Type="http://schemas.openxmlformats.org/officeDocument/2006/relationships/image" Target="../media/image53.jpeg" /><Relationship Id="rId5" Type="http://schemas.openxmlformats.org/officeDocument/2006/relationships/image" Target="../media/image81.svg" /><Relationship Id="rId6" Type="http://schemas.openxmlformats.org/officeDocument/2006/relationships/image" Target="../media/image5.png" /><Relationship Id="rId7" Type="http://schemas.openxmlformats.org/officeDocument/2006/relationships/image" Target="../media/image82.svg" /><Relationship Id="rId8" Type="http://schemas.openxmlformats.org/officeDocument/2006/relationships/image" Target="../media/image83.jpeg"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84.jpeg" /><Relationship Id="rId3" Type="http://schemas.openxmlformats.org/officeDocument/2006/relationships/image" Target="../media/image2.png" /><Relationship Id="rId4" Type="http://schemas.openxmlformats.org/officeDocument/2006/relationships/image" Target="../media/image85.svg" /><Relationship Id="rId5" Type="http://schemas.openxmlformats.org/officeDocument/2006/relationships/image" Target="../media/image86.svg" /><Relationship Id="rId6" Type="http://schemas.openxmlformats.org/officeDocument/2006/relationships/image" Target="../media/image5.png" /><Relationship Id="rId7" Type="http://schemas.openxmlformats.org/officeDocument/2006/relationships/image" Target="../media/image87.svg"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88.svg" /><Relationship Id="rId4" Type="http://schemas.openxmlformats.org/officeDocument/2006/relationships/image" Target="../media/image84.jpeg" /><Relationship Id="rId5" Type="http://schemas.openxmlformats.org/officeDocument/2006/relationships/image" Target="../media/image89.svg" /><Relationship Id="rId6" Type="http://schemas.openxmlformats.org/officeDocument/2006/relationships/image" Target="../media/image5.png" /><Relationship Id="rId7" Type="http://schemas.openxmlformats.org/officeDocument/2006/relationships/image" Target="../media/image90.svg"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84.jpeg" /><Relationship Id="rId3" Type="http://schemas.openxmlformats.org/officeDocument/2006/relationships/image" Target="../media/image2.png" /><Relationship Id="rId4" Type="http://schemas.openxmlformats.org/officeDocument/2006/relationships/image" Target="../media/image91.svg" /><Relationship Id="rId5" Type="http://schemas.openxmlformats.org/officeDocument/2006/relationships/image" Target="../media/image92.svg" /><Relationship Id="rId6" Type="http://schemas.openxmlformats.org/officeDocument/2006/relationships/image" Target="../media/image5.png" /><Relationship Id="rId7" Type="http://schemas.openxmlformats.org/officeDocument/2006/relationships/image" Target="../media/image93.svg" /><Relationship Id="rId8" Type="http://schemas.openxmlformats.org/officeDocument/2006/relationships/image" Target="../media/image94.jpeg"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84.jpeg" /><Relationship Id="rId3" Type="http://schemas.openxmlformats.org/officeDocument/2006/relationships/image" Target="../media/image2.png" /><Relationship Id="rId4" Type="http://schemas.openxmlformats.org/officeDocument/2006/relationships/image" Target="../media/image95.svg" /><Relationship Id="rId5" Type="http://schemas.openxmlformats.org/officeDocument/2006/relationships/image" Target="../media/image96.svg" /><Relationship Id="rId6" Type="http://schemas.openxmlformats.org/officeDocument/2006/relationships/image" Target="../media/image5.png" /><Relationship Id="rId7" Type="http://schemas.openxmlformats.org/officeDocument/2006/relationships/image" Target="../media/image97.svg"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98.svg" /><Relationship Id="rId4" Type="http://schemas.openxmlformats.org/officeDocument/2006/relationships/image" Target="../media/image99.svg" /><Relationship Id="rId5" Type="http://schemas.openxmlformats.org/officeDocument/2006/relationships/image" Target="../media/image5.png" /><Relationship Id="rId6" Type="http://schemas.openxmlformats.org/officeDocument/2006/relationships/image" Target="../media/image100.svg" /><Relationship Id="rId7" Type="http://schemas.openxmlformats.org/officeDocument/2006/relationships/image" Target="../media/image84.jpeg" /><Relationship Id="rId8" Type="http://schemas.openxmlformats.org/officeDocument/2006/relationships/image" Target="../media/image101.jpeg"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102.jpeg" /><Relationship Id="rId3" Type="http://schemas.openxmlformats.org/officeDocument/2006/relationships/image" Target="../media/image2.png" /><Relationship Id="rId4" Type="http://schemas.openxmlformats.org/officeDocument/2006/relationships/image" Target="../media/image103.svg" /><Relationship Id="rId5" Type="http://schemas.openxmlformats.org/officeDocument/2006/relationships/image" Target="../media/image104.svg" /><Relationship Id="rId6" Type="http://schemas.openxmlformats.org/officeDocument/2006/relationships/image" Target="../media/image5.png" /><Relationship Id="rId7" Type="http://schemas.openxmlformats.org/officeDocument/2006/relationships/image" Target="../media/image105.svg"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102.jpeg" /><Relationship Id="rId3" Type="http://schemas.openxmlformats.org/officeDocument/2006/relationships/image" Target="../media/image2.png" /><Relationship Id="rId4" Type="http://schemas.openxmlformats.org/officeDocument/2006/relationships/image" Target="../media/image106.svg" /><Relationship Id="rId5" Type="http://schemas.openxmlformats.org/officeDocument/2006/relationships/image" Target="../media/image107.svg" /><Relationship Id="rId6" Type="http://schemas.openxmlformats.org/officeDocument/2006/relationships/image" Target="../media/image5.png" /><Relationship Id="rId7" Type="http://schemas.openxmlformats.org/officeDocument/2006/relationships/image" Target="../media/image108.svg"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102.jpeg" /><Relationship Id="rId3" Type="http://schemas.openxmlformats.org/officeDocument/2006/relationships/image" Target="../media/image2.png" /><Relationship Id="rId4" Type="http://schemas.openxmlformats.org/officeDocument/2006/relationships/image" Target="../media/image109.svg" /><Relationship Id="rId5" Type="http://schemas.openxmlformats.org/officeDocument/2006/relationships/image" Target="../media/image110.svg" /><Relationship Id="rId6" Type="http://schemas.openxmlformats.org/officeDocument/2006/relationships/image" Target="../media/image5.png" /><Relationship Id="rId7" Type="http://schemas.openxmlformats.org/officeDocument/2006/relationships/image" Target="../media/image111.svg" /><Relationship Id="rId8" Type="http://schemas.openxmlformats.org/officeDocument/2006/relationships/image" Target="../media/image112.jpeg" /><Relationship Id="rId9" Type="http://schemas.openxmlformats.org/officeDocument/2006/relationships/image" Target="../media/image113.jpeg"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114.svg" /><Relationship Id="rId4" Type="http://schemas.openxmlformats.org/officeDocument/2006/relationships/image" Target="../media/image102.jpeg" /><Relationship Id="rId5" Type="http://schemas.openxmlformats.org/officeDocument/2006/relationships/image" Target="../media/image115.svg" /><Relationship Id="rId6" Type="http://schemas.openxmlformats.org/officeDocument/2006/relationships/image" Target="../media/image5.png" /><Relationship Id="rId7" Type="http://schemas.openxmlformats.org/officeDocument/2006/relationships/image" Target="../media/image116.svg" /><Relationship Id="rId8" Type="http://schemas.openxmlformats.org/officeDocument/2006/relationships/image" Target="../media/image117.jpeg"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118.jpeg" /><Relationship Id="rId3" Type="http://schemas.openxmlformats.org/officeDocument/2006/relationships/image" Target="../media/image2.png" /><Relationship Id="rId4" Type="http://schemas.openxmlformats.org/officeDocument/2006/relationships/image" Target="../media/image119.svg" /><Relationship Id="rId5" Type="http://schemas.openxmlformats.org/officeDocument/2006/relationships/image" Target="../media/image120.svg" /><Relationship Id="rId6" Type="http://schemas.openxmlformats.org/officeDocument/2006/relationships/image" Target="../media/image5.png" /><Relationship Id="rId7" Type="http://schemas.openxmlformats.org/officeDocument/2006/relationships/image" Target="../media/image121.svg"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118.jpeg" /><Relationship Id="rId3" Type="http://schemas.openxmlformats.org/officeDocument/2006/relationships/image" Target="../media/image2.png" /><Relationship Id="rId4" Type="http://schemas.openxmlformats.org/officeDocument/2006/relationships/image" Target="../media/image122.svg" /><Relationship Id="rId5" Type="http://schemas.openxmlformats.org/officeDocument/2006/relationships/image" Target="../media/image5.png" /><Relationship Id="rId6" Type="http://schemas.openxmlformats.org/officeDocument/2006/relationships/image" Target="../media/image123.svg"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118.jpeg" /><Relationship Id="rId3" Type="http://schemas.openxmlformats.org/officeDocument/2006/relationships/image" Target="../media/image2.png" /><Relationship Id="rId4" Type="http://schemas.openxmlformats.org/officeDocument/2006/relationships/image" Target="../media/image124.svg" /><Relationship Id="rId5" Type="http://schemas.openxmlformats.org/officeDocument/2006/relationships/image" Target="../media/image125.svg" /><Relationship Id="rId6" Type="http://schemas.openxmlformats.org/officeDocument/2006/relationships/image" Target="../media/image5.png" /><Relationship Id="rId7" Type="http://schemas.openxmlformats.org/officeDocument/2006/relationships/image" Target="../media/image126.svg" /><Relationship Id="rId8" Type="http://schemas.openxmlformats.org/officeDocument/2006/relationships/image" Target="../media/image127.svg"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59.jpeg" /><Relationship Id="rId3" Type="http://schemas.openxmlformats.org/officeDocument/2006/relationships/image" Target="../media/image2.png" /><Relationship Id="rId4" Type="http://schemas.openxmlformats.org/officeDocument/2006/relationships/image" Target="../media/image128.svg" /><Relationship Id="rId5" Type="http://schemas.openxmlformats.org/officeDocument/2006/relationships/image" Target="../media/image129.svg" /><Relationship Id="rId6" Type="http://schemas.openxmlformats.org/officeDocument/2006/relationships/image" Target="../media/image5.png" /><Relationship Id="rId7" Type="http://schemas.openxmlformats.org/officeDocument/2006/relationships/image" Target="../media/image130.svg" /><Relationship Id="rId8" Type="http://schemas.openxmlformats.org/officeDocument/2006/relationships/image" Target="../media/image131.jpeg"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59.jpeg" /><Relationship Id="rId3" Type="http://schemas.openxmlformats.org/officeDocument/2006/relationships/image" Target="../media/image2.png" /><Relationship Id="rId4" Type="http://schemas.openxmlformats.org/officeDocument/2006/relationships/image" Target="../media/image132.svg" /><Relationship Id="rId5" Type="http://schemas.openxmlformats.org/officeDocument/2006/relationships/image" Target="../media/image133.svg" /><Relationship Id="rId6" Type="http://schemas.openxmlformats.org/officeDocument/2006/relationships/image" Target="../media/image5.png" /><Relationship Id="rId7" Type="http://schemas.openxmlformats.org/officeDocument/2006/relationships/image" Target="../media/image134.svg" /><Relationship Id="rId8" Type="http://schemas.openxmlformats.org/officeDocument/2006/relationships/image" Target="../media/image135.jpeg"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136.svg" /><Relationship Id="rId4" Type="http://schemas.openxmlformats.org/officeDocument/2006/relationships/image" Target="../media/image59.jpeg" /><Relationship Id="rId5" Type="http://schemas.openxmlformats.org/officeDocument/2006/relationships/image" Target="../media/image137.svg" /><Relationship Id="rId6" Type="http://schemas.openxmlformats.org/officeDocument/2006/relationships/image" Target="../media/image5.png" /><Relationship Id="rId7" Type="http://schemas.openxmlformats.org/officeDocument/2006/relationships/image" Target="../media/image138.svg" /><Relationship Id="rId8" Type="http://schemas.openxmlformats.org/officeDocument/2006/relationships/image" Target="../media/image139.jpeg"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59.jpeg" /><Relationship Id="rId3" Type="http://schemas.openxmlformats.org/officeDocument/2006/relationships/image" Target="../media/image2.png" /><Relationship Id="rId4" Type="http://schemas.openxmlformats.org/officeDocument/2006/relationships/image" Target="../media/image140.svg" /><Relationship Id="rId5" Type="http://schemas.openxmlformats.org/officeDocument/2006/relationships/image" Target="../media/image141.svg" /><Relationship Id="rId6" Type="http://schemas.openxmlformats.org/officeDocument/2006/relationships/image" Target="../media/image5.png" /><Relationship Id="rId7" Type="http://schemas.openxmlformats.org/officeDocument/2006/relationships/image" Target="../media/image142.svg" /><Relationship Id="rId8" Type="http://schemas.openxmlformats.org/officeDocument/2006/relationships/image" Target="../media/image143.jpeg"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144.jpeg" /><Relationship Id="rId3" Type="http://schemas.openxmlformats.org/officeDocument/2006/relationships/image" Target="../media/image145.png" /><Relationship Id="rId4" Type="http://schemas.openxmlformats.org/officeDocument/2006/relationships/image" Target="../media/image146.svg" /><Relationship Id="rId5" Type="http://schemas.openxmlformats.org/officeDocument/2006/relationships/image" Target="../media/image147.jpeg" /><Relationship Id="rId6" Type="http://schemas.openxmlformats.org/officeDocument/2006/relationships/image" Target="../media/image148.jpeg"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149.svg" /><Relationship Id="rId4" Type="http://schemas.openxmlformats.org/officeDocument/2006/relationships/image" Target="../media/image150.svg" /><Relationship Id="rId5" Type="http://schemas.openxmlformats.org/officeDocument/2006/relationships/image" Target="../media/image5.png" /><Relationship Id="rId6" Type="http://schemas.openxmlformats.org/officeDocument/2006/relationships/image" Target="../media/image151.svg" /><Relationship Id="rId7" Type="http://schemas.openxmlformats.org/officeDocument/2006/relationships/image" Target="../media/image152.svg"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153.svg" /><Relationship Id="rId4" Type="http://schemas.openxmlformats.org/officeDocument/2006/relationships/image" Target="../media/image5.png" /><Relationship Id="rId5" Type="http://schemas.openxmlformats.org/officeDocument/2006/relationships/image" Target="../media/image154.svg"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155.svg" /><Relationship Id="rId4" Type="http://schemas.openxmlformats.org/officeDocument/2006/relationships/image" Target="../media/image156.svg" /><Relationship Id="rId5" Type="http://schemas.openxmlformats.org/officeDocument/2006/relationships/image" Target="../media/image157.jpeg" /><Relationship Id="rId6" Type="http://schemas.openxmlformats.org/officeDocument/2006/relationships/image" Target="../media/image5.png" /><Relationship Id="rId7" Type="http://schemas.openxmlformats.org/officeDocument/2006/relationships/image" Target="../media/image158.svg"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159.svg" /><Relationship Id="rId4" Type="http://schemas.openxmlformats.org/officeDocument/2006/relationships/image" Target="../media/image160.svg" /><Relationship Id="rId5" Type="http://schemas.openxmlformats.org/officeDocument/2006/relationships/image" Target="../media/image5.png" /><Relationship Id="rId6" Type="http://schemas.openxmlformats.org/officeDocument/2006/relationships/image" Target="../media/image161.svg" /><Relationship Id="rId7" Type="http://schemas.openxmlformats.org/officeDocument/2006/relationships/image" Target="../media/image162.jpeg"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163.svg" /><Relationship Id="rId4" Type="http://schemas.openxmlformats.org/officeDocument/2006/relationships/image" Target="../media/image164.svg" /><Relationship Id="rId5" Type="http://schemas.openxmlformats.org/officeDocument/2006/relationships/image" Target="../media/image165.jpeg" /></Relationships>
</file>

<file path=ppt/slides/_rels/slide39.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166.svg" /><Relationship Id="rId4" Type="http://schemas.openxmlformats.org/officeDocument/2006/relationships/image" Target="../media/image167.svg" /><Relationship Id="rId5" Type="http://schemas.openxmlformats.org/officeDocument/2006/relationships/image" Target="../media/image165.jpeg" /></Relationships>
</file>

<file path=ppt/slides/_rels/slide40.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168.svg" /><Relationship Id="rId4" Type="http://schemas.openxmlformats.org/officeDocument/2006/relationships/image" Target="../media/image169.svg" /><Relationship Id="rId5" Type="http://schemas.openxmlformats.org/officeDocument/2006/relationships/image" Target="../media/image170.jpeg" /></Relationships>
</file>

<file path=ppt/slides/_rels/slide4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171.svg" /><Relationship Id="rId4" Type="http://schemas.openxmlformats.org/officeDocument/2006/relationships/image" Target="../media/image172.svg" /><Relationship Id="rId5" Type="http://schemas.openxmlformats.org/officeDocument/2006/relationships/image" Target="../media/image5.png" /><Relationship Id="rId6" Type="http://schemas.openxmlformats.org/officeDocument/2006/relationships/image" Target="../media/image173.svg" /><Relationship Id="rId7" Type="http://schemas.openxmlformats.org/officeDocument/2006/relationships/image" Target="../media/image174.jpeg" /></Relationships>
</file>

<file path=ppt/slides/_rels/slide42.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image" Target="../media/image181.svg" /><Relationship Id="rId2" Type="http://schemas.openxmlformats.org/officeDocument/2006/relationships/image" Target="../media/image2.png" /><Relationship Id="rId3" Type="http://schemas.openxmlformats.org/officeDocument/2006/relationships/image" Target="../media/image175.svg" /><Relationship Id="rId4" Type="http://schemas.openxmlformats.org/officeDocument/2006/relationships/image" Target="../media/image176.svg" /><Relationship Id="rId5" Type="http://schemas.openxmlformats.org/officeDocument/2006/relationships/image" Target="../media/image177.jpeg" /><Relationship Id="rId6" Type="http://schemas.openxmlformats.org/officeDocument/2006/relationships/image" Target="../media/image178.png" /><Relationship Id="rId7" Type="http://schemas.openxmlformats.org/officeDocument/2006/relationships/image" Target="../media/image179.svg" /><Relationship Id="rId8" Type="http://schemas.openxmlformats.org/officeDocument/2006/relationships/image" Target="../media/image5.png" /><Relationship Id="rId9" Type="http://schemas.openxmlformats.org/officeDocument/2006/relationships/image" Target="../media/image180.svg" /></Relationships>
</file>

<file path=ppt/slides/_rels/slide43.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image" Target="../media/image188.jpeg" /><Relationship Id="rId2" Type="http://schemas.openxmlformats.org/officeDocument/2006/relationships/image" Target="../media/image5.png" /><Relationship Id="rId3" Type="http://schemas.openxmlformats.org/officeDocument/2006/relationships/image" Target="../media/image182.svg" /><Relationship Id="rId4" Type="http://schemas.openxmlformats.org/officeDocument/2006/relationships/image" Target="../media/image183.jpeg" /><Relationship Id="rId5" Type="http://schemas.openxmlformats.org/officeDocument/2006/relationships/image" Target="../media/image184.svg" /><Relationship Id="rId6" Type="http://schemas.openxmlformats.org/officeDocument/2006/relationships/image" Target="../media/image2.png" /><Relationship Id="rId7" Type="http://schemas.openxmlformats.org/officeDocument/2006/relationships/image" Target="../media/image185.svg" /><Relationship Id="rId8" Type="http://schemas.openxmlformats.org/officeDocument/2006/relationships/image" Target="../media/image186.svg" /><Relationship Id="rId9" Type="http://schemas.openxmlformats.org/officeDocument/2006/relationships/image" Target="../media/image187.jpeg" /></Relationships>
</file>

<file path=ppt/slides/_rels/slide44.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image" Target="../media/image188.jpeg" /><Relationship Id="rId2" Type="http://schemas.openxmlformats.org/officeDocument/2006/relationships/image" Target="../media/image5.png" /><Relationship Id="rId3" Type="http://schemas.openxmlformats.org/officeDocument/2006/relationships/image" Target="../media/image189.svg" /><Relationship Id="rId4" Type="http://schemas.openxmlformats.org/officeDocument/2006/relationships/image" Target="../media/image183.jpeg" /><Relationship Id="rId5" Type="http://schemas.openxmlformats.org/officeDocument/2006/relationships/image" Target="../media/image190.svg" /><Relationship Id="rId6" Type="http://schemas.openxmlformats.org/officeDocument/2006/relationships/image" Target="../media/image2.png" /><Relationship Id="rId7" Type="http://schemas.openxmlformats.org/officeDocument/2006/relationships/image" Target="../media/image191.svg" /><Relationship Id="rId8" Type="http://schemas.openxmlformats.org/officeDocument/2006/relationships/image" Target="../media/image192.svg" /><Relationship Id="rId9" Type="http://schemas.openxmlformats.org/officeDocument/2006/relationships/image" Target="../media/image193.jpeg" /></Relationships>
</file>

<file path=ppt/slides/_rels/slide45.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194.svg" /><Relationship Id="rId4" Type="http://schemas.openxmlformats.org/officeDocument/2006/relationships/image" Target="../media/image195.svg" /><Relationship Id="rId5" Type="http://schemas.openxmlformats.org/officeDocument/2006/relationships/image" Target="../media/image5.png" /><Relationship Id="rId6" Type="http://schemas.openxmlformats.org/officeDocument/2006/relationships/image" Target="../media/image196.svg" /><Relationship Id="rId7" Type="http://schemas.openxmlformats.org/officeDocument/2006/relationships/image" Target="../media/image197.svg" /><Relationship Id="rId8" Type="http://schemas.openxmlformats.org/officeDocument/2006/relationships/image" Target="../media/image198.jpeg" /></Relationships>
</file>

<file path=ppt/slides/_rels/slide46.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199.svg" /><Relationship Id="rId4" Type="http://schemas.openxmlformats.org/officeDocument/2006/relationships/image" Target="../media/image200.svg" /><Relationship Id="rId5" Type="http://schemas.openxmlformats.org/officeDocument/2006/relationships/image" Target="../media/image201.jpeg" /><Relationship Id="rId6" Type="http://schemas.openxmlformats.org/officeDocument/2006/relationships/image" Target="../media/image5.png" /><Relationship Id="rId7" Type="http://schemas.openxmlformats.org/officeDocument/2006/relationships/image" Target="../media/image202.svg" /><Relationship Id="rId8" Type="http://schemas.openxmlformats.org/officeDocument/2006/relationships/image" Target="../media/image203.svg" /></Relationships>
</file>

<file path=ppt/slides/_rels/slide47.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204.svg" /><Relationship Id="rId4" Type="http://schemas.openxmlformats.org/officeDocument/2006/relationships/image" Target="../media/image205.svg" /><Relationship Id="rId5" Type="http://schemas.openxmlformats.org/officeDocument/2006/relationships/image" Target="../media/image201.jpeg" /><Relationship Id="rId6" Type="http://schemas.openxmlformats.org/officeDocument/2006/relationships/image" Target="../media/image5.png" /><Relationship Id="rId7" Type="http://schemas.openxmlformats.org/officeDocument/2006/relationships/image" Target="../media/image206.svg" /><Relationship Id="rId8" Type="http://schemas.openxmlformats.org/officeDocument/2006/relationships/image" Target="../media/image207.svg" /></Relationships>
</file>

<file path=ppt/slides/_rels/slide48.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image" Target="../media/image1.jpeg" /><Relationship Id="rId3" Type="http://schemas.openxmlformats.org/officeDocument/2006/relationships/image" Target="../media/image5.png" /><Relationship Id="rId4" Type="http://schemas.openxmlformats.org/officeDocument/2006/relationships/image" Target="../media/image208.svg" /><Relationship Id="rId5" Type="http://schemas.openxmlformats.org/officeDocument/2006/relationships/image" Target="../media/image209.svg" /><Relationship Id="rId6" Type="http://schemas.openxmlformats.org/officeDocument/2006/relationships/image" Target="../media/image2.png" /><Relationship Id="rId7" Type="http://schemas.openxmlformats.org/officeDocument/2006/relationships/image" Target="../media/image210.svg" /><Relationship Id="rId8" Type="http://schemas.openxmlformats.org/officeDocument/2006/relationships/image" Target="../media/image211.svg" /></Relationships>
</file>

<file path=ppt/slides/slide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p:txBody>
      </p:sp>
      <p:sp>
        <p:nvSpPr>
          <p:cNvPr id="3" name="Freeform 3"/>
          <p:cNvSpPr/>
          <p:nvPr/>
        </p:nvSpPr>
        <p:spPr>
          <a:xfrm>
            <a:off x="12939980" y="6484586"/>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3">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3165293" y="-4710899"/>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3">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TextBox 5"/>
          <p:cNvSpPr txBox="1"/>
          <p:nvPr/>
        </p:nvSpPr>
        <p:spPr>
          <a:xfrm>
            <a:off x="1638313" y="3097096"/>
            <a:ext cx="15011374" cy="4250641"/>
          </a:xfrm>
          <a:prstGeom prst="rect">
            <a:avLst/>
          </a:prstGeom>
        </p:spPr>
        <p:txBody>
          <a:bodyPr lIns="0" tIns="0" rIns="0" bIns="0" rtlCol="0" anchor="t">
            <a:spAutoFit/>
          </a:bodyPr>
          <a:lstStyle/>
          <a:p>
            <a:pPr algn="ctr">
              <a:lnSpc>
                <a:spcPts val="14976"/>
              </a:lnSpc>
            </a:pPr>
            <a:r>
              <a:rPr lang="en-US" sz="13997" b="1">
                <a:solidFill>
                  <a:srgbClr val="E85041"/>
                </a:solidFill>
                <a:latin typeface="Agrandir Bold"/>
                <a:ea typeface="Agrandir Bold"/>
                <a:cs typeface="Agrandir Bold"/>
                <a:sym typeface="Agrandir Bold"/>
              </a:rPr>
              <a:t>BBCA STOCKS CLOSE PRICES </a:t>
            </a:r>
          </a:p>
        </p:txBody>
      </p:sp>
      <p:sp>
        <p:nvSpPr>
          <p:cNvPr id="6" name="Freeform 6"/>
          <p:cNvSpPr/>
          <p:nvPr/>
        </p:nvSpPr>
        <p:spPr>
          <a:xfrm>
            <a:off x="1028700" y="8295474"/>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sp>
        <p:nvSpPr>
          <p:cNvPr id="7" name="Freeform 7"/>
          <p:cNvSpPr/>
          <p:nvPr/>
        </p:nvSpPr>
        <p:spPr>
          <a:xfrm flipH="1" flipV="1">
            <a:off x="16938941" y="1028700"/>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6">
              <a:extLst>
                <a:ext uri="{96DAC541-7B7A-43D3-8B79-37D633B846F1}">
                  <asvg:svgBlip xmlns:asvg="http://schemas.microsoft.com/office/drawing/2016/SVG/main" r:embed="rId8"/>
                </a:ext>
              </a:extLst>
            </a:blip>
            <a:stretch>
              <a:fillRect/>
            </a:stretch>
          </a:blipFill>
        </p:spPr>
        <p:txBody>
          <a:bodyPr/>
          <a:lstStyle/>
          <a:p/>
        </p:txBody>
      </p:sp>
      <p:sp>
        <p:nvSpPr>
          <p:cNvPr id="8" name="TextBox 8"/>
          <p:cNvSpPr txBox="1"/>
          <p:nvPr/>
        </p:nvSpPr>
        <p:spPr>
          <a:xfrm>
            <a:off x="6938592" y="8643537"/>
            <a:ext cx="4410816" cy="602108"/>
          </a:xfrm>
          <a:prstGeom prst="rect">
            <a:avLst/>
          </a:prstGeom>
        </p:spPr>
        <p:txBody>
          <a:bodyPr lIns="0" tIns="0" rIns="0" bIns="0" rtlCol="0" anchor="t">
            <a:spAutoFit/>
          </a:bodyPr>
          <a:lstStyle/>
          <a:p>
            <a:pPr algn="ctr">
              <a:lnSpc>
                <a:spcPts val="4153"/>
              </a:lnSpc>
            </a:pPr>
            <a:r>
              <a:rPr lang="en-US" sz="3099" b="1">
                <a:solidFill>
                  <a:srgbClr val="FFFFFF"/>
                </a:solidFill>
                <a:latin typeface="Agrandir Bold"/>
                <a:ea typeface="Agrandir Bold"/>
                <a:cs typeface="Agrandir Bold"/>
                <a:sym typeface="Agrandir Bold"/>
              </a:rPr>
              <a:t>ALP DATA SCIENCE (B)</a:t>
            </a: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4490412" y="5600464"/>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1028700" y="8295474"/>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p:txBody>
      </p:sp>
      <p:sp>
        <p:nvSpPr>
          <p:cNvPr id="4" name="Freeform 4"/>
          <p:cNvSpPr/>
          <p:nvPr/>
        </p:nvSpPr>
        <p:spPr>
          <a:xfrm flipH="1" flipV="1">
            <a:off x="16938941" y="1028700"/>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4">
              <a:extLst>
                <a:ext uri="{96DAC541-7B7A-43D3-8B79-37D633B846F1}">
                  <asvg:svgBlip xmlns:asvg="http://schemas.microsoft.com/office/drawing/2016/SVG/main" r:embed="rId6"/>
                </a:ext>
              </a:extLst>
            </a:blip>
            <a:stretch>
              <a:fillRect/>
            </a:stretch>
          </a:blipFill>
        </p:spPr>
        <p:txBody>
          <a:bodyPr/>
          <a:lstStyle/>
          <a:p/>
        </p:txBody>
      </p:sp>
      <p:grpSp>
        <p:nvGrpSpPr>
          <p:cNvPr id="5" name="Group 5"/>
          <p:cNvGrpSpPr/>
          <p:nvPr/>
        </p:nvGrpSpPr>
        <p:grpSpPr>
          <a:xfrm>
            <a:off x="2242530" y="3611870"/>
            <a:ext cx="3579833" cy="3579833"/>
            <a:chExt cx="812800" cy="812800"/>
          </a:xfrm>
        </p:grpSpPr>
        <p:sp>
          <p:nvSpPr>
            <p:cNvPr id="6" name="Freeform 6"/>
            <p:cNvSpPr/>
            <p:nvPr/>
          </p:nvSpPr>
          <p:spPr>
            <a:xfrm>
              <a:off x="0" y="0"/>
              <a:ext cx="812800" cy="812800"/>
            </a:xfrm>
            <a:custGeom>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55B647">
                      <a:alpha val="77500"/>
                    </a:srgbClr>
                  </a:gs>
                  <a:gs pos="100000">
                    <a:srgbClr val="000000">
                      <a:alpha val="0"/>
                    </a:srgbClr>
                  </a:gs>
                </a:gsLst>
                <a:lin ang="2700000"/>
              </a:gradFill>
              <a:prstDash val="solid"/>
              <a:miter/>
            </a:ln>
          </p:spPr>
          <p:txBody>
            <a:bodyPr/>
            <a:lstStyle/>
            <a:p/>
          </p:txBody>
        </p:sp>
        <p:sp>
          <p:nvSpPr>
            <p:cNvPr id="7" name="TextBox 7"/>
            <p:cNvSpPr txBox="1"/>
            <p:nvPr/>
          </p:nvSpPr>
          <p:spPr>
            <a:xfrm>
              <a:off x="76200" y="123825"/>
              <a:ext cx="660400" cy="612775"/>
            </a:xfrm>
            <a:prstGeom prst="rect">
              <a:avLst/>
            </a:prstGeom>
          </p:spPr>
          <p:txBody>
            <a:bodyPr lIns="50800" tIns="50800" rIns="50800" bIns="50800" rtlCol="0" anchor="ctr"/>
            <a:lstStyle/>
            <a:p>
              <a:pPr algn="ctr">
                <a:lnSpc>
                  <a:spcPts val="1900"/>
                </a:lnSpc>
              </a:pPr>
            </a:p>
          </p:txBody>
        </p:sp>
      </p:grpSp>
      <p:grpSp>
        <p:nvGrpSpPr>
          <p:cNvPr id="8" name="Group 8"/>
          <p:cNvGrpSpPr/>
          <p:nvPr/>
        </p:nvGrpSpPr>
        <p:grpSpPr>
          <a:xfrm>
            <a:off x="2617115" y="3986455"/>
            <a:ext cx="2830663" cy="2830663"/>
            <a:chExt cx="812800" cy="812800"/>
          </a:xfrm>
        </p:grpSpPr>
        <p:sp>
          <p:nvSpPr>
            <p:cNvPr id="9" name="Freeform 9"/>
            <p:cNvSpPr/>
            <p:nvPr/>
          </p:nvSpPr>
          <p:spPr>
            <a:xfrm>
              <a:off x="0" y="0"/>
              <a:ext cx="812800" cy="812800"/>
            </a:xfrm>
            <a:custGeom>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210182" t="-487794" r="-258540" b="-171423"/>
              </a:stretch>
            </a:blipFill>
          </p:spPr>
          <p:txBody>
            <a:bodyPr/>
            <a:lstStyle/>
            <a:p/>
          </p:txBody>
        </p:sp>
      </p:grpSp>
      <p:grpSp>
        <p:nvGrpSpPr>
          <p:cNvPr id="10" name="Group 10"/>
          <p:cNvGrpSpPr/>
          <p:nvPr/>
        </p:nvGrpSpPr>
        <p:grpSpPr>
          <a:xfrm>
            <a:off x="7354083" y="3810547"/>
            <a:ext cx="3579833" cy="3579833"/>
            <a:chExt cx="812800" cy="812800"/>
          </a:xfrm>
        </p:grpSpPr>
        <p:sp>
          <p:nvSpPr>
            <p:cNvPr id="11" name="Freeform 11"/>
            <p:cNvSpPr/>
            <p:nvPr/>
          </p:nvSpPr>
          <p:spPr>
            <a:xfrm>
              <a:off x="0" y="0"/>
              <a:ext cx="812800" cy="812800"/>
            </a:xfrm>
            <a:custGeom>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55B647">
                      <a:alpha val="77500"/>
                    </a:srgbClr>
                  </a:gs>
                  <a:gs pos="100000">
                    <a:srgbClr val="000000">
                      <a:alpha val="0"/>
                    </a:srgbClr>
                  </a:gs>
                </a:gsLst>
                <a:lin ang="2700000"/>
              </a:gradFill>
              <a:prstDash val="solid"/>
              <a:miter/>
            </a:ln>
          </p:spPr>
          <p:txBody>
            <a:bodyPr/>
            <a:lstStyle/>
            <a:p/>
          </p:txBody>
        </p:sp>
        <p:sp>
          <p:nvSpPr>
            <p:cNvPr id="12" name="TextBox 12"/>
            <p:cNvSpPr txBox="1"/>
            <p:nvPr/>
          </p:nvSpPr>
          <p:spPr>
            <a:xfrm>
              <a:off x="76200" y="123825"/>
              <a:ext cx="660400" cy="612775"/>
            </a:xfrm>
            <a:prstGeom prst="rect">
              <a:avLst/>
            </a:prstGeom>
          </p:spPr>
          <p:txBody>
            <a:bodyPr lIns="50800" tIns="50800" rIns="50800" bIns="50800" rtlCol="0" anchor="ctr"/>
            <a:lstStyle/>
            <a:p>
              <a:pPr algn="ctr">
                <a:lnSpc>
                  <a:spcPts val="1900"/>
                </a:lnSpc>
              </a:pPr>
            </a:p>
          </p:txBody>
        </p:sp>
      </p:grpSp>
      <p:grpSp>
        <p:nvGrpSpPr>
          <p:cNvPr id="13" name="Group 13"/>
          <p:cNvGrpSpPr/>
          <p:nvPr/>
        </p:nvGrpSpPr>
        <p:grpSpPr>
          <a:xfrm>
            <a:off x="7728668" y="4185132"/>
            <a:ext cx="2830663" cy="2830663"/>
            <a:chExt cx="812800" cy="812800"/>
          </a:xfrm>
        </p:grpSpPr>
        <p:sp>
          <p:nvSpPr>
            <p:cNvPr id="14" name="Freeform 14"/>
            <p:cNvSpPr/>
            <p:nvPr/>
          </p:nvSpPr>
          <p:spPr>
            <a:xfrm>
              <a:off x="0" y="0"/>
              <a:ext cx="812800" cy="812800"/>
            </a:xfrm>
            <a:custGeom>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226098" t="-445712" r="-331890" b="-331606"/>
              </a:stretch>
            </a:blipFill>
          </p:spPr>
          <p:txBody>
            <a:bodyPr/>
            <a:lstStyle/>
            <a:p/>
          </p:txBody>
        </p:sp>
      </p:grpSp>
      <p:grpSp>
        <p:nvGrpSpPr>
          <p:cNvPr id="15" name="Group 15"/>
          <p:cNvGrpSpPr/>
          <p:nvPr/>
        </p:nvGrpSpPr>
        <p:grpSpPr>
          <a:xfrm>
            <a:off x="12230242" y="3810547"/>
            <a:ext cx="3579833" cy="3579833"/>
            <a:chExt cx="812800" cy="812800"/>
          </a:xfrm>
        </p:grpSpPr>
        <p:sp>
          <p:nvSpPr>
            <p:cNvPr id="16" name="Freeform 16"/>
            <p:cNvSpPr/>
            <p:nvPr/>
          </p:nvSpPr>
          <p:spPr>
            <a:xfrm>
              <a:off x="0" y="0"/>
              <a:ext cx="812800" cy="812800"/>
            </a:xfrm>
            <a:custGeom>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55B647">
                      <a:alpha val="77500"/>
                    </a:srgbClr>
                  </a:gs>
                  <a:gs pos="100000">
                    <a:srgbClr val="000000">
                      <a:alpha val="0"/>
                    </a:srgbClr>
                  </a:gs>
                </a:gsLst>
                <a:lin ang="2700000"/>
              </a:gradFill>
              <a:prstDash val="solid"/>
              <a:miter/>
            </a:ln>
          </p:spPr>
          <p:txBody>
            <a:bodyPr/>
            <a:lstStyle/>
            <a:p/>
          </p:txBody>
        </p:sp>
        <p:sp>
          <p:nvSpPr>
            <p:cNvPr id="17" name="TextBox 17"/>
            <p:cNvSpPr txBox="1"/>
            <p:nvPr/>
          </p:nvSpPr>
          <p:spPr>
            <a:xfrm>
              <a:off x="76200" y="123825"/>
              <a:ext cx="660400" cy="612775"/>
            </a:xfrm>
            <a:prstGeom prst="rect">
              <a:avLst/>
            </a:prstGeom>
          </p:spPr>
          <p:txBody>
            <a:bodyPr lIns="50800" tIns="50800" rIns="50800" bIns="50800" rtlCol="0" anchor="ctr"/>
            <a:lstStyle/>
            <a:p>
              <a:pPr algn="ctr">
                <a:lnSpc>
                  <a:spcPts val="1900"/>
                </a:lnSpc>
              </a:pPr>
            </a:p>
          </p:txBody>
        </p:sp>
      </p:grpSp>
      <p:grpSp>
        <p:nvGrpSpPr>
          <p:cNvPr id="18" name="Group 18"/>
          <p:cNvGrpSpPr/>
          <p:nvPr/>
        </p:nvGrpSpPr>
        <p:grpSpPr>
          <a:xfrm>
            <a:off x="12604827" y="4185132"/>
            <a:ext cx="2830663" cy="2830663"/>
            <a:chExt cx="812800" cy="812800"/>
          </a:xfrm>
        </p:grpSpPr>
        <p:sp>
          <p:nvSpPr>
            <p:cNvPr id="19" name="Freeform 19"/>
            <p:cNvSpPr/>
            <p:nvPr/>
          </p:nvSpPr>
          <p:spPr>
            <a:xfrm>
              <a:off x="0" y="0"/>
              <a:ext cx="812800" cy="812800"/>
            </a:xfrm>
            <a:custGeom>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330361" t="-534083" r="-189861" b="-193884"/>
              </a:stretch>
            </a:blipFill>
          </p:spPr>
          <p:txBody>
            <a:bodyPr/>
            <a:lstStyle/>
            <a:p/>
          </p:txBody>
        </p:sp>
      </p:grpSp>
      <p:sp>
        <p:nvSpPr>
          <p:cNvPr id="20" name="TextBox 20"/>
          <p:cNvSpPr txBox="1"/>
          <p:nvPr/>
        </p:nvSpPr>
        <p:spPr>
          <a:xfrm>
            <a:off x="5447778" y="2292591"/>
            <a:ext cx="7206567" cy="771525"/>
          </a:xfrm>
          <a:prstGeom prst="rect">
            <a:avLst/>
          </a:prstGeom>
        </p:spPr>
        <p:txBody>
          <a:bodyPr lIns="0" tIns="0" rIns="0" bIns="0" rtlCol="0" anchor="t">
            <a:spAutoFit/>
          </a:bodyPr>
          <a:lstStyle/>
          <a:p>
            <a:pPr algn="ctr">
              <a:lnSpc>
                <a:spcPts val="5700"/>
              </a:lnSpc>
            </a:pPr>
            <a:r>
              <a:rPr lang="en-US" sz="6000" b="1" spc="-150">
                <a:solidFill>
                  <a:srgbClr val="E85041"/>
                </a:solidFill>
                <a:latin typeface="Montserrat Semi-Bold"/>
                <a:ea typeface="Montserrat Semi-Bold"/>
                <a:cs typeface="Montserrat Semi-Bold"/>
                <a:sym typeface="Montserrat Semi-Bold"/>
              </a:rPr>
              <a:t>GROUP MEMBERS</a:t>
            </a:r>
          </a:p>
        </p:txBody>
      </p:sp>
      <p:sp>
        <p:nvSpPr>
          <p:cNvPr id="21" name="TextBox 21"/>
          <p:cNvSpPr txBox="1"/>
          <p:nvPr/>
        </p:nvSpPr>
        <p:spPr>
          <a:xfrm>
            <a:off x="2700495" y="7760830"/>
            <a:ext cx="2663902" cy="692150"/>
          </a:xfrm>
          <a:prstGeom prst="rect">
            <a:avLst/>
          </a:prstGeom>
        </p:spPr>
        <p:txBody>
          <a:bodyPr lIns="0" tIns="0" rIns="0" bIns="0" rtlCol="0" anchor="t">
            <a:spAutoFit/>
          </a:bodyPr>
          <a:lstStyle/>
          <a:p>
            <a:pPr marL="0" lvl="0" indent="0" algn="ctr">
              <a:lnSpc>
                <a:spcPts val="2800"/>
              </a:lnSpc>
              <a:spcBef>
                <a:spcPct val="0"/>
              </a:spcBef>
            </a:pPr>
            <a:r>
              <a:rPr lang="en-US" sz="2000" b="1" spc="-40">
                <a:solidFill>
                  <a:srgbClr val="FFFFFF"/>
                </a:solidFill>
                <a:latin typeface="Montserrat Bold"/>
                <a:ea typeface="Montserrat Bold"/>
                <a:cs typeface="Montserrat Bold"/>
                <a:sym typeface="Montserrat Bold"/>
              </a:rPr>
              <a:t>Rio Mulyawan</a:t>
            </a:r>
          </a:p>
          <a:p>
            <a:pPr marL="0" lvl="0" indent="0" algn="ctr">
              <a:lnSpc>
                <a:spcPts val="2800"/>
              </a:lnSpc>
              <a:spcBef>
                <a:spcPct val="0"/>
              </a:spcBef>
            </a:pPr>
            <a:r>
              <a:rPr lang="en-US" sz="2000" b="1" u="none" strike="noStrike" spc="-40">
                <a:solidFill>
                  <a:srgbClr val="FFFFFF"/>
                </a:solidFill>
                <a:latin typeface="Montserrat Bold"/>
                <a:ea typeface="Montserrat Bold"/>
                <a:cs typeface="Montserrat Bold"/>
                <a:sym typeface="Montserrat Bold"/>
              </a:rPr>
              <a:t>0706022310056</a:t>
            </a:r>
          </a:p>
        </p:txBody>
      </p:sp>
      <p:sp>
        <p:nvSpPr>
          <p:cNvPr id="22" name="TextBox 22"/>
          <p:cNvSpPr txBox="1"/>
          <p:nvPr/>
        </p:nvSpPr>
        <p:spPr>
          <a:xfrm>
            <a:off x="7238091" y="7760830"/>
            <a:ext cx="3811817" cy="692150"/>
          </a:xfrm>
          <a:prstGeom prst="rect">
            <a:avLst/>
          </a:prstGeom>
        </p:spPr>
        <p:txBody>
          <a:bodyPr lIns="0" tIns="0" rIns="0" bIns="0" rtlCol="0" anchor="t">
            <a:spAutoFit/>
          </a:bodyPr>
          <a:lstStyle/>
          <a:p>
            <a:pPr marL="0" lvl="0" indent="0" algn="ctr">
              <a:lnSpc>
                <a:spcPts val="2800"/>
              </a:lnSpc>
              <a:spcBef>
                <a:spcPct val="0"/>
              </a:spcBef>
            </a:pPr>
            <a:r>
              <a:rPr lang="en-US" sz="2000" b="1" spc="-40">
                <a:solidFill>
                  <a:srgbClr val="FFFFFF"/>
                </a:solidFill>
                <a:latin typeface="Montserrat Bold"/>
                <a:ea typeface="Montserrat Bold"/>
                <a:cs typeface="Montserrat Bold"/>
                <a:sym typeface="Montserrat Bold"/>
              </a:rPr>
              <a:t>Jefferson Wesley Liunardi</a:t>
            </a:r>
          </a:p>
          <a:p>
            <a:pPr marL="0" lvl="0" indent="0" algn="ctr">
              <a:lnSpc>
                <a:spcPts val="2800"/>
              </a:lnSpc>
              <a:spcBef>
                <a:spcPct val="0"/>
              </a:spcBef>
            </a:pPr>
            <a:r>
              <a:rPr lang="en-US" sz="2000" b="1" u="none" strike="noStrike" spc="-40">
                <a:solidFill>
                  <a:srgbClr val="FFFFFF"/>
                </a:solidFill>
                <a:latin typeface="Montserrat Bold"/>
                <a:ea typeface="Montserrat Bold"/>
                <a:cs typeface="Montserrat Bold"/>
                <a:sym typeface="Montserrat Bold"/>
              </a:rPr>
              <a:t>0706022310046</a:t>
            </a:r>
          </a:p>
        </p:txBody>
      </p:sp>
      <p:sp>
        <p:nvSpPr>
          <p:cNvPr id="23" name="TextBox 23"/>
          <p:cNvSpPr txBox="1"/>
          <p:nvPr/>
        </p:nvSpPr>
        <p:spPr>
          <a:xfrm>
            <a:off x="12872697" y="7760830"/>
            <a:ext cx="2663902" cy="692150"/>
          </a:xfrm>
          <a:prstGeom prst="rect">
            <a:avLst/>
          </a:prstGeom>
        </p:spPr>
        <p:txBody>
          <a:bodyPr lIns="0" tIns="0" rIns="0" bIns="0" rtlCol="0" anchor="t">
            <a:spAutoFit/>
          </a:bodyPr>
          <a:lstStyle/>
          <a:p>
            <a:pPr marL="0" lvl="0" indent="0" algn="ctr">
              <a:lnSpc>
                <a:spcPts val="2800"/>
              </a:lnSpc>
              <a:spcBef>
                <a:spcPct val="0"/>
              </a:spcBef>
            </a:pPr>
            <a:r>
              <a:rPr lang="en-US" sz="2000" b="1" spc="-40">
                <a:solidFill>
                  <a:srgbClr val="FFFFFF"/>
                </a:solidFill>
                <a:latin typeface="Montserrat Bold"/>
                <a:ea typeface="Montserrat Bold"/>
                <a:cs typeface="Montserrat Bold"/>
                <a:sym typeface="Montserrat Bold"/>
              </a:rPr>
              <a:t>Collin Tjoseph Tjioe</a:t>
            </a:r>
          </a:p>
          <a:p>
            <a:pPr marL="0" lvl="0" indent="0" algn="ctr">
              <a:lnSpc>
                <a:spcPts val="2800"/>
              </a:lnSpc>
              <a:spcBef>
                <a:spcPct val="0"/>
              </a:spcBef>
            </a:pPr>
            <a:r>
              <a:rPr lang="en-US" sz="2000" b="1" u="none" strike="noStrike" spc="-40">
                <a:solidFill>
                  <a:srgbClr val="FFFFFF"/>
                </a:solidFill>
                <a:latin typeface="Montserrat Bold"/>
                <a:ea typeface="Montserrat Bold"/>
                <a:cs typeface="Montserrat Bold"/>
                <a:sym typeface="Montserrat Bold"/>
              </a:rPr>
              <a:t>0706022310053</a:t>
            </a: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grpSp>
        <p:nvGrpSpPr>
          <p:cNvPr id="2" name="Group 2"/>
          <p:cNvGrpSpPr/>
          <p:nvPr/>
        </p:nvGrpSpPr>
        <p:grpSpPr>
          <a:xfrm>
            <a:off x="10826766" y="85014"/>
            <a:ext cx="9647287" cy="10287000"/>
            <a:chExt cx="1120963" cy="1195294"/>
          </a:xfrm>
        </p:grpSpPr>
        <p:sp>
          <p:nvSpPr>
            <p:cNvPr id="3" name="Freeform 3"/>
            <p:cNvSpPr/>
            <p:nvPr/>
          </p:nvSpPr>
          <p:spPr>
            <a:xfrm>
              <a:off x="0" y="0"/>
              <a:ext cx="1120963" cy="1195294"/>
            </a:xfrm>
            <a:custGeom>
              <a:rect l="l" t="t" r="r" b="b"/>
              <a:pathLst>
                <a:path w="1120963" h="1195294">
                  <a:moveTo>
                    <a:pt x="203200" y="0"/>
                  </a:moveTo>
                  <a:lnTo>
                    <a:pt x="1120963" y="0"/>
                  </a:lnTo>
                  <a:lnTo>
                    <a:pt x="917763" y="1195294"/>
                  </a:lnTo>
                  <a:lnTo>
                    <a:pt x="0" y="1195294"/>
                  </a:lnTo>
                  <a:lnTo>
                    <a:pt x="203200" y="0"/>
                  </a:lnTo>
                  <a:close/>
                </a:path>
              </a:pathLst>
            </a:custGeom>
            <a:blipFill>
              <a:blip r:embed="rId2">
                <a:alphaModFix amt="48000"/>
              </a:blip>
              <a:stretch>
                <a:fillRect l="-30023" r="-30023"/>
              </a:stretch>
            </a:blipFill>
          </p:spPr>
          <p:txBody>
            <a:bodyPr/>
            <a:lstStyle/>
            <a:p/>
          </p:txBody>
        </p:sp>
      </p:grpSp>
      <p:sp>
        <p:nvSpPr>
          <p:cNvPr id="4" name="Freeform 4"/>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p:txBody>
      </p:sp>
      <p:sp>
        <p:nvSpPr>
          <p:cNvPr id="5" name="Freeform 5"/>
          <p:cNvSpPr/>
          <p:nvPr/>
        </p:nvSpPr>
        <p:spPr>
          <a:xfrm>
            <a:off x="-3227957" y="6507158"/>
            <a:ext cx="8513313" cy="8513313"/>
          </a:xfrm>
          <a:custGeom>
            <a:rect l="l" t="t" r="r" b="b"/>
            <a:pathLst>
              <a:path w="8513313" h="8513313">
                <a:moveTo>
                  <a:pt x="0" y="0"/>
                </a:moveTo>
                <a:lnTo>
                  <a:pt x="8513314" y="0"/>
                </a:lnTo>
                <a:lnTo>
                  <a:pt x="8513314" y="8513314"/>
                </a:lnTo>
                <a:lnTo>
                  <a:pt x="0" y="8513314"/>
                </a:lnTo>
                <a:lnTo>
                  <a:pt x="0" y="0"/>
                </a:lnTo>
                <a:close/>
              </a:path>
            </a:pathLst>
          </a:custGeom>
          <a:blipFill>
            <a:blip r:embed="rId5">
              <a:alphaModFix amt="38000"/>
              <a:extLst>
                <a:ext uri="{96DAC541-7B7A-43D3-8B79-37D633B846F1}">
                  <asvg:svgBlip xmlns:asvg="http://schemas.microsoft.com/office/drawing/2016/SVG/main" r:embed="rId6"/>
                </a:ext>
              </a:extLst>
            </a:blip>
            <a:stretch>
              <a:fillRect/>
            </a:stretch>
          </a:blipFill>
        </p:spPr>
        <p:txBody>
          <a:bodyPr/>
          <a:lstStyle/>
          <a:p/>
        </p:txBody>
      </p:sp>
      <p:grpSp>
        <p:nvGrpSpPr>
          <p:cNvPr id="6" name="Group 6"/>
          <p:cNvGrpSpPr/>
          <p:nvPr/>
        </p:nvGrpSpPr>
        <p:grpSpPr>
          <a:xfrm>
            <a:off x="777534" y="2318947"/>
            <a:ext cx="10049232" cy="6766187"/>
            <a:chExt cx="2646711" cy="1782041"/>
          </a:xfrm>
        </p:grpSpPr>
        <p:sp>
          <p:nvSpPr>
            <p:cNvPr id="7" name="Freeform 7"/>
            <p:cNvSpPr/>
            <p:nvPr/>
          </p:nvSpPr>
          <p:spPr>
            <a:xfrm>
              <a:off x="0" y="0"/>
              <a:ext cx="2646711" cy="1782041"/>
            </a:xfrm>
            <a:custGeom>
              <a:rect l="l" t="t" r="r" b="b"/>
              <a:pathLst>
                <a:path w="2646711" h="1782040">
                  <a:moveTo>
                    <a:pt x="39290" y="0"/>
                  </a:moveTo>
                  <a:lnTo>
                    <a:pt x="2607421" y="0"/>
                  </a:lnTo>
                  <a:cubicBezTo>
                    <a:pt x="2617841" y="0"/>
                    <a:pt x="2627835" y="4140"/>
                    <a:pt x="2635203" y="11508"/>
                  </a:cubicBezTo>
                  <a:cubicBezTo>
                    <a:pt x="2642572" y="18876"/>
                    <a:pt x="2646711" y="28870"/>
                    <a:pt x="2646711" y="39290"/>
                  </a:cubicBezTo>
                  <a:lnTo>
                    <a:pt x="2646711" y="1742751"/>
                  </a:lnTo>
                  <a:cubicBezTo>
                    <a:pt x="2646711" y="1753171"/>
                    <a:pt x="2642572" y="1763165"/>
                    <a:pt x="2635203" y="1770533"/>
                  </a:cubicBezTo>
                  <a:cubicBezTo>
                    <a:pt x="2627835" y="1777902"/>
                    <a:pt x="2617841" y="1782041"/>
                    <a:pt x="2607421" y="1782041"/>
                  </a:cubicBezTo>
                  <a:lnTo>
                    <a:pt x="39290" y="1782041"/>
                  </a:lnTo>
                  <a:cubicBezTo>
                    <a:pt x="28870" y="1782041"/>
                    <a:pt x="18876" y="1777902"/>
                    <a:pt x="11508" y="1770533"/>
                  </a:cubicBezTo>
                  <a:cubicBezTo>
                    <a:pt x="4140" y="1763165"/>
                    <a:pt x="0" y="1753171"/>
                    <a:pt x="0" y="1742751"/>
                  </a:cubicBezTo>
                  <a:lnTo>
                    <a:pt x="0" y="39290"/>
                  </a:lnTo>
                  <a:cubicBezTo>
                    <a:pt x="0" y="28870"/>
                    <a:pt x="4140" y="18876"/>
                    <a:pt x="11508" y="11508"/>
                  </a:cubicBezTo>
                  <a:cubicBezTo>
                    <a:pt x="18876" y="4140"/>
                    <a:pt x="28870" y="0"/>
                    <a:pt x="39290" y="0"/>
                  </a:cubicBezTo>
                  <a:close/>
                </a:path>
              </a:pathLst>
            </a:custGeom>
            <a:solidFill>
              <a:srgbClr val="E85041">
                <a:alpha val="43922"/>
              </a:srgbClr>
            </a:solidFill>
          </p:spPr>
          <p:txBody>
            <a:bodyPr/>
            <a:lstStyle/>
            <a:p/>
          </p:txBody>
        </p:sp>
        <p:sp>
          <p:nvSpPr>
            <p:cNvPr id="8" name="TextBox 8"/>
            <p:cNvSpPr txBox="1"/>
            <p:nvPr/>
          </p:nvSpPr>
          <p:spPr>
            <a:xfrm>
              <a:off x="0" y="-85725"/>
              <a:ext cx="2646711" cy="1867766"/>
            </a:xfrm>
            <a:prstGeom prst="rect">
              <a:avLst/>
            </a:prstGeom>
          </p:spPr>
          <p:txBody>
            <a:bodyPr lIns="50800" tIns="50800" rIns="50800" bIns="50800" rtlCol="0" anchor="ctr"/>
            <a:lstStyle/>
            <a:p>
              <a:pPr algn="ctr">
                <a:lnSpc>
                  <a:spcPts val="2679"/>
                </a:lnSpc>
              </a:pPr>
            </a:p>
          </p:txBody>
        </p:sp>
      </p:grpSp>
      <p:sp>
        <p:nvSpPr>
          <p:cNvPr id="9" name="TextBox 9"/>
          <p:cNvSpPr txBox="1"/>
          <p:nvPr/>
        </p:nvSpPr>
        <p:spPr>
          <a:xfrm>
            <a:off x="777534" y="2838381"/>
            <a:ext cx="9579370" cy="5593970"/>
          </a:xfrm>
          <a:prstGeom prst="rect">
            <a:avLst/>
          </a:prstGeom>
        </p:spPr>
        <p:txBody>
          <a:bodyPr lIns="0" tIns="0" rIns="0" bIns="0" rtlCol="0" anchor="t">
            <a:spAutoFit/>
          </a:bodyPr>
          <a:lstStyle/>
          <a:p>
            <a:pPr marL="703733" lvl="1" indent="-351866" algn="just">
              <a:lnSpc>
                <a:spcPts val="4367"/>
              </a:lnSpc>
              <a:buFont typeface="Arial"/>
              <a:buChar char="•"/>
            </a:pPr>
            <a:r>
              <a:rPr lang="en-US" sz="3259">
                <a:solidFill>
                  <a:srgbClr val="FFFFFF"/>
                </a:solidFill>
                <a:latin typeface="Agrandir"/>
                <a:ea typeface="Agrandir"/>
                <a:cs typeface="Agrandir"/>
                <a:sym typeface="Agrandir"/>
              </a:rPr>
              <a:t>Pergerakan harga saham mencerminkan kondisi ekonomi perusahaan &amp; pasar.</a:t>
            </a:r>
          </a:p>
          <a:p>
            <a:pPr marL="703733" lvl="1" indent="-351866" algn="just">
              <a:lnSpc>
                <a:spcPts val="4367"/>
              </a:lnSpc>
              <a:buFont typeface="Arial"/>
              <a:buChar char="•"/>
            </a:pPr>
            <a:r>
              <a:rPr lang="en-US" sz="3259">
                <a:solidFill>
                  <a:srgbClr val="FFFFFF"/>
                </a:solidFill>
                <a:latin typeface="Agrandir"/>
                <a:ea typeface="Agrandir"/>
                <a:cs typeface="Agrandir"/>
                <a:sym typeface="Agrandir"/>
              </a:rPr>
              <a:t>BBCA sebagai salah satu bank terbesar di Indonesia menjadi perhatian utama investor.</a:t>
            </a:r>
          </a:p>
          <a:p>
            <a:pPr marL="703733" lvl="1" indent="-351866" algn="just">
              <a:lnSpc>
                <a:spcPts val="4367"/>
              </a:lnSpc>
              <a:buFont typeface="Arial"/>
              <a:buChar char="•"/>
            </a:pPr>
            <a:r>
              <a:rPr lang="en-US" sz="3259">
                <a:solidFill>
                  <a:srgbClr val="FFFFFF"/>
                </a:solidFill>
                <a:latin typeface="Agrandir"/>
                <a:ea typeface="Agrandir"/>
                <a:cs typeface="Agrandir"/>
                <a:sym typeface="Agrandir"/>
              </a:rPr>
              <a:t>Harga saham BBCA dipengaruhi oleh:</a:t>
            </a:r>
          </a:p>
          <a:p>
            <a:pPr marL="703733" lvl="1" indent="-351866" algn="just">
              <a:lnSpc>
                <a:spcPts val="4367"/>
              </a:lnSpc>
              <a:buFont typeface="Arial"/>
              <a:buChar char="•"/>
            </a:pPr>
            <a:r>
              <a:rPr lang="en-US" sz="3259">
                <a:solidFill>
                  <a:srgbClr val="FFFFFF"/>
                </a:solidFill>
                <a:latin typeface="Agrandir"/>
                <a:ea typeface="Agrandir"/>
                <a:cs typeface="Agrandir"/>
                <a:sym typeface="Agrandir"/>
              </a:rPr>
              <a:t>Kinerja perusahaan</a:t>
            </a:r>
          </a:p>
          <a:p>
            <a:pPr marL="703733" lvl="1" indent="-351866" algn="just">
              <a:lnSpc>
                <a:spcPts val="4367"/>
              </a:lnSpc>
              <a:buFont typeface="Arial"/>
              <a:buChar char="•"/>
            </a:pPr>
            <a:r>
              <a:rPr lang="en-US" sz="3259">
                <a:solidFill>
                  <a:srgbClr val="FFFFFF"/>
                </a:solidFill>
                <a:latin typeface="Agrandir"/>
                <a:ea typeface="Agrandir"/>
                <a:cs typeface="Agrandir"/>
                <a:sym typeface="Agrandir"/>
              </a:rPr>
              <a:t>Kondisi ekonomi makro</a:t>
            </a:r>
          </a:p>
          <a:p>
            <a:pPr marL="703733" lvl="1" indent="-351866" algn="just">
              <a:lnSpc>
                <a:spcPts val="4367"/>
              </a:lnSpc>
              <a:buFont typeface="Arial"/>
              <a:buChar char="•"/>
            </a:pPr>
            <a:r>
              <a:rPr lang="en-US" sz="3259">
                <a:solidFill>
                  <a:srgbClr val="FFFFFF"/>
                </a:solidFill>
                <a:latin typeface="Agrandir"/>
                <a:ea typeface="Agrandir"/>
                <a:cs typeface="Agrandir"/>
                <a:sym typeface="Agrandir"/>
              </a:rPr>
              <a:t>Kebijakan pemerintah</a:t>
            </a:r>
          </a:p>
          <a:p>
            <a:pPr marL="703733" lvl="1" indent="-351866" algn="just">
              <a:lnSpc>
                <a:spcPts val="4367"/>
              </a:lnSpc>
              <a:buFont typeface="Arial"/>
              <a:buChar char="•"/>
            </a:pPr>
            <a:r>
              <a:rPr lang="en-US" sz="3259">
                <a:solidFill>
                  <a:srgbClr val="FFFFFF"/>
                </a:solidFill>
                <a:latin typeface="Agrandir"/>
                <a:ea typeface="Agrandir"/>
                <a:cs typeface="Agrandir"/>
                <a:sym typeface="Agrandir"/>
              </a:rPr>
              <a:t>Sentimen pasar</a:t>
            </a:r>
          </a:p>
          <a:p>
            <a:pPr algn="just">
              <a:lnSpc>
                <a:spcPts val="4367"/>
              </a:lnSpc>
            </a:pPr>
            <a:endParaRPr lang="en-US" sz="3259">
              <a:solidFill>
                <a:srgbClr val="FFFFFF"/>
              </a:solidFill>
              <a:latin typeface="Agrandir"/>
              <a:ea typeface="Agrandir"/>
              <a:cs typeface="Agrandir"/>
              <a:sym typeface="Agrandir"/>
            </a:endParaRPr>
          </a:p>
        </p:txBody>
      </p:sp>
      <p:sp>
        <p:nvSpPr>
          <p:cNvPr id="10" name="TextBox 10"/>
          <p:cNvSpPr txBox="1"/>
          <p:nvPr/>
        </p:nvSpPr>
        <p:spPr>
          <a:xfrm>
            <a:off x="5567219" y="585721"/>
            <a:ext cx="9826310" cy="1393325"/>
          </a:xfrm>
          <a:prstGeom prst="rect">
            <a:avLst/>
          </a:prstGeom>
        </p:spPr>
        <p:txBody>
          <a:bodyPr lIns="0" tIns="0" rIns="0" bIns="0" rtlCol="0" anchor="t">
            <a:spAutoFit/>
          </a:bodyPr>
          <a:lstStyle/>
          <a:p>
            <a:pPr algn="l">
              <a:lnSpc>
                <a:spcPts val="8890"/>
              </a:lnSpc>
            </a:pPr>
            <a:r>
              <a:rPr lang="en-US" sz="8308" b="1">
                <a:solidFill>
                  <a:srgbClr val="E85041"/>
                </a:solidFill>
                <a:latin typeface="Agrandir Bold"/>
                <a:ea typeface="Agrandir Bold"/>
                <a:cs typeface="Agrandir Bold"/>
                <a:sym typeface="Agrandir Bold"/>
              </a:rPr>
              <a:t>Latar Belakang</a:t>
            </a: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rot="5400000" flipH="1" flipV="1">
            <a:off x="16617708" y="8587367"/>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2">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9525" y="0"/>
            <a:ext cx="18288000" cy="12184380"/>
          </a:xfrm>
          <a:custGeom>
            <a:rect l="l" t="t" r="r" b="b"/>
            <a:pathLst>
              <a:path w="18288000" h="12184380">
                <a:moveTo>
                  <a:pt x="0" y="0"/>
                </a:moveTo>
                <a:lnTo>
                  <a:pt x="18288000" y="0"/>
                </a:lnTo>
                <a:lnTo>
                  <a:pt x="18288000" y="12184380"/>
                </a:lnTo>
                <a:lnTo>
                  <a:pt x="0" y="12184380"/>
                </a:lnTo>
                <a:lnTo>
                  <a:pt x="0" y="0"/>
                </a:lnTo>
                <a:close/>
              </a:path>
            </a:pathLst>
          </a:custGeom>
          <a:blipFill>
            <a:blip r:embed="rId5">
              <a:alphaModFix amt="52000"/>
            </a:blip>
            <a:stretch>
              <a:fillRect/>
            </a:stretch>
          </a:blipFill>
        </p:spPr>
        <p:txBody>
          <a:bodyPr/>
          <a:lstStyle/>
          <a:p/>
        </p:txBody>
      </p:sp>
      <p:sp>
        <p:nvSpPr>
          <p:cNvPr id="5" name="Freeform 5"/>
          <p:cNvSpPr/>
          <p:nvPr/>
        </p:nvSpPr>
        <p:spPr>
          <a:xfrm>
            <a:off x="-3227957" y="6507158"/>
            <a:ext cx="8513313" cy="8513313"/>
          </a:xfrm>
          <a:custGeom>
            <a:rect l="l" t="t" r="r" b="b"/>
            <a:pathLst>
              <a:path w="8513313" h="8513313">
                <a:moveTo>
                  <a:pt x="0" y="0"/>
                </a:moveTo>
                <a:lnTo>
                  <a:pt x="8513314" y="0"/>
                </a:lnTo>
                <a:lnTo>
                  <a:pt x="8513314" y="8513314"/>
                </a:lnTo>
                <a:lnTo>
                  <a:pt x="0" y="8513314"/>
                </a:lnTo>
                <a:lnTo>
                  <a:pt x="0" y="0"/>
                </a:lnTo>
                <a:close/>
              </a:path>
            </a:pathLst>
          </a:custGeom>
          <a:blipFill>
            <a:blip r:embed="rId6">
              <a:alphaModFix amt="38000"/>
              <a:extLst>
                <a:ext uri="{96DAC541-7B7A-43D3-8B79-37D633B846F1}">
                  <asvg:svgBlip xmlns:asvg="http://schemas.microsoft.com/office/drawing/2016/SVG/main" r:embed="rId7"/>
                </a:ext>
              </a:extLst>
            </a:blip>
            <a:stretch>
              <a:fillRect/>
            </a:stretch>
          </a:blipFill>
        </p:spPr>
        <p:txBody>
          <a:bodyPr/>
          <a:lstStyle/>
          <a:p/>
        </p:txBody>
      </p:sp>
      <p:grpSp>
        <p:nvGrpSpPr>
          <p:cNvPr id="6" name="Group 6"/>
          <p:cNvGrpSpPr/>
          <p:nvPr/>
        </p:nvGrpSpPr>
        <p:grpSpPr>
          <a:xfrm>
            <a:off x="1510113" y="695480"/>
            <a:ext cx="16116199" cy="2483292"/>
            <a:chExt cx="4244596" cy="654036"/>
          </a:xfrm>
        </p:grpSpPr>
        <p:sp>
          <p:nvSpPr>
            <p:cNvPr id="7" name="Freeform 7"/>
            <p:cNvSpPr/>
            <p:nvPr/>
          </p:nvSpPr>
          <p:spPr>
            <a:xfrm>
              <a:off x="0" y="0"/>
              <a:ext cx="4244596" cy="654036"/>
            </a:xfrm>
            <a:custGeom>
              <a:rect l="l" t="t" r="r" b="b"/>
              <a:pathLst>
                <a:path w="4244596" h="654036">
                  <a:moveTo>
                    <a:pt x="24499" y="0"/>
                  </a:moveTo>
                  <a:lnTo>
                    <a:pt x="4220097" y="0"/>
                  </a:lnTo>
                  <a:cubicBezTo>
                    <a:pt x="4226594" y="0"/>
                    <a:pt x="4232826" y="2581"/>
                    <a:pt x="4237420" y="7176"/>
                  </a:cubicBezTo>
                  <a:cubicBezTo>
                    <a:pt x="4242015" y="11770"/>
                    <a:pt x="4244596" y="18002"/>
                    <a:pt x="4244596" y="24499"/>
                  </a:cubicBezTo>
                  <a:lnTo>
                    <a:pt x="4244596" y="629536"/>
                  </a:lnTo>
                  <a:cubicBezTo>
                    <a:pt x="4244596" y="643067"/>
                    <a:pt x="4233627" y="654036"/>
                    <a:pt x="4220097" y="654036"/>
                  </a:cubicBezTo>
                  <a:lnTo>
                    <a:pt x="24499" y="654036"/>
                  </a:lnTo>
                  <a:cubicBezTo>
                    <a:pt x="10969" y="654036"/>
                    <a:pt x="0" y="643067"/>
                    <a:pt x="0" y="629536"/>
                  </a:cubicBezTo>
                  <a:lnTo>
                    <a:pt x="0" y="24499"/>
                  </a:lnTo>
                  <a:cubicBezTo>
                    <a:pt x="0" y="10969"/>
                    <a:pt x="10969" y="0"/>
                    <a:pt x="24499" y="0"/>
                  </a:cubicBezTo>
                  <a:close/>
                </a:path>
              </a:pathLst>
            </a:custGeom>
            <a:gradFill rotWithShape="1">
              <a:gsLst>
                <a:gs pos="0">
                  <a:srgbClr val="000000">
                    <a:alpha val="66000"/>
                  </a:srgbClr>
                </a:gs>
                <a:gs pos="100000">
                  <a:srgbClr val="740F0F">
                    <a:alpha val="66000"/>
                  </a:srgbClr>
                </a:gs>
              </a:gsLst>
              <a:lin ang="5400000"/>
            </a:gradFill>
          </p:spPr>
          <p:txBody>
            <a:bodyPr/>
            <a:lstStyle/>
            <a:p/>
          </p:txBody>
        </p:sp>
        <p:sp>
          <p:nvSpPr>
            <p:cNvPr id="8" name="TextBox 8"/>
            <p:cNvSpPr txBox="1"/>
            <p:nvPr/>
          </p:nvSpPr>
          <p:spPr>
            <a:xfrm>
              <a:off x="0" y="-85725"/>
              <a:ext cx="4244596" cy="739761"/>
            </a:xfrm>
            <a:prstGeom prst="rect">
              <a:avLst/>
            </a:prstGeom>
          </p:spPr>
          <p:txBody>
            <a:bodyPr lIns="50800" tIns="50800" rIns="50800" bIns="50800" rtlCol="0" anchor="ctr"/>
            <a:lstStyle/>
            <a:p>
              <a:pPr algn="ctr">
                <a:lnSpc>
                  <a:spcPts val="2679"/>
                </a:lnSpc>
              </a:pPr>
            </a:p>
          </p:txBody>
        </p:sp>
      </p:grpSp>
      <p:grpSp>
        <p:nvGrpSpPr>
          <p:cNvPr id="9" name="Group 9"/>
          <p:cNvGrpSpPr/>
          <p:nvPr/>
        </p:nvGrpSpPr>
        <p:grpSpPr>
          <a:xfrm>
            <a:off x="2516898" y="3445472"/>
            <a:ext cx="6368458" cy="2498717"/>
            <a:chExt cx="1677289" cy="658098"/>
          </a:xfrm>
        </p:grpSpPr>
        <p:sp>
          <p:nvSpPr>
            <p:cNvPr id="10" name="Freeform 10"/>
            <p:cNvSpPr/>
            <p:nvPr/>
          </p:nvSpPr>
          <p:spPr>
            <a:xfrm>
              <a:off x="0" y="0"/>
              <a:ext cx="1677289" cy="658098"/>
            </a:xfrm>
            <a:custGeom>
              <a:rect l="l" t="t" r="r" b="b"/>
              <a:pathLst>
                <a:path w="1677289" h="658098">
                  <a:moveTo>
                    <a:pt x="61999" y="0"/>
                  </a:moveTo>
                  <a:lnTo>
                    <a:pt x="1615290" y="0"/>
                  </a:lnTo>
                  <a:cubicBezTo>
                    <a:pt x="1649531" y="0"/>
                    <a:pt x="1677289" y="27758"/>
                    <a:pt x="1677289" y="61999"/>
                  </a:cubicBezTo>
                  <a:lnTo>
                    <a:pt x="1677289" y="596099"/>
                  </a:lnTo>
                  <a:cubicBezTo>
                    <a:pt x="1677289" y="630340"/>
                    <a:pt x="1649531" y="658098"/>
                    <a:pt x="1615290" y="658098"/>
                  </a:cubicBezTo>
                  <a:lnTo>
                    <a:pt x="61999" y="658098"/>
                  </a:lnTo>
                  <a:cubicBezTo>
                    <a:pt x="27758" y="658098"/>
                    <a:pt x="0" y="630340"/>
                    <a:pt x="0" y="596099"/>
                  </a:cubicBezTo>
                  <a:lnTo>
                    <a:pt x="0" y="61999"/>
                  </a:lnTo>
                  <a:cubicBezTo>
                    <a:pt x="0" y="27758"/>
                    <a:pt x="27758" y="0"/>
                    <a:pt x="61999" y="0"/>
                  </a:cubicBezTo>
                  <a:close/>
                </a:path>
              </a:pathLst>
            </a:custGeom>
            <a:solidFill>
              <a:srgbClr val="E85041">
                <a:alpha val="73725"/>
              </a:srgbClr>
            </a:solidFill>
          </p:spPr>
          <p:txBody>
            <a:bodyPr/>
            <a:lstStyle/>
            <a:p/>
          </p:txBody>
        </p:sp>
        <p:sp>
          <p:nvSpPr>
            <p:cNvPr id="11" name="TextBox 11"/>
            <p:cNvSpPr txBox="1"/>
            <p:nvPr/>
          </p:nvSpPr>
          <p:spPr>
            <a:xfrm>
              <a:off x="0" y="-85725"/>
              <a:ext cx="1677289" cy="743823"/>
            </a:xfrm>
            <a:prstGeom prst="rect">
              <a:avLst/>
            </a:prstGeom>
          </p:spPr>
          <p:txBody>
            <a:bodyPr lIns="50800" tIns="50800" rIns="50800" bIns="50800" rtlCol="0" anchor="ctr"/>
            <a:lstStyle/>
            <a:p>
              <a:pPr algn="ctr">
                <a:lnSpc>
                  <a:spcPts val="2679"/>
                </a:lnSpc>
              </a:pPr>
            </a:p>
          </p:txBody>
        </p:sp>
      </p:grpSp>
      <p:grpSp>
        <p:nvGrpSpPr>
          <p:cNvPr id="12" name="Group 12"/>
          <p:cNvGrpSpPr/>
          <p:nvPr/>
        </p:nvGrpSpPr>
        <p:grpSpPr>
          <a:xfrm>
            <a:off x="9692589" y="3445472"/>
            <a:ext cx="6078513" cy="2567871"/>
            <a:chExt cx="1600925" cy="676312"/>
          </a:xfrm>
        </p:grpSpPr>
        <p:sp>
          <p:nvSpPr>
            <p:cNvPr id="13" name="Freeform 13"/>
            <p:cNvSpPr/>
            <p:nvPr/>
          </p:nvSpPr>
          <p:spPr>
            <a:xfrm>
              <a:off x="0" y="0"/>
              <a:ext cx="1600925" cy="676312"/>
            </a:xfrm>
            <a:custGeom>
              <a:rect l="l" t="t" r="r" b="b"/>
              <a:pathLst>
                <a:path w="1600925" h="676312">
                  <a:moveTo>
                    <a:pt x="64956" y="0"/>
                  </a:moveTo>
                  <a:lnTo>
                    <a:pt x="1535969" y="0"/>
                  </a:lnTo>
                  <a:cubicBezTo>
                    <a:pt x="1571843" y="0"/>
                    <a:pt x="1600925" y="29082"/>
                    <a:pt x="1600925" y="64956"/>
                  </a:cubicBezTo>
                  <a:lnTo>
                    <a:pt x="1600925" y="611355"/>
                  </a:lnTo>
                  <a:cubicBezTo>
                    <a:pt x="1600925" y="647230"/>
                    <a:pt x="1571843" y="676312"/>
                    <a:pt x="1535969" y="676312"/>
                  </a:cubicBezTo>
                  <a:lnTo>
                    <a:pt x="64956" y="676312"/>
                  </a:lnTo>
                  <a:cubicBezTo>
                    <a:pt x="29082" y="676312"/>
                    <a:pt x="0" y="647230"/>
                    <a:pt x="0" y="611355"/>
                  </a:cubicBezTo>
                  <a:lnTo>
                    <a:pt x="0" y="64956"/>
                  </a:lnTo>
                  <a:cubicBezTo>
                    <a:pt x="0" y="29082"/>
                    <a:pt x="29082" y="0"/>
                    <a:pt x="64956" y="0"/>
                  </a:cubicBezTo>
                  <a:close/>
                </a:path>
              </a:pathLst>
            </a:custGeom>
            <a:solidFill>
              <a:srgbClr val="E85041">
                <a:alpha val="73725"/>
              </a:srgbClr>
            </a:solidFill>
          </p:spPr>
          <p:txBody>
            <a:bodyPr/>
            <a:lstStyle/>
            <a:p/>
          </p:txBody>
        </p:sp>
        <p:sp>
          <p:nvSpPr>
            <p:cNvPr id="14" name="TextBox 14"/>
            <p:cNvSpPr txBox="1"/>
            <p:nvPr/>
          </p:nvSpPr>
          <p:spPr>
            <a:xfrm>
              <a:off x="0" y="-85725"/>
              <a:ext cx="1600925" cy="762037"/>
            </a:xfrm>
            <a:prstGeom prst="rect">
              <a:avLst/>
            </a:prstGeom>
          </p:spPr>
          <p:txBody>
            <a:bodyPr lIns="50800" tIns="50800" rIns="50800" bIns="50800" rtlCol="0" anchor="ctr"/>
            <a:lstStyle/>
            <a:p>
              <a:pPr algn="ctr">
                <a:lnSpc>
                  <a:spcPts val="2679"/>
                </a:lnSpc>
              </a:pPr>
            </a:p>
          </p:txBody>
        </p:sp>
      </p:grpSp>
      <p:grpSp>
        <p:nvGrpSpPr>
          <p:cNvPr id="15" name="Group 15"/>
          <p:cNvGrpSpPr/>
          <p:nvPr/>
        </p:nvGrpSpPr>
        <p:grpSpPr>
          <a:xfrm>
            <a:off x="2516898" y="6215105"/>
            <a:ext cx="13254203" cy="2925921"/>
            <a:chExt cx="3490819" cy="770613"/>
          </a:xfrm>
        </p:grpSpPr>
        <p:sp>
          <p:nvSpPr>
            <p:cNvPr id="16" name="Freeform 16"/>
            <p:cNvSpPr/>
            <p:nvPr/>
          </p:nvSpPr>
          <p:spPr>
            <a:xfrm>
              <a:off x="0" y="0"/>
              <a:ext cx="3490819" cy="770613"/>
            </a:xfrm>
            <a:custGeom>
              <a:rect l="l" t="t" r="r" b="b"/>
              <a:pathLst>
                <a:path w="3490819" h="770613">
                  <a:moveTo>
                    <a:pt x="29790" y="0"/>
                  </a:moveTo>
                  <a:lnTo>
                    <a:pt x="3461029" y="0"/>
                  </a:lnTo>
                  <a:cubicBezTo>
                    <a:pt x="3477482" y="0"/>
                    <a:pt x="3490819" y="13337"/>
                    <a:pt x="3490819" y="29790"/>
                  </a:cubicBezTo>
                  <a:lnTo>
                    <a:pt x="3490819" y="740823"/>
                  </a:lnTo>
                  <a:cubicBezTo>
                    <a:pt x="3490819" y="757276"/>
                    <a:pt x="3477482" y="770613"/>
                    <a:pt x="3461029" y="770613"/>
                  </a:cubicBezTo>
                  <a:lnTo>
                    <a:pt x="29790" y="770613"/>
                  </a:lnTo>
                  <a:cubicBezTo>
                    <a:pt x="21889" y="770613"/>
                    <a:pt x="14312" y="767474"/>
                    <a:pt x="8725" y="761888"/>
                  </a:cubicBezTo>
                  <a:cubicBezTo>
                    <a:pt x="3139" y="756301"/>
                    <a:pt x="0" y="748724"/>
                    <a:pt x="0" y="740823"/>
                  </a:cubicBezTo>
                  <a:lnTo>
                    <a:pt x="0" y="29790"/>
                  </a:lnTo>
                  <a:cubicBezTo>
                    <a:pt x="0" y="21889"/>
                    <a:pt x="3139" y="14312"/>
                    <a:pt x="8725" y="8725"/>
                  </a:cubicBezTo>
                  <a:cubicBezTo>
                    <a:pt x="14312" y="3139"/>
                    <a:pt x="21889" y="0"/>
                    <a:pt x="29790" y="0"/>
                  </a:cubicBezTo>
                  <a:close/>
                </a:path>
              </a:pathLst>
            </a:custGeom>
            <a:solidFill>
              <a:srgbClr val="FFFFFF">
                <a:alpha val="73725"/>
              </a:srgbClr>
            </a:solidFill>
          </p:spPr>
          <p:txBody>
            <a:bodyPr/>
            <a:lstStyle/>
            <a:p/>
          </p:txBody>
        </p:sp>
        <p:sp>
          <p:nvSpPr>
            <p:cNvPr id="17" name="TextBox 17"/>
            <p:cNvSpPr txBox="1"/>
            <p:nvPr/>
          </p:nvSpPr>
          <p:spPr>
            <a:xfrm>
              <a:off x="0" y="-85725"/>
              <a:ext cx="3490819" cy="856338"/>
            </a:xfrm>
            <a:prstGeom prst="rect">
              <a:avLst/>
            </a:prstGeom>
          </p:spPr>
          <p:txBody>
            <a:bodyPr lIns="50800" tIns="50800" rIns="50800" bIns="50800" rtlCol="0" anchor="ctr"/>
            <a:lstStyle/>
            <a:p>
              <a:pPr algn="ctr">
                <a:lnSpc>
                  <a:spcPts val="2679"/>
                </a:lnSpc>
              </a:pPr>
            </a:p>
          </p:txBody>
        </p:sp>
      </p:grpSp>
      <p:sp>
        <p:nvSpPr>
          <p:cNvPr id="18" name="Freeform 18"/>
          <p:cNvSpPr/>
          <p:nvPr/>
        </p:nvSpPr>
        <p:spPr>
          <a:xfrm>
            <a:off x="13021546" y="1785924"/>
            <a:ext cx="1377178" cy="1392848"/>
          </a:xfrm>
          <a:custGeom>
            <a:rect l="l" t="t" r="r" b="b"/>
            <a:pathLst>
              <a:path w="1377178" h="1392848">
                <a:moveTo>
                  <a:pt x="0" y="0"/>
                </a:moveTo>
                <a:lnTo>
                  <a:pt x="1377178" y="0"/>
                </a:lnTo>
                <a:lnTo>
                  <a:pt x="1377178" y="1392848"/>
                </a:lnTo>
                <a:lnTo>
                  <a:pt x="0" y="1392848"/>
                </a:lnTo>
                <a:lnTo>
                  <a:pt x="0" y="0"/>
                </a:lnTo>
                <a:close/>
              </a:path>
            </a:pathLst>
          </a:custGeom>
          <a:blipFill>
            <a:blip r:embed="rId8">
              <a:alphaModFix amt="70000"/>
              <a:extLst>
                <a:ext uri="{96DAC541-7B7A-43D3-8B79-37D633B846F1}">
                  <asvg:svgBlip xmlns:asvg="http://schemas.microsoft.com/office/drawing/2016/SVG/main" r:embed="rId9"/>
                </a:ext>
              </a:extLst>
            </a:blip>
            <a:stretch>
              <a:fillRect/>
            </a:stretch>
          </a:blipFill>
        </p:spPr>
        <p:txBody>
          <a:bodyPr/>
          <a:lstStyle/>
          <a:p/>
        </p:txBody>
      </p:sp>
      <p:sp>
        <p:nvSpPr>
          <p:cNvPr id="19" name="TextBox 19"/>
          <p:cNvSpPr txBox="1"/>
          <p:nvPr/>
        </p:nvSpPr>
        <p:spPr>
          <a:xfrm>
            <a:off x="1668412" y="660347"/>
            <a:ext cx="14951177" cy="2518425"/>
          </a:xfrm>
          <a:prstGeom prst="rect">
            <a:avLst/>
          </a:prstGeom>
        </p:spPr>
        <p:txBody>
          <a:bodyPr lIns="0" tIns="0" rIns="0" bIns="0" rtlCol="0" anchor="t">
            <a:spAutoFit/>
          </a:bodyPr>
          <a:lstStyle/>
          <a:p>
            <a:pPr algn="ctr">
              <a:lnSpc>
                <a:spcPts val="8890"/>
              </a:lnSpc>
            </a:pPr>
            <a:r>
              <a:rPr lang="en-US" sz="8308" b="1">
                <a:solidFill>
                  <a:srgbClr val="E85041"/>
                </a:solidFill>
                <a:latin typeface="Agrandir Bold"/>
                <a:ea typeface="Agrandir Bold"/>
                <a:cs typeface="Agrandir Bold"/>
                <a:sym typeface="Agrandir Bold"/>
              </a:rPr>
              <a:t>Pentingnya Peramalan Saham BBCA</a:t>
            </a:r>
          </a:p>
        </p:txBody>
      </p:sp>
      <p:sp>
        <p:nvSpPr>
          <p:cNvPr id="20" name="TextBox 20"/>
          <p:cNvSpPr txBox="1"/>
          <p:nvPr/>
        </p:nvSpPr>
        <p:spPr>
          <a:xfrm>
            <a:off x="3216500" y="3741131"/>
            <a:ext cx="4969253" cy="2089958"/>
          </a:xfrm>
          <a:prstGeom prst="rect">
            <a:avLst/>
          </a:prstGeom>
        </p:spPr>
        <p:txBody>
          <a:bodyPr lIns="0" tIns="0" rIns="0" bIns="0" rtlCol="0" anchor="t">
            <a:spAutoFit/>
          </a:bodyPr>
          <a:lstStyle/>
          <a:p>
            <a:pPr algn="ctr">
              <a:lnSpc>
                <a:spcPts val="4006"/>
              </a:lnSpc>
            </a:pPr>
            <a:r>
              <a:rPr lang="en-US" sz="2990" b="1">
                <a:solidFill>
                  <a:srgbClr val="FFFFFF"/>
                </a:solidFill>
                <a:latin typeface="Agrandir Bold"/>
                <a:ea typeface="Agrandir Bold"/>
                <a:cs typeface="Agrandir Bold"/>
                <a:sym typeface="Agrandir Bold"/>
              </a:rPr>
              <a:t>Fluktuasi </a:t>
            </a:r>
            <a:r>
              <a:rPr lang="en-US" sz="2990">
                <a:solidFill>
                  <a:srgbClr val="FFFFFF"/>
                </a:solidFill>
                <a:latin typeface="Agrandir"/>
                <a:ea typeface="Agrandir"/>
                <a:cs typeface="Agrandir"/>
                <a:sym typeface="Agrandir"/>
              </a:rPr>
              <a:t>harga menciptakan tantangan bagi investor &amp; analis.</a:t>
            </a:r>
          </a:p>
          <a:p>
            <a:pPr algn="ctr">
              <a:lnSpc>
                <a:spcPts val="4006"/>
              </a:lnSpc>
            </a:pPr>
            <a:endParaRPr lang="en-US" sz="2990">
              <a:solidFill>
                <a:srgbClr val="FFFFFF"/>
              </a:solidFill>
              <a:latin typeface="Agrandir"/>
              <a:ea typeface="Agrandir"/>
              <a:cs typeface="Agrandir"/>
              <a:sym typeface="Agrandir"/>
            </a:endParaRPr>
          </a:p>
        </p:txBody>
      </p:sp>
      <p:sp>
        <p:nvSpPr>
          <p:cNvPr id="21" name="TextBox 21"/>
          <p:cNvSpPr txBox="1"/>
          <p:nvPr/>
        </p:nvSpPr>
        <p:spPr>
          <a:xfrm>
            <a:off x="9994466" y="3750656"/>
            <a:ext cx="5474758" cy="2444942"/>
          </a:xfrm>
          <a:prstGeom prst="rect">
            <a:avLst/>
          </a:prstGeom>
        </p:spPr>
        <p:txBody>
          <a:bodyPr lIns="0" tIns="0" rIns="0" bIns="0" rtlCol="0" anchor="t">
            <a:spAutoFit/>
          </a:bodyPr>
          <a:lstStyle/>
          <a:p>
            <a:pPr algn="ctr">
              <a:lnSpc>
                <a:spcPts val="3814"/>
              </a:lnSpc>
            </a:pPr>
            <a:r>
              <a:rPr lang="en-US" sz="2846">
                <a:solidFill>
                  <a:srgbClr val="FFFFFF"/>
                </a:solidFill>
                <a:latin typeface="Agrandir"/>
                <a:ea typeface="Agrandir"/>
                <a:cs typeface="Agrandir"/>
                <a:sym typeface="Agrandir"/>
              </a:rPr>
              <a:t>Peramalan diperlukan untuk membantu pengambilan </a:t>
            </a:r>
            <a:r>
              <a:rPr lang="en-US" sz="2846" b="1">
                <a:solidFill>
                  <a:srgbClr val="FFFFFF"/>
                </a:solidFill>
                <a:latin typeface="Agrandir Bold"/>
                <a:ea typeface="Agrandir Bold"/>
                <a:cs typeface="Agrandir Bold"/>
                <a:sym typeface="Agrandir Bold"/>
              </a:rPr>
              <a:t>keputusan </a:t>
            </a:r>
            <a:r>
              <a:rPr lang="en-US" sz="2846">
                <a:solidFill>
                  <a:srgbClr val="FFFFFF"/>
                </a:solidFill>
                <a:latin typeface="Agrandir"/>
                <a:ea typeface="Agrandir"/>
                <a:cs typeface="Agrandir"/>
                <a:sym typeface="Agrandir"/>
              </a:rPr>
              <a:t>investasi yang lebih terinformasi.</a:t>
            </a:r>
          </a:p>
          <a:p>
            <a:pPr algn="just">
              <a:lnSpc>
                <a:spcPts val="3814"/>
              </a:lnSpc>
            </a:pPr>
            <a:endParaRPr lang="en-US" sz="2846">
              <a:solidFill>
                <a:srgbClr val="FFFFFF"/>
              </a:solidFill>
              <a:latin typeface="Agrandir"/>
              <a:ea typeface="Agrandir"/>
              <a:cs typeface="Agrandir"/>
              <a:sym typeface="Agrandir"/>
            </a:endParaRPr>
          </a:p>
        </p:txBody>
      </p:sp>
      <p:sp>
        <p:nvSpPr>
          <p:cNvPr id="22" name="TextBox 22"/>
          <p:cNvSpPr txBox="1"/>
          <p:nvPr/>
        </p:nvSpPr>
        <p:spPr>
          <a:xfrm>
            <a:off x="2849665" y="6377746"/>
            <a:ext cx="8759989" cy="627846"/>
          </a:xfrm>
          <a:prstGeom prst="rect">
            <a:avLst/>
          </a:prstGeom>
        </p:spPr>
        <p:txBody>
          <a:bodyPr lIns="0" tIns="0" rIns="0" bIns="0" rtlCol="0" anchor="t">
            <a:spAutoFit/>
          </a:bodyPr>
          <a:lstStyle/>
          <a:p>
            <a:pPr algn="ctr">
              <a:lnSpc>
                <a:spcPts val="4367"/>
              </a:lnSpc>
            </a:pPr>
            <a:r>
              <a:rPr lang="en-US" sz="3259" b="1">
                <a:solidFill>
                  <a:srgbClr val="000000"/>
                </a:solidFill>
                <a:latin typeface="Agrandir Bold"/>
                <a:ea typeface="Agrandir Bold"/>
                <a:cs typeface="Agrandir Bold"/>
                <a:sym typeface="Agrandir Bold"/>
              </a:rPr>
              <a:t>Model time series sangat relevan karena:</a:t>
            </a:r>
          </a:p>
        </p:txBody>
      </p:sp>
      <p:sp>
        <p:nvSpPr>
          <p:cNvPr id="23" name="TextBox 23"/>
          <p:cNvSpPr txBox="1"/>
          <p:nvPr/>
        </p:nvSpPr>
        <p:spPr>
          <a:xfrm>
            <a:off x="2735365" y="6578258"/>
            <a:ext cx="9579370" cy="2650701"/>
          </a:xfrm>
          <a:prstGeom prst="rect">
            <a:avLst/>
          </a:prstGeom>
        </p:spPr>
        <p:txBody>
          <a:bodyPr lIns="0" tIns="0" rIns="0" bIns="0" rtlCol="0" anchor="t">
            <a:spAutoFit/>
          </a:bodyPr>
          <a:lstStyle/>
          <a:p>
            <a:pPr algn="just">
              <a:lnSpc>
                <a:spcPts val="4099"/>
              </a:lnSpc>
            </a:pPr>
          </a:p>
          <a:p>
            <a:pPr marL="660554" lvl="1" indent="-330277" algn="just">
              <a:lnSpc>
                <a:spcPts val="4099"/>
              </a:lnSpc>
              <a:buFont typeface="Arial"/>
              <a:buChar char="•"/>
            </a:pPr>
            <a:r>
              <a:rPr lang="en-US" sz="3059">
                <a:solidFill>
                  <a:srgbClr val="000000"/>
                </a:solidFill>
                <a:latin typeface="Agrandir"/>
                <a:ea typeface="Agrandir"/>
                <a:cs typeface="Agrandir"/>
                <a:sym typeface="Agrandir"/>
              </a:rPr>
              <a:t>Dapat mengidentifikasi tren dan pola musiman</a:t>
            </a:r>
          </a:p>
          <a:p>
            <a:pPr marL="660554" lvl="1" indent="-330277" algn="just">
              <a:lnSpc>
                <a:spcPts val="4099"/>
              </a:lnSpc>
              <a:buFont typeface="Arial"/>
              <a:buChar char="•"/>
            </a:pPr>
            <a:r>
              <a:rPr lang="en-US" sz="3059">
                <a:solidFill>
                  <a:srgbClr val="000000"/>
                </a:solidFill>
                <a:latin typeface="Agrandir"/>
                <a:ea typeface="Agrandir"/>
                <a:cs typeface="Agrandir"/>
                <a:sym typeface="Agrandir"/>
              </a:rPr>
              <a:t>Membantu menangani volatilitas tinggi (Hayes, 2025)</a:t>
            </a:r>
          </a:p>
          <a:p>
            <a:pPr algn="just">
              <a:lnSpc>
                <a:spcPts val="4099"/>
              </a:lnSpc>
            </a:pPr>
            <a:endParaRPr lang="en-US" sz="3059">
              <a:solidFill>
                <a:srgbClr val="000000"/>
              </a:solidFill>
              <a:latin typeface="Agrandir"/>
              <a:ea typeface="Agrandir"/>
              <a:cs typeface="Agrandir"/>
              <a:sym typeface="Agrandir"/>
            </a:endParaRP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grpSp>
        <p:nvGrpSpPr>
          <p:cNvPr id="2" name="Group 2"/>
          <p:cNvGrpSpPr/>
          <p:nvPr/>
        </p:nvGrpSpPr>
        <p:grpSpPr>
          <a:xfrm>
            <a:off x="590058" y="500515"/>
            <a:ext cx="17100379" cy="1772035"/>
            <a:chExt cx="4503804" cy="466709"/>
          </a:xfrm>
        </p:grpSpPr>
        <p:sp>
          <p:nvSpPr>
            <p:cNvPr id="3" name="Freeform 3"/>
            <p:cNvSpPr/>
            <p:nvPr/>
          </p:nvSpPr>
          <p:spPr>
            <a:xfrm>
              <a:off x="0" y="0"/>
              <a:ext cx="4503804" cy="466709"/>
            </a:xfrm>
            <a:custGeom>
              <a:rect l="l" t="t" r="r" b="b"/>
              <a:pathLst>
                <a:path w="4503804" h="466709">
                  <a:moveTo>
                    <a:pt x="23089" y="0"/>
                  </a:moveTo>
                  <a:lnTo>
                    <a:pt x="4480714" y="0"/>
                  </a:lnTo>
                  <a:cubicBezTo>
                    <a:pt x="4486838" y="0"/>
                    <a:pt x="4492711" y="2433"/>
                    <a:pt x="4497041" y="6763"/>
                  </a:cubicBezTo>
                  <a:cubicBezTo>
                    <a:pt x="4501371" y="11093"/>
                    <a:pt x="4503804" y="16966"/>
                    <a:pt x="4503804" y="23089"/>
                  </a:cubicBezTo>
                  <a:lnTo>
                    <a:pt x="4503804" y="443619"/>
                  </a:lnTo>
                  <a:cubicBezTo>
                    <a:pt x="4503804" y="456371"/>
                    <a:pt x="4493466" y="466709"/>
                    <a:pt x="4480714" y="466709"/>
                  </a:cubicBezTo>
                  <a:lnTo>
                    <a:pt x="23089" y="466709"/>
                  </a:lnTo>
                  <a:cubicBezTo>
                    <a:pt x="16966" y="466709"/>
                    <a:pt x="11093" y="464276"/>
                    <a:pt x="6763" y="459946"/>
                  </a:cubicBezTo>
                  <a:cubicBezTo>
                    <a:pt x="2433" y="455616"/>
                    <a:pt x="0" y="449743"/>
                    <a:pt x="0" y="443619"/>
                  </a:cubicBezTo>
                  <a:lnTo>
                    <a:pt x="0" y="23089"/>
                  </a:lnTo>
                  <a:cubicBezTo>
                    <a:pt x="0" y="16966"/>
                    <a:pt x="2433" y="11093"/>
                    <a:pt x="6763" y="6763"/>
                  </a:cubicBezTo>
                  <a:cubicBezTo>
                    <a:pt x="11093" y="2433"/>
                    <a:pt x="16966" y="0"/>
                    <a:pt x="23089" y="0"/>
                  </a:cubicBezTo>
                  <a:close/>
                </a:path>
              </a:pathLst>
            </a:custGeom>
            <a:gradFill rotWithShape="1">
              <a:gsLst>
                <a:gs pos="0">
                  <a:srgbClr val="000000">
                    <a:alpha val="66000"/>
                  </a:srgbClr>
                </a:gs>
                <a:gs pos="100000">
                  <a:srgbClr val="740F0F">
                    <a:alpha val="66000"/>
                  </a:srgbClr>
                </a:gs>
              </a:gsLst>
              <a:lin ang="5400000"/>
            </a:gradFill>
          </p:spPr>
          <p:txBody>
            <a:bodyPr/>
            <a:lstStyle/>
            <a:p/>
          </p:txBody>
        </p:sp>
        <p:sp>
          <p:nvSpPr>
            <p:cNvPr id="4" name="TextBox 4"/>
            <p:cNvSpPr txBox="1"/>
            <p:nvPr/>
          </p:nvSpPr>
          <p:spPr>
            <a:xfrm>
              <a:off x="0" y="-85725"/>
              <a:ext cx="4503804" cy="552434"/>
            </a:xfrm>
            <a:prstGeom prst="rect">
              <a:avLst/>
            </a:prstGeom>
          </p:spPr>
          <p:txBody>
            <a:bodyPr lIns="50800" tIns="50800" rIns="50800" bIns="50800" rtlCol="0" anchor="ctr"/>
            <a:lstStyle/>
            <a:p>
              <a:pPr algn="ctr">
                <a:lnSpc>
                  <a:spcPts val="2679"/>
                </a:lnSpc>
              </a:pPr>
            </a:p>
          </p:txBody>
        </p:sp>
      </p:grpSp>
      <p:grpSp>
        <p:nvGrpSpPr>
          <p:cNvPr id="5" name="Group 5"/>
          <p:cNvGrpSpPr/>
          <p:nvPr/>
        </p:nvGrpSpPr>
        <p:grpSpPr>
          <a:xfrm>
            <a:off x="10826766" y="85014"/>
            <a:ext cx="9647287" cy="10287000"/>
            <a:chExt cx="1120963" cy="1195294"/>
          </a:xfrm>
        </p:grpSpPr>
        <p:sp>
          <p:nvSpPr>
            <p:cNvPr id="6" name="Freeform 6"/>
            <p:cNvSpPr/>
            <p:nvPr/>
          </p:nvSpPr>
          <p:spPr>
            <a:xfrm>
              <a:off x="0" y="0"/>
              <a:ext cx="1120963" cy="1195294"/>
            </a:xfrm>
            <a:custGeom>
              <a:rect l="l" t="t" r="r" b="b"/>
              <a:pathLst>
                <a:path w="1120963" h="1195294">
                  <a:moveTo>
                    <a:pt x="203200" y="0"/>
                  </a:moveTo>
                  <a:lnTo>
                    <a:pt x="1120963" y="0"/>
                  </a:lnTo>
                  <a:lnTo>
                    <a:pt x="917763" y="1195294"/>
                  </a:lnTo>
                  <a:lnTo>
                    <a:pt x="0" y="1195294"/>
                  </a:lnTo>
                  <a:lnTo>
                    <a:pt x="203200" y="0"/>
                  </a:lnTo>
                  <a:close/>
                </a:path>
              </a:pathLst>
            </a:custGeom>
            <a:blipFill>
              <a:blip r:embed="rId2">
                <a:alphaModFix amt="56000"/>
              </a:blip>
              <a:stretch>
                <a:fillRect l="-30023" r="-30023"/>
              </a:stretch>
            </a:blipFill>
          </p:spPr>
          <p:txBody>
            <a:bodyPr/>
            <a:lstStyle/>
            <a:p/>
          </p:txBody>
        </p:sp>
      </p:grpSp>
      <p:sp>
        <p:nvSpPr>
          <p:cNvPr id="7" name="Freeform 7"/>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p:txBody>
      </p:sp>
      <p:sp>
        <p:nvSpPr>
          <p:cNvPr id="8" name="Freeform 8"/>
          <p:cNvSpPr/>
          <p:nvPr/>
        </p:nvSpPr>
        <p:spPr>
          <a:xfrm>
            <a:off x="-3227957" y="6507158"/>
            <a:ext cx="8513313" cy="8513313"/>
          </a:xfrm>
          <a:custGeom>
            <a:rect l="l" t="t" r="r" b="b"/>
            <a:pathLst>
              <a:path w="8513313" h="8513313">
                <a:moveTo>
                  <a:pt x="0" y="0"/>
                </a:moveTo>
                <a:lnTo>
                  <a:pt x="8513314" y="0"/>
                </a:lnTo>
                <a:lnTo>
                  <a:pt x="8513314" y="8513314"/>
                </a:lnTo>
                <a:lnTo>
                  <a:pt x="0" y="8513314"/>
                </a:lnTo>
                <a:lnTo>
                  <a:pt x="0" y="0"/>
                </a:lnTo>
                <a:close/>
              </a:path>
            </a:pathLst>
          </a:custGeom>
          <a:blipFill>
            <a:blip r:embed="rId5">
              <a:alphaModFix amt="38000"/>
              <a:extLst>
                <a:ext uri="{96DAC541-7B7A-43D3-8B79-37D633B846F1}">
                  <asvg:svgBlip xmlns:asvg="http://schemas.microsoft.com/office/drawing/2016/SVG/main" r:embed="rId6"/>
                </a:ext>
              </a:extLst>
            </a:blip>
            <a:stretch>
              <a:fillRect/>
            </a:stretch>
          </a:blipFill>
        </p:spPr>
        <p:txBody>
          <a:bodyPr/>
          <a:lstStyle/>
          <a:p/>
        </p:txBody>
      </p:sp>
      <p:sp>
        <p:nvSpPr>
          <p:cNvPr id="9" name="Freeform 9"/>
          <p:cNvSpPr/>
          <p:nvPr/>
        </p:nvSpPr>
        <p:spPr>
          <a:xfrm>
            <a:off x="1060492" y="2710701"/>
            <a:ext cx="9013454" cy="5982680"/>
          </a:xfrm>
          <a:custGeom>
            <a:rect l="l" t="t" r="r" b="b"/>
            <a:pathLst>
              <a:path w="9013454" h="5982680">
                <a:moveTo>
                  <a:pt x="0" y="0"/>
                </a:moveTo>
                <a:lnTo>
                  <a:pt x="9013454" y="0"/>
                </a:lnTo>
                <a:lnTo>
                  <a:pt x="9013454" y="5982680"/>
                </a:lnTo>
                <a:lnTo>
                  <a:pt x="0" y="5982680"/>
                </a:lnTo>
                <a:lnTo>
                  <a:pt x="0" y="0"/>
                </a:lnTo>
                <a:close/>
              </a:path>
            </a:pathLst>
          </a:custGeom>
          <a:blipFill>
            <a:blip r:embed="rId7">
              <a:alphaModFix amt="71000"/>
              <a:extLst>
                <a:ext uri="{96DAC541-7B7A-43D3-8B79-37D633B846F1}">
                  <asvg:svgBlip xmlns:asvg="http://schemas.microsoft.com/office/drawing/2016/SVG/main" r:embed="rId8"/>
                </a:ext>
              </a:extLst>
            </a:blip>
            <a:stretch>
              <a:fillRect/>
            </a:stretch>
          </a:blipFill>
        </p:spPr>
        <p:txBody>
          <a:bodyPr/>
          <a:lstStyle/>
          <a:p/>
        </p:txBody>
      </p:sp>
      <p:sp>
        <p:nvSpPr>
          <p:cNvPr id="10" name="TextBox 10"/>
          <p:cNvSpPr txBox="1"/>
          <p:nvPr/>
        </p:nvSpPr>
        <p:spPr>
          <a:xfrm>
            <a:off x="4625724" y="633595"/>
            <a:ext cx="11371775" cy="1393325"/>
          </a:xfrm>
          <a:prstGeom prst="rect">
            <a:avLst/>
          </a:prstGeom>
        </p:spPr>
        <p:txBody>
          <a:bodyPr lIns="0" tIns="0" rIns="0" bIns="0" rtlCol="0" anchor="t">
            <a:spAutoFit/>
          </a:bodyPr>
          <a:lstStyle/>
          <a:p>
            <a:pPr algn="l">
              <a:lnSpc>
                <a:spcPts val="8890"/>
              </a:lnSpc>
            </a:pPr>
            <a:r>
              <a:rPr lang="en-US" sz="8308" b="1">
                <a:solidFill>
                  <a:srgbClr val="E85041"/>
                </a:solidFill>
                <a:latin typeface="Agrandir Bold"/>
                <a:ea typeface="Agrandir Bold"/>
                <a:cs typeface="Agrandir Bold"/>
                <a:sym typeface="Agrandir Bold"/>
              </a:rPr>
              <a:t>Prediksi Time Series</a:t>
            </a:r>
          </a:p>
        </p:txBody>
      </p:sp>
      <p:sp>
        <p:nvSpPr>
          <p:cNvPr id="11" name="TextBox 11"/>
          <p:cNvSpPr txBox="1"/>
          <p:nvPr/>
        </p:nvSpPr>
        <p:spPr>
          <a:xfrm>
            <a:off x="3189931" y="3001666"/>
            <a:ext cx="6884015" cy="1584771"/>
          </a:xfrm>
          <a:prstGeom prst="rect">
            <a:avLst/>
          </a:prstGeom>
        </p:spPr>
        <p:txBody>
          <a:bodyPr lIns="0" tIns="0" rIns="0" bIns="0" rtlCol="0" anchor="t">
            <a:spAutoFit/>
          </a:bodyPr>
          <a:lstStyle/>
          <a:p>
            <a:pPr marL="649996" lvl="1" indent="-324998" algn="l">
              <a:lnSpc>
                <a:spcPts val="4034"/>
              </a:lnSpc>
              <a:buFont typeface="Arial"/>
              <a:buChar char="•"/>
            </a:pPr>
            <a:r>
              <a:rPr lang="en-US" sz="3010">
                <a:solidFill>
                  <a:srgbClr val="FFFFFF"/>
                </a:solidFill>
                <a:latin typeface="Agrandir"/>
                <a:ea typeface="Agrandir"/>
                <a:cs typeface="Agrandir"/>
                <a:sym typeface="Agrandir"/>
              </a:rPr>
              <a:t>Membantu memahami pola pergerakan harga saham BBCA.</a:t>
            </a:r>
          </a:p>
          <a:p>
            <a:pPr algn="l">
              <a:lnSpc>
                <a:spcPts val="4034"/>
              </a:lnSpc>
            </a:pPr>
            <a:endParaRPr lang="en-US" sz="3010">
              <a:solidFill>
                <a:srgbClr val="FFFFFF"/>
              </a:solidFill>
              <a:latin typeface="Agrandir"/>
              <a:ea typeface="Agrandir"/>
              <a:cs typeface="Agrandir"/>
              <a:sym typeface="Agrandir"/>
            </a:endParaRPr>
          </a:p>
        </p:txBody>
      </p:sp>
      <p:sp>
        <p:nvSpPr>
          <p:cNvPr id="12" name="TextBox 12"/>
          <p:cNvSpPr txBox="1"/>
          <p:nvPr/>
        </p:nvSpPr>
        <p:spPr>
          <a:xfrm>
            <a:off x="3189931" y="4483287"/>
            <a:ext cx="6745399" cy="1796732"/>
          </a:xfrm>
          <a:prstGeom prst="rect">
            <a:avLst/>
          </a:prstGeom>
        </p:spPr>
        <p:txBody>
          <a:bodyPr lIns="0" tIns="0" rIns="0" bIns="0" rtlCol="0" anchor="t">
            <a:spAutoFit/>
          </a:bodyPr>
          <a:lstStyle/>
          <a:p>
            <a:pPr algn="l">
              <a:lnSpc>
                <a:spcPts val="4570"/>
              </a:lnSpc>
            </a:pPr>
          </a:p>
          <a:p>
            <a:pPr marL="736385" lvl="1" indent="-368192" algn="l">
              <a:lnSpc>
                <a:spcPts val="4570"/>
              </a:lnSpc>
              <a:buFont typeface="Arial"/>
              <a:buChar char="•"/>
            </a:pPr>
            <a:r>
              <a:rPr lang="en-US" sz="3410">
                <a:solidFill>
                  <a:srgbClr val="FFFFFF"/>
                </a:solidFill>
                <a:latin typeface="Agrandir"/>
                <a:ea typeface="Agrandir"/>
                <a:cs typeface="Agrandir"/>
                <a:sym typeface="Agrandir"/>
              </a:rPr>
              <a:t>Berguna dalam meramalkan tren harga masa depan.</a:t>
            </a:r>
          </a:p>
        </p:txBody>
      </p:sp>
      <p:sp>
        <p:nvSpPr>
          <p:cNvPr id="13" name="TextBox 13"/>
          <p:cNvSpPr txBox="1"/>
          <p:nvPr/>
        </p:nvSpPr>
        <p:spPr>
          <a:xfrm>
            <a:off x="3097827" y="6585783"/>
            <a:ext cx="6929609" cy="2173850"/>
          </a:xfrm>
          <a:prstGeom prst="rect">
            <a:avLst/>
          </a:prstGeom>
        </p:spPr>
        <p:txBody>
          <a:bodyPr lIns="0" tIns="0" rIns="0" bIns="0" rtlCol="0" anchor="t">
            <a:spAutoFit/>
          </a:bodyPr>
          <a:lstStyle/>
          <a:p>
            <a:pPr algn="l">
              <a:lnSpc>
                <a:spcPts val="4145"/>
              </a:lnSpc>
            </a:pPr>
          </a:p>
          <a:p>
            <a:pPr marL="667852" lvl="1" indent="-333926" algn="l">
              <a:lnSpc>
                <a:spcPts val="4145"/>
              </a:lnSpc>
              <a:buFont typeface="Arial"/>
              <a:buChar char="•"/>
            </a:pPr>
            <a:r>
              <a:rPr lang="en-US" sz="3093">
                <a:solidFill>
                  <a:srgbClr val="FFFFFF"/>
                </a:solidFill>
                <a:latin typeface="Agrandir"/>
                <a:ea typeface="Agrandir"/>
                <a:cs typeface="Agrandir"/>
                <a:sym typeface="Agrandir"/>
              </a:rPr>
              <a:t>Membantu investor membuat keputusan yang lebih tepat.</a:t>
            </a:r>
          </a:p>
          <a:p>
            <a:pPr algn="l">
              <a:lnSpc>
                <a:spcPts val="4145"/>
              </a:lnSpc>
            </a:pPr>
            <a:endParaRPr lang="en-US" sz="3093">
              <a:solidFill>
                <a:srgbClr val="FFFFFF"/>
              </a:solidFill>
              <a:latin typeface="Agrandir"/>
              <a:ea typeface="Agrandir"/>
              <a:cs typeface="Agrandir"/>
              <a:sym typeface="Agrandir"/>
            </a:endParaRP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grpSp>
        <p:nvGrpSpPr>
          <p:cNvPr id="2" name="Group 2"/>
          <p:cNvGrpSpPr/>
          <p:nvPr/>
        </p:nvGrpSpPr>
        <p:grpSpPr>
          <a:xfrm>
            <a:off x="8032590" y="215627"/>
            <a:ext cx="12811545" cy="10287000"/>
            <a:chExt cx="1488633" cy="1195294"/>
          </a:xfrm>
        </p:grpSpPr>
        <p:sp>
          <p:nvSpPr>
            <p:cNvPr id="3" name="Freeform 3"/>
            <p:cNvSpPr/>
            <p:nvPr/>
          </p:nvSpPr>
          <p:spPr>
            <a:xfrm>
              <a:off x="0" y="0"/>
              <a:ext cx="1488633" cy="1195294"/>
            </a:xfrm>
            <a:custGeom>
              <a:rect l="l" t="t" r="r" b="b"/>
              <a:pathLst>
                <a:path w="1488633" h="1195294">
                  <a:moveTo>
                    <a:pt x="203200" y="0"/>
                  </a:moveTo>
                  <a:lnTo>
                    <a:pt x="1488633" y="0"/>
                  </a:lnTo>
                  <a:lnTo>
                    <a:pt x="1285433" y="1195294"/>
                  </a:lnTo>
                  <a:lnTo>
                    <a:pt x="0" y="1195294"/>
                  </a:lnTo>
                  <a:lnTo>
                    <a:pt x="203200" y="0"/>
                  </a:lnTo>
                  <a:close/>
                </a:path>
              </a:pathLst>
            </a:custGeom>
            <a:blipFill>
              <a:blip r:embed="rId2">
                <a:alphaModFix amt="46000"/>
              </a:blip>
              <a:stretch>
                <a:fillRect l="-10258" r="-10258"/>
              </a:stretch>
            </a:blipFill>
          </p:spPr>
          <p:txBody>
            <a:bodyPr/>
            <a:lstStyle/>
            <a:p/>
          </p:txBody>
        </p:sp>
      </p:grpSp>
      <p:sp>
        <p:nvSpPr>
          <p:cNvPr id="4" name="Freeform 4"/>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p:txBody>
      </p:sp>
      <p:sp>
        <p:nvSpPr>
          <p:cNvPr id="5" name="Freeform 5"/>
          <p:cNvSpPr/>
          <p:nvPr/>
        </p:nvSpPr>
        <p:spPr>
          <a:xfrm>
            <a:off x="-3227957" y="6507158"/>
            <a:ext cx="8513313" cy="8513313"/>
          </a:xfrm>
          <a:custGeom>
            <a:rect l="l" t="t" r="r" b="b"/>
            <a:pathLst>
              <a:path w="8513313" h="8513313">
                <a:moveTo>
                  <a:pt x="0" y="0"/>
                </a:moveTo>
                <a:lnTo>
                  <a:pt x="8513314" y="0"/>
                </a:lnTo>
                <a:lnTo>
                  <a:pt x="8513314" y="8513314"/>
                </a:lnTo>
                <a:lnTo>
                  <a:pt x="0" y="8513314"/>
                </a:lnTo>
                <a:lnTo>
                  <a:pt x="0" y="0"/>
                </a:lnTo>
                <a:close/>
              </a:path>
            </a:pathLst>
          </a:custGeom>
          <a:blipFill>
            <a:blip r:embed="rId5">
              <a:alphaModFix amt="38000"/>
              <a:extLst>
                <a:ext uri="{96DAC541-7B7A-43D3-8B79-37D633B846F1}">
                  <asvg:svgBlip xmlns:asvg="http://schemas.microsoft.com/office/drawing/2016/SVG/main" r:embed="rId6"/>
                </a:ext>
              </a:extLst>
            </a:blip>
            <a:stretch>
              <a:fillRect/>
            </a:stretch>
          </a:blipFill>
        </p:spPr>
        <p:txBody>
          <a:bodyPr/>
          <a:lstStyle/>
          <a:p/>
        </p:txBody>
      </p:sp>
      <p:grpSp>
        <p:nvGrpSpPr>
          <p:cNvPr id="6" name="Group 6"/>
          <p:cNvGrpSpPr/>
          <p:nvPr/>
        </p:nvGrpSpPr>
        <p:grpSpPr>
          <a:xfrm>
            <a:off x="1219806" y="2809692"/>
            <a:ext cx="15558081" cy="6259088"/>
            <a:chExt cx="4097601" cy="1648484"/>
          </a:xfrm>
        </p:grpSpPr>
        <p:sp>
          <p:nvSpPr>
            <p:cNvPr id="7" name="Freeform 7"/>
            <p:cNvSpPr/>
            <p:nvPr/>
          </p:nvSpPr>
          <p:spPr>
            <a:xfrm>
              <a:off x="0" y="0"/>
              <a:ext cx="4097601" cy="1648484"/>
            </a:xfrm>
            <a:custGeom>
              <a:rect l="l" t="t" r="r" b="b"/>
              <a:pathLst>
                <a:path w="4097601" h="1648483">
                  <a:moveTo>
                    <a:pt x="25378" y="0"/>
                  </a:moveTo>
                  <a:lnTo>
                    <a:pt x="4072223" y="0"/>
                  </a:lnTo>
                  <a:cubicBezTo>
                    <a:pt x="4078954" y="0"/>
                    <a:pt x="4085409" y="2674"/>
                    <a:pt x="4090168" y="7433"/>
                  </a:cubicBezTo>
                  <a:cubicBezTo>
                    <a:pt x="4094928" y="12192"/>
                    <a:pt x="4097601" y="18648"/>
                    <a:pt x="4097601" y="25378"/>
                  </a:cubicBezTo>
                  <a:lnTo>
                    <a:pt x="4097601" y="1623106"/>
                  </a:lnTo>
                  <a:cubicBezTo>
                    <a:pt x="4097601" y="1629837"/>
                    <a:pt x="4094928" y="1636292"/>
                    <a:pt x="4090168" y="1641051"/>
                  </a:cubicBezTo>
                  <a:cubicBezTo>
                    <a:pt x="4085409" y="1645810"/>
                    <a:pt x="4078954" y="1648484"/>
                    <a:pt x="4072223" y="1648484"/>
                  </a:cubicBezTo>
                  <a:lnTo>
                    <a:pt x="25378" y="1648484"/>
                  </a:lnTo>
                  <a:cubicBezTo>
                    <a:pt x="18648" y="1648484"/>
                    <a:pt x="12192" y="1645810"/>
                    <a:pt x="7433" y="1641051"/>
                  </a:cubicBezTo>
                  <a:cubicBezTo>
                    <a:pt x="2674" y="1636292"/>
                    <a:pt x="0" y="1629837"/>
                    <a:pt x="0" y="1623106"/>
                  </a:cubicBezTo>
                  <a:lnTo>
                    <a:pt x="0" y="25378"/>
                  </a:lnTo>
                  <a:cubicBezTo>
                    <a:pt x="0" y="18648"/>
                    <a:pt x="2674" y="12192"/>
                    <a:pt x="7433" y="7433"/>
                  </a:cubicBezTo>
                  <a:cubicBezTo>
                    <a:pt x="12192" y="2674"/>
                    <a:pt x="18648" y="0"/>
                    <a:pt x="25378" y="0"/>
                  </a:cubicBezTo>
                  <a:close/>
                </a:path>
              </a:pathLst>
            </a:custGeom>
            <a:gradFill rotWithShape="1">
              <a:gsLst>
                <a:gs pos="0">
                  <a:srgbClr val="000000">
                    <a:alpha val="50000"/>
                  </a:srgbClr>
                </a:gs>
                <a:gs pos="100000">
                  <a:srgbClr val="740F0F">
                    <a:alpha val="50000"/>
                  </a:srgbClr>
                </a:gs>
              </a:gsLst>
              <a:lin ang="5400000"/>
            </a:gradFill>
          </p:spPr>
          <p:txBody>
            <a:bodyPr/>
            <a:lstStyle/>
            <a:p/>
          </p:txBody>
        </p:sp>
        <p:sp>
          <p:nvSpPr>
            <p:cNvPr id="8" name="TextBox 8"/>
            <p:cNvSpPr txBox="1"/>
            <p:nvPr/>
          </p:nvSpPr>
          <p:spPr>
            <a:xfrm>
              <a:off x="0" y="-85725"/>
              <a:ext cx="4097601" cy="1734209"/>
            </a:xfrm>
            <a:prstGeom prst="rect">
              <a:avLst/>
            </a:prstGeom>
          </p:spPr>
          <p:txBody>
            <a:bodyPr lIns="50800" tIns="50800" rIns="50800" bIns="50800" rtlCol="0" anchor="ctr"/>
            <a:lstStyle/>
            <a:p>
              <a:pPr algn="ctr">
                <a:lnSpc>
                  <a:spcPts val="2679"/>
                </a:lnSpc>
              </a:pPr>
            </a:p>
          </p:txBody>
        </p:sp>
      </p:grpSp>
      <p:grpSp>
        <p:nvGrpSpPr>
          <p:cNvPr id="9" name="Group 9"/>
          <p:cNvGrpSpPr/>
          <p:nvPr/>
        </p:nvGrpSpPr>
        <p:grpSpPr>
          <a:xfrm>
            <a:off x="2332693" y="336591"/>
            <a:ext cx="14005973" cy="1977802"/>
            <a:chExt cx="3688816" cy="520903"/>
          </a:xfrm>
        </p:grpSpPr>
        <p:sp>
          <p:nvSpPr>
            <p:cNvPr id="10" name="Freeform 10"/>
            <p:cNvSpPr/>
            <p:nvPr/>
          </p:nvSpPr>
          <p:spPr>
            <a:xfrm>
              <a:off x="0" y="0"/>
              <a:ext cx="3688816" cy="520903"/>
            </a:xfrm>
            <a:custGeom>
              <a:rect l="l" t="t" r="r" b="b"/>
              <a:pathLst>
                <a:path w="3688816" h="520903">
                  <a:moveTo>
                    <a:pt x="28191" y="0"/>
                  </a:moveTo>
                  <a:lnTo>
                    <a:pt x="3660625" y="0"/>
                  </a:lnTo>
                  <a:cubicBezTo>
                    <a:pt x="3668102" y="0"/>
                    <a:pt x="3675272" y="2970"/>
                    <a:pt x="3680559" y="8257"/>
                  </a:cubicBezTo>
                  <a:cubicBezTo>
                    <a:pt x="3685846" y="13544"/>
                    <a:pt x="3688816" y="20714"/>
                    <a:pt x="3688816" y="28191"/>
                  </a:cubicBezTo>
                  <a:lnTo>
                    <a:pt x="3688816" y="492712"/>
                  </a:lnTo>
                  <a:cubicBezTo>
                    <a:pt x="3688816" y="500189"/>
                    <a:pt x="3685846" y="507359"/>
                    <a:pt x="3680559" y="512646"/>
                  </a:cubicBezTo>
                  <a:cubicBezTo>
                    <a:pt x="3675272" y="517932"/>
                    <a:pt x="3668102" y="520903"/>
                    <a:pt x="3660625" y="520903"/>
                  </a:cubicBezTo>
                  <a:lnTo>
                    <a:pt x="28191" y="520903"/>
                  </a:lnTo>
                  <a:cubicBezTo>
                    <a:pt x="20714" y="520903"/>
                    <a:pt x="13544" y="517932"/>
                    <a:pt x="8257" y="512646"/>
                  </a:cubicBezTo>
                  <a:cubicBezTo>
                    <a:pt x="2970" y="507359"/>
                    <a:pt x="0" y="500189"/>
                    <a:pt x="0" y="492712"/>
                  </a:cubicBezTo>
                  <a:lnTo>
                    <a:pt x="0" y="28191"/>
                  </a:lnTo>
                  <a:cubicBezTo>
                    <a:pt x="0" y="20714"/>
                    <a:pt x="2970" y="13544"/>
                    <a:pt x="8257" y="8257"/>
                  </a:cubicBezTo>
                  <a:cubicBezTo>
                    <a:pt x="13544" y="2970"/>
                    <a:pt x="20714" y="0"/>
                    <a:pt x="28191" y="0"/>
                  </a:cubicBezTo>
                  <a:close/>
                </a:path>
              </a:pathLst>
            </a:custGeom>
            <a:gradFill rotWithShape="1">
              <a:gsLst>
                <a:gs pos="0">
                  <a:srgbClr val="000000">
                    <a:alpha val="66000"/>
                  </a:srgbClr>
                </a:gs>
                <a:gs pos="100000">
                  <a:srgbClr val="740F0F">
                    <a:alpha val="66000"/>
                  </a:srgbClr>
                </a:gs>
              </a:gsLst>
              <a:lin ang="5400000"/>
            </a:gradFill>
          </p:spPr>
          <p:txBody>
            <a:bodyPr/>
            <a:lstStyle/>
            <a:p/>
          </p:txBody>
        </p:sp>
        <p:sp>
          <p:nvSpPr>
            <p:cNvPr id="11" name="TextBox 11"/>
            <p:cNvSpPr txBox="1"/>
            <p:nvPr/>
          </p:nvSpPr>
          <p:spPr>
            <a:xfrm>
              <a:off x="0" y="-85725"/>
              <a:ext cx="3688816" cy="606628"/>
            </a:xfrm>
            <a:prstGeom prst="rect">
              <a:avLst/>
            </a:prstGeom>
          </p:spPr>
          <p:txBody>
            <a:bodyPr lIns="50800" tIns="50800" rIns="50800" bIns="50800" rtlCol="0" anchor="ctr"/>
            <a:lstStyle/>
            <a:p>
              <a:pPr algn="ctr">
                <a:lnSpc>
                  <a:spcPts val="2679"/>
                </a:lnSpc>
              </a:pPr>
            </a:p>
          </p:txBody>
        </p:sp>
      </p:grpSp>
      <p:sp>
        <p:nvSpPr>
          <p:cNvPr id="12" name="Freeform 12"/>
          <p:cNvSpPr/>
          <p:nvPr/>
        </p:nvSpPr>
        <p:spPr>
          <a:xfrm>
            <a:off x="1991526" y="3117544"/>
            <a:ext cx="5863301" cy="1678370"/>
          </a:xfrm>
          <a:custGeom>
            <a:rect l="l" t="t" r="r" b="b"/>
            <a:pathLst>
              <a:path w="5863301" h="1678370">
                <a:moveTo>
                  <a:pt x="0" y="0"/>
                </a:moveTo>
                <a:lnTo>
                  <a:pt x="5863301" y="0"/>
                </a:lnTo>
                <a:lnTo>
                  <a:pt x="5863301" y="1678370"/>
                </a:lnTo>
                <a:lnTo>
                  <a:pt x="0" y="1678370"/>
                </a:lnTo>
                <a:lnTo>
                  <a:pt x="0" y="0"/>
                </a:lnTo>
                <a:close/>
              </a:path>
            </a:pathLst>
          </a:custGeom>
          <a:blipFill>
            <a:blip r:embed="rId7">
              <a:alphaModFix amt="91000"/>
              <a:extLst>
                <a:ext uri="{96DAC541-7B7A-43D3-8B79-37D633B846F1}">
                  <asvg:svgBlip xmlns:asvg="http://schemas.microsoft.com/office/drawing/2016/SVG/main" r:embed="rId8"/>
                </a:ext>
              </a:extLst>
            </a:blip>
            <a:stretch>
              <a:fillRect/>
            </a:stretch>
          </a:blipFill>
        </p:spPr>
        <p:txBody>
          <a:bodyPr/>
          <a:lstStyle/>
          <a:p/>
        </p:txBody>
      </p:sp>
      <p:sp>
        <p:nvSpPr>
          <p:cNvPr id="13" name="TextBox 13"/>
          <p:cNvSpPr txBox="1"/>
          <p:nvPr/>
        </p:nvSpPr>
        <p:spPr>
          <a:xfrm>
            <a:off x="2892045" y="3443981"/>
            <a:ext cx="4466333" cy="1207568"/>
          </a:xfrm>
          <a:prstGeom prst="rect">
            <a:avLst/>
          </a:prstGeom>
        </p:spPr>
        <p:txBody>
          <a:bodyPr lIns="0" tIns="0" rIns="0" bIns="0" rtlCol="0" anchor="t">
            <a:spAutoFit/>
          </a:bodyPr>
          <a:lstStyle/>
          <a:p>
            <a:pPr marL="719554" lvl="1" indent="-359777" algn="just">
              <a:lnSpc>
                <a:spcPts val="4465"/>
              </a:lnSpc>
              <a:buFont typeface="Arial"/>
              <a:buChar char="•"/>
            </a:pPr>
            <a:r>
              <a:rPr lang="en-US" sz="3332" b="1">
                <a:solidFill>
                  <a:srgbClr val="000000"/>
                </a:solidFill>
                <a:latin typeface="Agrandir Bold"/>
                <a:ea typeface="Agrandir Bold"/>
                <a:cs typeface="Agrandir Bold"/>
                <a:sym typeface="Agrandir Bold"/>
              </a:rPr>
              <a:t>SARIMA (Seasonal ARIMA)</a:t>
            </a:r>
          </a:p>
        </p:txBody>
      </p:sp>
      <p:sp>
        <p:nvSpPr>
          <p:cNvPr id="14" name="Freeform 14"/>
          <p:cNvSpPr/>
          <p:nvPr/>
        </p:nvSpPr>
        <p:spPr>
          <a:xfrm>
            <a:off x="2025671" y="5052207"/>
            <a:ext cx="6973176" cy="1996072"/>
          </a:xfrm>
          <a:custGeom>
            <a:rect l="l" t="t" r="r" b="b"/>
            <a:pathLst>
              <a:path w="6973175" h="1996072">
                <a:moveTo>
                  <a:pt x="0" y="0"/>
                </a:moveTo>
                <a:lnTo>
                  <a:pt x="6973176" y="0"/>
                </a:lnTo>
                <a:lnTo>
                  <a:pt x="6973176" y="1996071"/>
                </a:lnTo>
                <a:lnTo>
                  <a:pt x="0" y="1996071"/>
                </a:lnTo>
                <a:lnTo>
                  <a:pt x="0" y="0"/>
                </a:lnTo>
                <a:close/>
              </a:path>
            </a:pathLst>
          </a:custGeom>
          <a:blipFill>
            <a:blip r:embed="rId7">
              <a:alphaModFix amt="91000"/>
              <a:extLst>
                <a:ext uri="{96DAC541-7B7A-43D3-8B79-37D633B846F1}">
                  <asvg:svgBlip xmlns:asvg="http://schemas.microsoft.com/office/drawing/2016/SVG/main" r:embed="rId9"/>
                </a:ext>
              </a:extLst>
            </a:blip>
            <a:stretch>
              <a:fillRect/>
            </a:stretch>
          </a:blipFill>
        </p:spPr>
        <p:txBody>
          <a:bodyPr/>
          <a:lstStyle/>
          <a:p/>
        </p:txBody>
      </p:sp>
      <p:sp>
        <p:nvSpPr>
          <p:cNvPr id="15" name="TextBox 15"/>
          <p:cNvSpPr txBox="1"/>
          <p:nvPr/>
        </p:nvSpPr>
        <p:spPr>
          <a:xfrm>
            <a:off x="3176110" y="5482179"/>
            <a:ext cx="5199054" cy="1907084"/>
          </a:xfrm>
          <a:prstGeom prst="rect">
            <a:avLst/>
          </a:prstGeom>
        </p:spPr>
        <p:txBody>
          <a:bodyPr lIns="0" tIns="0" rIns="0" bIns="0" rtlCol="0" anchor="t">
            <a:spAutoFit/>
          </a:bodyPr>
          <a:lstStyle/>
          <a:p>
            <a:pPr marL="784323" lvl="1" indent="-392161" algn="just">
              <a:lnSpc>
                <a:spcPts val="4867"/>
              </a:lnSpc>
              <a:buFont typeface="Arial"/>
              <a:buChar char="•"/>
            </a:pPr>
            <a:r>
              <a:rPr lang="en-US" sz="3632" b="1">
                <a:solidFill>
                  <a:srgbClr val="000000"/>
                </a:solidFill>
                <a:latin typeface="Agrandir Bold"/>
                <a:ea typeface="Agrandir Bold"/>
                <a:cs typeface="Agrandir Bold"/>
                <a:sym typeface="Agrandir Bold"/>
              </a:rPr>
              <a:t>Simple Exponential Smoothing (SES)</a:t>
            </a:r>
          </a:p>
          <a:p>
            <a:pPr algn="just">
              <a:lnSpc>
                <a:spcPts val="4867"/>
              </a:lnSpc>
            </a:pPr>
            <a:endParaRPr lang="en-US" sz="3632" b="1">
              <a:solidFill>
                <a:srgbClr val="000000"/>
              </a:solidFill>
              <a:latin typeface="Agrandir Bold"/>
              <a:ea typeface="Agrandir Bold"/>
              <a:cs typeface="Agrandir Bold"/>
              <a:sym typeface="Agrandir Bold"/>
            </a:endParaRPr>
          </a:p>
        </p:txBody>
      </p:sp>
      <p:sp>
        <p:nvSpPr>
          <p:cNvPr id="16" name="Freeform 16"/>
          <p:cNvSpPr/>
          <p:nvPr/>
        </p:nvSpPr>
        <p:spPr>
          <a:xfrm>
            <a:off x="2169289" y="7230231"/>
            <a:ext cx="5863301" cy="1678370"/>
          </a:xfrm>
          <a:custGeom>
            <a:rect l="l" t="t" r="r" b="b"/>
            <a:pathLst>
              <a:path w="5863301" h="1678370">
                <a:moveTo>
                  <a:pt x="0" y="0"/>
                </a:moveTo>
                <a:lnTo>
                  <a:pt x="5863301" y="0"/>
                </a:lnTo>
                <a:lnTo>
                  <a:pt x="5863301" y="1678370"/>
                </a:lnTo>
                <a:lnTo>
                  <a:pt x="0" y="1678370"/>
                </a:lnTo>
                <a:lnTo>
                  <a:pt x="0" y="0"/>
                </a:lnTo>
                <a:close/>
              </a:path>
            </a:pathLst>
          </a:custGeom>
          <a:blipFill>
            <a:blip r:embed="rId7">
              <a:alphaModFix amt="91000"/>
              <a:extLst>
                <a:ext uri="{96DAC541-7B7A-43D3-8B79-37D633B846F1}">
                  <asvg:svgBlip xmlns:asvg="http://schemas.microsoft.com/office/drawing/2016/SVG/main" r:embed="rId10"/>
                </a:ext>
              </a:extLst>
            </a:blip>
            <a:stretch>
              <a:fillRect/>
            </a:stretch>
          </a:blipFill>
        </p:spPr>
        <p:txBody>
          <a:bodyPr/>
          <a:lstStyle/>
          <a:p/>
        </p:txBody>
      </p:sp>
      <p:sp>
        <p:nvSpPr>
          <p:cNvPr id="17" name="TextBox 17"/>
          <p:cNvSpPr txBox="1"/>
          <p:nvPr/>
        </p:nvSpPr>
        <p:spPr>
          <a:xfrm>
            <a:off x="2967812" y="7161697"/>
            <a:ext cx="3797891" cy="1907084"/>
          </a:xfrm>
          <a:prstGeom prst="rect">
            <a:avLst/>
          </a:prstGeom>
        </p:spPr>
        <p:txBody>
          <a:bodyPr lIns="0" tIns="0" rIns="0" bIns="0" rtlCol="0" anchor="t">
            <a:spAutoFit/>
          </a:bodyPr>
          <a:lstStyle/>
          <a:p>
            <a:pPr algn="just">
              <a:lnSpc>
                <a:spcPts val="4867"/>
              </a:lnSpc>
            </a:pPr>
          </a:p>
          <a:p>
            <a:pPr marL="784323" lvl="1" indent="-392161" algn="just">
              <a:lnSpc>
                <a:spcPts val="4867"/>
              </a:lnSpc>
              <a:buFont typeface="Arial"/>
              <a:buChar char="•"/>
            </a:pPr>
            <a:r>
              <a:rPr lang="en-US" sz="3632" b="1">
                <a:solidFill>
                  <a:srgbClr val="000000"/>
                </a:solidFill>
                <a:latin typeface="Agrandir Bold"/>
                <a:ea typeface="Agrandir Bold"/>
                <a:cs typeface="Agrandir Bold"/>
                <a:sym typeface="Agrandir Bold"/>
              </a:rPr>
              <a:t>Holt Linear</a:t>
            </a:r>
          </a:p>
          <a:p>
            <a:pPr algn="just">
              <a:lnSpc>
                <a:spcPts val="4867"/>
              </a:lnSpc>
            </a:pPr>
            <a:endParaRPr lang="en-US" sz="3632" b="1">
              <a:solidFill>
                <a:srgbClr val="000000"/>
              </a:solidFill>
              <a:latin typeface="Agrandir Bold"/>
              <a:ea typeface="Agrandir Bold"/>
              <a:cs typeface="Agrandir Bold"/>
              <a:sym typeface="Agrandir Bold"/>
            </a:endParaRPr>
          </a:p>
        </p:txBody>
      </p:sp>
      <p:sp>
        <p:nvSpPr>
          <p:cNvPr id="18" name="Freeform 18"/>
          <p:cNvSpPr/>
          <p:nvPr/>
        </p:nvSpPr>
        <p:spPr>
          <a:xfrm>
            <a:off x="9335680" y="4119202"/>
            <a:ext cx="5863301" cy="1678370"/>
          </a:xfrm>
          <a:custGeom>
            <a:rect l="l" t="t" r="r" b="b"/>
            <a:pathLst>
              <a:path w="5863301" h="1678370">
                <a:moveTo>
                  <a:pt x="0" y="0"/>
                </a:moveTo>
                <a:lnTo>
                  <a:pt x="5863300" y="0"/>
                </a:lnTo>
                <a:lnTo>
                  <a:pt x="5863300" y="1678370"/>
                </a:lnTo>
                <a:lnTo>
                  <a:pt x="0" y="1678370"/>
                </a:lnTo>
                <a:lnTo>
                  <a:pt x="0" y="0"/>
                </a:lnTo>
                <a:close/>
              </a:path>
            </a:pathLst>
          </a:custGeom>
          <a:blipFill>
            <a:blip r:embed="rId7">
              <a:alphaModFix amt="91000"/>
              <a:extLst>
                <a:ext uri="{96DAC541-7B7A-43D3-8B79-37D633B846F1}">
                  <asvg:svgBlip xmlns:asvg="http://schemas.microsoft.com/office/drawing/2016/SVG/main" r:embed="rId11"/>
                </a:ext>
              </a:extLst>
            </a:blip>
            <a:stretch>
              <a:fillRect/>
            </a:stretch>
          </a:blipFill>
        </p:spPr>
        <p:txBody>
          <a:bodyPr/>
          <a:lstStyle/>
          <a:p/>
        </p:txBody>
      </p:sp>
      <p:sp>
        <p:nvSpPr>
          <p:cNvPr id="19" name="TextBox 19"/>
          <p:cNvSpPr txBox="1"/>
          <p:nvPr/>
        </p:nvSpPr>
        <p:spPr>
          <a:xfrm>
            <a:off x="10323310" y="3976327"/>
            <a:ext cx="3918106" cy="1907084"/>
          </a:xfrm>
          <a:prstGeom prst="rect">
            <a:avLst/>
          </a:prstGeom>
        </p:spPr>
        <p:txBody>
          <a:bodyPr lIns="0" tIns="0" rIns="0" bIns="0" rtlCol="0" anchor="t">
            <a:spAutoFit/>
          </a:bodyPr>
          <a:lstStyle/>
          <a:p>
            <a:pPr algn="just">
              <a:lnSpc>
                <a:spcPts val="4867"/>
              </a:lnSpc>
            </a:pPr>
          </a:p>
          <a:p>
            <a:pPr marL="784323" lvl="1" indent="-392161" algn="just">
              <a:lnSpc>
                <a:spcPts val="4867"/>
              </a:lnSpc>
              <a:buFont typeface="Arial"/>
              <a:buChar char="•"/>
            </a:pPr>
            <a:r>
              <a:rPr lang="en-US" sz="3632" b="1">
                <a:solidFill>
                  <a:srgbClr val="000000"/>
                </a:solidFill>
                <a:latin typeface="Agrandir Bold"/>
                <a:ea typeface="Agrandir Bold"/>
                <a:cs typeface="Agrandir Bold"/>
                <a:sym typeface="Agrandir Bold"/>
              </a:rPr>
              <a:t>Holt-Winters</a:t>
            </a:r>
          </a:p>
          <a:p>
            <a:pPr algn="just">
              <a:lnSpc>
                <a:spcPts val="4867"/>
              </a:lnSpc>
            </a:pPr>
            <a:endParaRPr lang="en-US" sz="3632" b="1">
              <a:solidFill>
                <a:srgbClr val="000000"/>
              </a:solidFill>
              <a:latin typeface="Agrandir Bold"/>
              <a:ea typeface="Agrandir Bold"/>
              <a:cs typeface="Agrandir Bold"/>
              <a:sym typeface="Agrandir Bold"/>
            </a:endParaRPr>
          </a:p>
        </p:txBody>
      </p:sp>
      <p:sp>
        <p:nvSpPr>
          <p:cNvPr id="20" name="Freeform 20"/>
          <p:cNvSpPr/>
          <p:nvPr/>
        </p:nvSpPr>
        <p:spPr>
          <a:xfrm>
            <a:off x="9200975" y="6422524"/>
            <a:ext cx="6162776" cy="1764095"/>
          </a:xfrm>
          <a:custGeom>
            <a:rect l="l" t="t" r="r" b="b"/>
            <a:pathLst>
              <a:path w="6162776" h="1764095">
                <a:moveTo>
                  <a:pt x="0" y="0"/>
                </a:moveTo>
                <a:lnTo>
                  <a:pt x="6162776" y="0"/>
                </a:lnTo>
                <a:lnTo>
                  <a:pt x="6162776" y="1764095"/>
                </a:lnTo>
                <a:lnTo>
                  <a:pt x="0" y="1764095"/>
                </a:lnTo>
                <a:lnTo>
                  <a:pt x="0" y="0"/>
                </a:lnTo>
                <a:close/>
              </a:path>
            </a:pathLst>
          </a:custGeom>
          <a:blipFill>
            <a:blip r:embed="rId7">
              <a:alphaModFix amt="91000"/>
              <a:extLst>
                <a:ext uri="{96DAC541-7B7A-43D3-8B79-37D633B846F1}">
                  <asvg:svgBlip xmlns:asvg="http://schemas.microsoft.com/office/drawing/2016/SVG/main" r:embed="rId12"/>
                </a:ext>
              </a:extLst>
            </a:blip>
            <a:stretch>
              <a:fillRect/>
            </a:stretch>
          </a:blipFill>
        </p:spPr>
        <p:txBody>
          <a:bodyPr/>
          <a:lstStyle/>
          <a:p/>
        </p:txBody>
      </p:sp>
      <p:sp>
        <p:nvSpPr>
          <p:cNvPr id="21" name="TextBox 21"/>
          <p:cNvSpPr txBox="1"/>
          <p:nvPr/>
        </p:nvSpPr>
        <p:spPr>
          <a:xfrm>
            <a:off x="10084652" y="6152066"/>
            <a:ext cx="4983837" cy="2331518"/>
          </a:xfrm>
          <a:prstGeom prst="rect">
            <a:avLst/>
          </a:prstGeom>
        </p:spPr>
        <p:txBody>
          <a:bodyPr lIns="0" tIns="0" rIns="0" bIns="0" rtlCol="0" anchor="t">
            <a:spAutoFit/>
          </a:bodyPr>
          <a:lstStyle/>
          <a:p>
            <a:pPr algn="just">
              <a:lnSpc>
                <a:spcPts val="4465"/>
              </a:lnSpc>
            </a:pPr>
          </a:p>
          <a:p>
            <a:pPr marL="719554" lvl="1" indent="-359777" algn="just">
              <a:lnSpc>
                <a:spcPts val="4465"/>
              </a:lnSpc>
              <a:buFont typeface="Arial"/>
              <a:buChar char="•"/>
            </a:pPr>
            <a:r>
              <a:rPr lang="en-US" sz="3332" b="1">
                <a:solidFill>
                  <a:srgbClr val="000000"/>
                </a:solidFill>
                <a:latin typeface="Agrandir Bold"/>
                <a:ea typeface="Agrandir Bold"/>
                <a:cs typeface="Agrandir Bold"/>
                <a:sym typeface="Agrandir Bold"/>
              </a:rPr>
              <a:t>XGBoost (machine learning)</a:t>
            </a:r>
          </a:p>
          <a:p>
            <a:pPr algn="just">
              <a:lnSpc>
                <a:spcPts val="4465"/>
              </a:lnSpc>
            </a:pPr>
            <a:endParaRPr lang="en-US" sz="3332" b="1">
              <a:solidFill>
                <a:srgbClr val="000000"/>
              </a:solidFill>
              <a:latin typeface="Agrandir Bold"/>
              <a:ea typeface="Agrandir Bold"/>
              <a:cs typeface="Agrandir Bold"/>
              <a:sym typeface="Agrandir Bold"/>
            </a:endParaRPr>
          </a:p>
        </p:txBody>
      </p:sp>
      <p:sp>
        <p:nvSpPr>
          <p:cNvPr id="22" name="TextBox 22"/>
          <p:cNvSpPr txBox="1"/>
          <p:nvPr/>
        </p:nvSpPr>
        <p:spPr>
          <a:xfrm>
            <a:off x="4398764" y="585721"/>
            <a:ext cx="11371775" cy="1393325"/>
          </a:xfrm>
          <a:prstGeom prst="rect">
            <a:avLst/>
          </a:prstGeom>
        </p:spPr>
        <p:txBody>
          <a:bodyPr lIns="0" tIns="0" rIns="0" bIns="0" rtlCol="0" anchor="t">
            <a:spAutoFit/>
          </a:bodyPr>
          <a:lstStyle/>
          <a:p>
            <a:pPr algn="l">
              <a:lnSpc>
                <a:spcPts val="8890"/>
              </a:lnSpc>
            </a:pPr>
            <a:r>
              <a:rPr lang="en-US" sz="8308" b="1">
                <a:solidFill>
                  <a:srgbClr val="E85041"/>
                </a:solidFill>
                <a:latin typeface="Agrandir Bold"/>
                <a:ea typeface="Agrandir Bold"/>
                <a:cs typeface="Agrandir Bold"/>
                <a:sym typeface="Agrandir Bold"/>
              </a:rPr>
              <a:t>Model Time Series</a:t>
            </a: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171450" y="-325820"/>
            <a:ext cx="18781384" cy="12055438"/>
          </a:xfrm>
          <a:custGeom>
            <a:rect l="l" t="t" r="r" b="b"/>
            <a:pathLst>
              <a:path w="18781384" h="12055438">
                <a:moveTo>
                  <a:pt x="0" y="0"/>
                </a:moveTo>
                <a:lnTo>
                  <a:pt x="18781384" y="0"/>
                </a:lnTo>
                <a:lnTo>
                  <a:pt x="18781384" y="12055438"/>
                </a:lnTo>
                <a:lnTo>
                  <a:pt x="0" y="12055438"/>
                </a:lnTo>
                <a:lnTo>
                  <a:pt x="0" y="0"/>
                </a:lnTo>
                <a:close/>
              </a:path>
            </a:pathLst>
          </a:custGeom>
          <a:blipFill>
            <a:blip r:embed="rId2"/>
            <a:stretch>
              <a:fillRect t="-1898" b="-1898"/>
            </a:stretch>
          </a:blipFill>
        </p:spPr>
        <p:txBody>
          <a:bodyPr/>
          <a:lstStyle/>
          <a:p/>
        </p:txBody>
      </p:sp>
      <p:sp>
        <p:nvSpPr>
          <p:cNvPr id="3" name="Freeform 3"/>
          <p:cNvSpPr/>
          <p:nvPr/>
        </p:nvSpPr>
        <p:spPr>
          <a:xfrm>
            <a:off x="3941534" y="5720752"/>
            <a:ext cx="8513313" cy="8513313"/>
          </a:xfrm>
          <a:custGeom>
            <a:rect l="l" t="t" r="r" b="b"/>
            <a:pathLst>
              <a:path w="8513313" h="8513313">
                <a:moveTo>
                  <a:pt x="0" y="0"/>
                </a:moveTo>
                <a:lnTo>
                  <a:pt x="8513314" y="0"/>
                </a:lnTo>
                <a:lnTo>
                  <a:pt x="8513314" y="8513313"/>
                </a:lnTo>
                <a:lnTo>
                  <a:pt x="0" y="8513313"/>
                </a:lnTo>
                <a:lnTo>
                  <a:pt x="0" y="0"/>
                </a:lnTo>
                <a:close/>
              </a:path>
            </a:pathLst>
          </a:custGeom>
          <a:blipFill>
            <a:blip r:embed="rId3">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1028700" y="8295474"/>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p:txBody>
      </p:sp>
      <p:sp>
        <p:nvSpPr>
          <p:cNvPr id="5" name="Freeform 5"/>
          <p:cNvSpPr/>
          <p:nvPr/>
        </p:nvSpPr>
        <p:spPr>
          <a:xfrm flipH="1" flipV="1">
            <a:off x="16938941" y="1028700"/>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5">
              <a:extLst>
                <a:ext uri="{96DAC541-7B7A-43D3-8B79-37D633B846F1}">
                  <asvg:svgBlip xmlns:asvg="http://schemas.microsoft.com/office/drawing/2016/SVG/main" r:embed="rId7"/>
                </a:ext>
              </a:extLst>
            </a:blip>
            <a:stretch>
              <a:fillRect/>
            </a:stretch>
          </a:blipFill>
        </p:spPr>
        <p:txBody>
          <a:bodyPr/>
          <a:lstStyle/>
          <a:p/>
        </p:txBody>
      </p:sp>
      <p:grpSp>
        <p:nvGrpSpPr>
          <p:cNvPr id="6" name="Group 6"/>
          <p:cNvGrpSpPr/>
          <p:nvPr/>
        </p:nvGrpSpPr>
        <p:grpSpPr>
          <a:xfrm>
            <a:off x="2092351" y="2767142"/>
            <a:ext cx="4331447" cy="5687490"/>
            <a:chExt cx="1140792" cy="1497940"/>
          </a:xfrm>
        </p:grpSpPr>
        <p:sp>
          <p:nvSpPr>
            <p:cNvPr id="7" name="Freeform 7"/>
            <p:cNvSpPr/>
            <p:nvPr/>
          </p:nvSpPr>
          <p:spPr>
            <a:xfrm>
              <a:off x="0" y="0"/>
              <a:ext cx="1140792" cy="1497940"/>
            </a:xfrm>
            <a:custGeom>
              <a:rect l="l" t="t" r="r" b="b"/>
              <a:pathLst>
                <a:path w="1140792" h="1497940">
                  <a:moveTo>
                    <a:pt x="91156" y="0"/>
                  </a:moveTo>
                  <a:lnTo>
                    <a:pt x="1049636" y="0"/>
                  </a:lnTo>
                  <a:cubicBezTo>
                    <a:pt x="1099981" y="0"/>
                    <a:pt x="1140792" y="40812"/>
                    <a:pt x="1140792" y="91156"/>
                  </a:cubicBezTo>
                  <a:lnTo>
                    <a:pt x="1140792" y="1406784"/>
                  </a:lnTo>
                  <a:cubicBezTo>
                    <a:pt x="1140792" y="1430960"/>
                    <a:pt x="1131189" y="1454146"/>
                    <a:pt x="1114093" y="1471241"/>
                  </a:cubicBezTo>
                  <a:cubicBezTo>
                    <a:pt x="1096998" y="1488336"/>
                    <a:pt x="1073812" y="1497940"/>
                    <a:pt x="1049636" y="1497940"/>
                  </a:cubicBezTo>
                  <a:lnTo>
                    <a:pt x="91156" y="1497940"/>
                  </a:lnTo>
                  <a:cubicBezTo>
                    <a:pt x="66980" y="1497940"/>
                    <a:pt x="43794" y="1488336"/>
                    <a:pt x="26699" y="1471241"/>
                  </a:cubicBezTo>
                  <a:cubicBezTo>
                    <a:pt x="9604" y="1454146"/>
                    <a:pt x="0" y="1430960"/>
                    <a:pt x="0" y="1406784"/>
                  </a:cubicBezTo>
                  <a:lnTo>
                    <a:pt x="0" y="91156"/>
                  </a:lnTo>
                  <a:cubicBezTo>
                    <a:pt x="0" y="66980"/>
                    <a:pt x="9604" y="43794"/>
                    <a:pt x="26699" y="26699"/>
                  </a:cubicBezTo>
                  <a:cubicBezTo>
                    <a:pt x="43794" y="9604"/>
                    <a:pt x="66980" y="0"/>
                    <a:pt x="91156" y="0"/>
                  </a:cubicBezTo>
                  <a:close/>
                </a:path>
              </a:pathLst>
            </a:custGeom>
            <a:solidFill>
              <a:srgbClr val="FFFFFF">
                <a:alpha val="85882"/>
              </a:srgbClr>
            </a:solidFill>
          </p:spPr>
          <p:txBody>
            <a:bodyPr/>
            <a:lstStyle/>
            <a:p/>
          </p:txBody>
        </p:sp>
        <p:sp>
          <p:nvSpPr>
            <p:cNvPr id="8" name="TextBox 8"/>
            <p:cNvSpPr txBox="1"/>
            <p:nvPr/>
          </p:nvSpPr>
          <p:spPr>
            <a:xfrm>
              <a:off x="0" y="-85725"/>
              <a:ext cx="1140792" cy="1583665"/>
            </a:xfrm>
            <a:prstGeom prst="rect">
              <a:avLst/>
            </a:prstGeom>
          </p:spPr>
          <p:txBody>
            <a:bodyPr lIns="50800" tIns="50800" rIns="50800" bIns="50800" rtlCol="0" anchor="ctr"/>
            <a:lstStyle/>
            <a:p>
              <a:pPr algn="ctr">
                <a:lnSpc>
                  <a:spcPts val="2679"/>
                </a:lnSpc>
              </a:pPr>
            </a:p>
          </p:txBody>
        </p:sp>
      </p:grpSp>
      <p:grpSp>
        <p:nvGrpSpPr>
          <p:cNvPr id="9" name="Group 9"/>
          <p:cNvGrpSpPr/>
          <p:nvPr/>
        </p:nvGrpSpPr>
        <p:grpSpPr>
          <a:xfrm>
            <a:off x="7262588" y="2767142"/>
            <a:ext cx="4331447" cy="5687490"/>
            <a:chExt cx="1140792" cy="1497940"/>
          </a:xfrm>
        </p:grpSpPr>
        <p:sp>
          <p:nvSpPr>
            <p:cNvPr id="10" name="Freeform 10"/>
            <p:cNvSpPr/>
            <p:nvPr/>
          </p:nvSpPr>
          <p:spPr>
            <a:xfrm>
              <a:off x="0" y="0"/>
              <a:ext cx="1140792" cy="1497940"/>
            </a:xfrm>
            <a:custGeom>
              <a:rect l="l" t="t" r="r" b="b"/>
              <a:pathLst>
                <a:path w="1140792" h="1497940">
                  <a:moveTo>
                    <a:pt x="91156" y="0"/>
                  </a:moveTo>
                  <a:lnTo>
                    <a:pt x="1049636" y="0"/>
                  </a:lnTo>
                  <a:cubicBezTo>
                    <a:pt x="1099981" y="0"/>
                    <a:pt x="1140792" y="40812"/>
                    <a:pt x="1140792" y="91156"/>
                  </a:cubicBezTo>
                  <a:lnTo>
                    <a:pt x="1140792" y="1406784"/>
                  </a:lnTo>
                  <a:cubicBezTo>
                    <a:pt x="1140792" y="1430960"/>
                    <a:pt x="1131189" y="1454146"/>
                    <a:pt x="1114093" y="1471241"/>
                  </a:cubicBezTo>
                  <a:cubicBezTo>
                    <a:pt x="1096998" y="1488336"/>
                    <a:pt x="1073812" y="1497940"/>
                    <a:pt x="1049636" y="1497940"/>
                  </a:cubicBezTo>
                  <a:lnTo>
                    <a:pt x="91156" y="1497940"/>
                  </a:lnTo>
                  <a:cubicBezTo>
                    <a:pt x="66980" y="1497940"/>
                    <a:pt x="43794" y="1488336"/>
                    <a:pt x="26699" y="1471241"/>
                  </a:cubicBezTo>
                  <a:cubicBezTo>
                    <a:pt x="9604" y="1454146"/>
                    <a:pt x="0" y="1430960"/>
                    <a:pt x="0" y="1406784"/>
                  </a:cubicBezTo>
                  <a:lnTo>
                    <a:pt x="0" y="91156"/>
                  </a:lnTo>
                  <a:cubicBezTo>
                    <a:pt x="0" y="66980"/>
                    <a:pt x="9604" y="43794"/>
                    <a:pt x="26699" y="26699"/>
                  </a:cubicBezTo>
                  <a:cubicBezTo>
                    <a:pt x="43794" y="9604"/>
                    <a:pt x="66980" y="0"/>
                    <a:pt x="91156" y="0"/>
                  </a:cubicBezTo>
                  <a:close/>
                </a:path>
              </a:pathLst>
            </a:custGeom>
            <a:solidFill>
              <a:srgbClr val="FFFFFF">
                <a:alpha val="84706"/>
              </a:srgbClr>
            </a:solidFill>
          </p:spPr>
          <p:txBody>
            <a:bodyPr/>
            <a:lstStyle/>
            <a:p/>
          </p:txBody>
        </p:sp>
        <p:sp>
          <p:nvSpPr>
            <p:cNvPr id="11" name="TextBox 11"/>
            <p:cNvSpPr txBox="1"/>
            <p:nvPr/>
          </p:nvSpPr>
          <p:spPr>
            <a:xfrm>
              <a:off x="0" y="-85725"/>
              <a:ext cx="1140792" cy="1583665"/>
            </a:xfrm>
            <a:prstGeom prst="rect">
              <a:avLst/>
            </a:prstGeom>
          </p:spPr>
          <p:txBody>
            <a:bodyPr lIns="50800" tIns="50800" rIns="50800" bIns="50800" rtlCol="0" anchor="ctr"/>
            <a:lstStyle/>
            <a:p>
              <a:pPr algn="ctr">
                <a:lnSpc>
                  <a:spcPts val="2679"/>
                </a:lnSpc>
              </a:pPr>
            </a:p>
          </p:txBody>
        </p:sp>
      </p:grpSp>
      <p:grpSp>
        <p:nvGrpSpPr>
          <p:cNvPr id="12" name="Group 12"/>
          <p:cNvGrpSpPr/>
          <p:nvPr/>
        </p:nvGrpSpPr>
        <p:grpSpPr>
          <a:xfrm>
            <a:off x="12432824" y="2767142"/>
            <a:ext cx="4331447" cy="5687490"/>
            <a:chExt cx="1140792" cy="1497940"/>
          </a:xfrm>
        </p:grpSpPr>
        <p:sp>
          <p:nvSpPr>
            <p:cNvPr id="13" name="Freeform 13"/>
            <p:cNvSpPr/>
            <p:nvPr/>
          </p:nvSpPr>
          <p:spPr>
            <a:xfrm>
              <a:off x="0" y="0"/>
              <a:ext cx="1140792" cy="1497940"/>
            </a:xfrm>
            <a:custGeom>
              <a:rect l="l" t="t" r="r" b="b"/>
              <a:pathLst>
                <a:path w="1140792" h="1497940">
                  <a:moveTo>
                    <a:pt x="91156" y="0"/>
                  </a:moveTo>
                  <a:lnTo>
                    <a:pt x="1049636" y="0"/>
                  </a:lnTo>
                  <a:cubicBezTo>
                    <a:pt x="1099981" y="0"/>
                    <a:pt x="1140792" y="40812"/>
                    <a:pt x="1140792" y="91156"/>
                  </a:cubicBezTo>
                  <a:lnTo>
                    <a:pt x="1140792" y="1406784"/>
                  </a:lnTo>
                  <a:cubicBezTo>
                    <a:pt x="1140792" y="1430960"/>
                    <a:pt x="1131189" y="1454146"/>
                    <a:pt x="1114093" y="1471241"/>
                  </a:cubicBezTo>
                  <a:cubicBezTo>
                    <a:pt x="1096998" y="1488336"/>
                    <a:pt x="1073812" y="1497940"/>
                    <a:pt x="1049636" y="1497940"/>
                  </a:cubicBezTo>
                  <a:lnTo>
                    <a:pt x="91156" y="1497940"/>
                  </a:lnTo>
                  <a:cubicBezTo>
                    <a:pt x="66980" y="1497940"/>
                    <a:pt x="43794" y="1488336"/>
                    <a:pt x="26699" y="1471241"/>
                  </a:cubicBezTo>
                  <a:cubicBezTo>
                    <a:pt x="9604" y="1454146"/>
                    <a:pt x="0" y="1430960"/>
                    <a:pt x="0" y="1406784"/>
                  </a:cubicBezTo>
                  <a:lnTo>
                    <a:pt x="0" y="91156"/>
                  </a:lnTo>
                  <a:cubicBezTo>
                    <a:pt x="0" y="66980"/>
                    <a:pt x="9604" y="43794"/>
                    <a:pt x="26699" y="26699"/>
                  </a:cubicBezTo>
                  <a:cubicBezTo>
                    <a:pt x="43794" y="9604"/>
                    <a:pt x="66980" y="0"/>
                    <a:pt x="91156" y="0"/>
                  </a:cubicBezTo>
                  <a:close/>
                </a:path>
              </a:pathLst>
            </a:custGeom>
            <a:solidFill>
              <a:srgbClr val="FFFFFF">
                <a:alpha val="87843"/>
              </a:srgbClr>
            </a:solidFill>
          </p:spPr>
          <p:txBody>
            <a:bodyPr/>
            <a:lstStyle/>
            <a:p/>
          </p:txBody>
        </p:sp>
        <p:sp>
          <p:nvSpPr>
            <p:cNvPr id="14" name="TextBox 14"/>
            <p:cNvSpPr txBox="1"/>
            <p:nvPr/>
          </p:nvSpPr>
          <p:spPr>
            <a:xfrm>
              <a:off x="0" y="-85725"/>
              <a:ext cx="1140792" cy="1583665"/>
            </a:xfrm>
            <a:prstGeom prst="rect">
              <a:avLst/>
            </a:prstGeom>
          </p:spPr>
          <p:txBody>
            <a:bodyPr lIns="50800" tIns="50800" rIns="50800" bIns="50800" rtlCol="0" anchor="ctr"/>
            <a:lstStyle/>
            <a:p>
              <a:pPr algn="ctr">
                <a:lnSpc>
                  <a:spcPts val="2679"/>
                </a:lnSpc>
              </a:pPr>
            </a:p>
          </p:txBody>
        </p:sp>
      </p:grpSp>
      <p:sp>
        <p:nvSpPr>
          <p:cNvPr id="15" name="TextBox 15"/>
          <p:cNvSpPr txBox="1"/>
          <p:nvPr/>
        </p:nvSpPr>
        <p:spPr>
          <a:xfrm>
            <a:off x="7428634" y="3534894"/>
            <a:ext cx="3999354" cy="4181217"/>
          </a:xfrm>
          <a:prstGeom prst="rect">
            <a:avLst/>
          </a:prstGeom>
        </p:spPr>
        <p:txBody>
          <a:bodyPr lIns="0" tIns="0" rIns="0" bIns="0" rtlCol="0" anchor="t">
            <a:spAutoFit/>
          </a:bodyPr>
          <a:lstStyle/>
          <a:p>
            <a:pPr algn="just">
              <a:lnSpc>
                <a:spcPts val="3608"/>
              </a:lnSpc>
            </a:pPr>
          </a:p>
          <a:p>
            <a:pPr algn="ctr">
              <a:lnSpc>
                <a:spcPts val="3608"/>
              </a:lnSpc>
            </a:pPr>
            <a:r>
              <a:rPr lang="en-US" sz="2693">
                <a:solidFill>
                  <a:srgbClr val="000000"/>
                </a:solidFill>
                <a:latin typeface="Agrandir"/>
                <a:ea typeface="Agrandir"/>
                <a:cs typeface="Agrandir"/>
                <a:sym typeface="Agrandir"/>
              </a:rPr>
              <a:t>Menentukan model mana yang paling efektif dalam memprediksi harga saham BBCA berdasarkan data historis.</a:t>
            </a:r>
          </a:p>
          <a:p>
            <a:pPr algn="ctr">
              <a:lnSpc>
                <a:spcPts val="3608"/>
              </a:lnSpc>
            </a:pPr>
            <a:endParaRPr lang="en-US" sz="2693">
              <a:solidFill>
                <a:srgbClr val="000000"/>
              </a:solidFill>
              <a:latin typeface="Agrandir"/>
              <a:ea typeface="Agrandir"/>
              <a:cs typeface="Agrandir"/>
              <a:sym typeface="Agrandir"/>
            </a:endParaRPr>
          </a:p>
          <a:p>
            <a:pPr algn="just">
              <a:lnSpc>
                <a:spcPts val="3608"/>
              </a:lnSpc>
            </a:pPr>
            <a:endParaRPr lang="en-US" sz="2693">
              <a:solidFill>
                <a:srgbClr val="000000"/>
              </a:solidFill>
              <a:latin typeface="Agrandir"/>
              <a:ea typeface="Agrandir"/>
              <a:cs typeface="Agrandir"/>
              <a:sym typeface="Agrandir"/>
            </a:endParaRPr>
          </a:p>
        </p:txBody>
      </p:sp>
      <p:sp>
        <p:nvSpPr>
          <p:cNvPr id="16" name="Freeform 16"/>
          <p:cNvSpPr/>
          <p:nvPr/>
        </p:nvSpPr>
        <p:spPr>
          <a:xfrm rot="438759">
            <a:off x="13784583" y="827085"/>
            <a:ext cx="1627926" cy="1627926"/>
          </a:xfrm>
          <a:custGeom>
            <a:rect l="l" t="t" r="r" b="b"/>
            <a:pathLst>
              <a:path w="1627926" h="1627926">
                <a:moveTo>
                  <a:pt x="0" y="0"/>
                </a:moveTo>
                <a:lnTo>
                  <a:pt x="1627926" y="0"/>
                </a:lnTo>
                <a:lnTo>
                  <a:pt x="1627926" y="1627926"/>
                </a:lnTo>
                <a:lnTo>
                  <a:pt x="0" y="162792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p:txBody>
      </p:sp>
      <p:sp>
        <p:nvSpPr>
          <p:cNvPr id="17" name="TextBox 17"/>
          <p:cNvSpPr txBox="1"/>
          <p:nvPr/>
        </p:nvSpPr>
        <p:spPr>
          <a:xfrm>
            <a:off x="8714526" y="712785"/>
            <a:ext cx="7309195" cy="1278741"/>
          </a:xfrm>
          <a:prstGeom prst="rect">
            <a:avLst/>
          </a:prstGeom>
        </p:spPr>
        <p:txBody>
          <a:bodyPr lIns="0" tIns="0" rIns="0" bIns="0" rtlCol="0" anchor="t">
            <a:spAutoFit/>
          </a:bodyPr>
          <a:lstStyle/>
          <a:p>
            <a:pPr algn="l">
              <a:lnSpc>
                <a:spcPts val="8179"/>
              </a:lnSpc>
            </a:pPr>
            <a:r>
              <a:rPr lang="en-US" sz="7644" b="1">
                <a:solidFill>
                  <a:srgbClr val="E85041"/>
                </a:solidFill>
                <a:latin typeface="Agrandir Bold"/>
                <a:ea typeface="Agrandir Bold"/>
                <a:cs typeface="Agrandir Bold"/>
                <a:sym typeface="Agrandir Bold"/>
              </a:rPr>
              <a:t>Penelitian</a:t>
            </a:r>
          </a:p>
        </p:txBody>
      </p:sp>
      <p:sp>
        <p:nvSpPr>
          <p:cNvPr id="18" name="TextBox 18"/>
          <p:cNvSpPr txBox="1"/>
          <p:nvPr/>
        </p:nvSpPr>
        <p:spPr>
          <a:xfrm>
            <a:off x="5102539" y="581025"/>
            <a:ext cx="3744550" cy="1410501"/>
          </a:xfrm>
          <a:prstGeom prst="rect">
            <a:avLst/>
          </a:prstGeom>
        </p:spPr>
        <p:txBody>
          <a:bodyPr lIns="0" tIns="0" rIns="0" bIns="0" rtlCol="0" anchor="t">
            <a:spAutoFit/>
          </a:bodyPr>
          <a:lstStyle/>
          <a:p>
            <a:pPr algn="l">
              <a:lnSpc>
                <a:spcPts val="8914"/>
              </a:lnSpc>
            </a:pPr>
            <a:r>
              <a:rPr lang="en-US" sz="8331" b="1">
                <a:solidFill>
                  <a:srgbClr val="FFFFFF"/>
                </a:solidFill>
                <a:latin typeface="Agrandir Bold"/>
                <a:ea typeface="Agrandir Bold"/>
                <a:cs typeface="Agrandir Bold"/>
                <a:sym typeface="Agrandir Bold"/>
              </a:rPr>
              <a:t>Tujuan</a:t>
            </a:r>
          </a:p>
        </p:txBody>
      </p:sp>
      <p:sp>
        <p:nvSpPr>
          <p:cNvPr id="19" name="TextBox 19"/>
          <p:cNvSpPr txBox="1"/>
          <p:nvPr/>
        </p:nvSpPr>
        <p:spPr>
          <a:xfrm>
            <a:off x="2418417" y="3559913"/>
            <a:ext cx="3698366" cy="4184773"/>
          </a:xfrm>
          <a:prstGeom prst="rect">
            <a:avLst/>
          </a:prstGeom>
        </p:spPr>
        <p:txBody>
          <a:bodyPr lIns="0" tIns="0" rIns="0" bIns="0" rtlCol="0" anchor="t">
            <a:spAutoFit/>
          </a:bodyPr>
          <a:lstStyle/>
          <a:p>
            <a:pPr algn="ctr">
              <a:lnSpc>
                <a:spcPts val="3742"/>
              </a:lnSpc>
            </a:pPr>
            <a:r>
              <a:rPr lang="en-US" sz="2793">
                <a:solidFill>
                  <a:srgbClr val="000000"/>
                </a:solidFill>
                <a:latin typeface="Agrandir"/>
                <a:ea typeface="Agrandir"/>
                <a:cs typeface="Agrandir"/>
                <a:sym typeface="Agrandir"/>
              </a:rPr>
              <a:t>Mengevaluasi kinerja lima model peramalan harga saham: SARIMA, Simple Exponential Smoothing, Holt Linear, Holt Winters, dan XGBoost.</a:t>
            </a:r>
          </a:p>
          <a:p>
            <a:pPr algn="ctr">
              <a:lnSpc>
                <a:spcPts val="2938"/>
              </a:lnSpc>
            </a:pPr>
            <a:endParaRPr lang="en-US" sz="2793">
              <a:solidFill>
                <a:srgbClr val="000000"/>
              </a:solidFill>
              <a:latin typeface="Agrandir"/>
              <a:ea typeface="Agrandir"/>
              <a:cs typeface="Agrandir"/>
              <a:sym typeface="Agrandir"/>
            </a:endParaRPr>
          </a:p>
        </p:txBody>
      </p:sp>
      <p:sp>
        <p:nvSpPr>
          <p:cNvPr id="20" name="TextBox 20"/>
          <p:cNvSpPr txBox="1"/>
          <p:nvPr/>
        </p:nvSpPr>
        <p:spPr>
          <a:xfrm>
            <a:off x="12875849" y="2986879"/>
            <a:ext cx="3578747" cy="5095617"/>
          </a:xfrm>
          <a:prstGeom prst="rect">
            <a:avLst/>
          </a:prstGeom>
        </p:spPr>
        <p:txBody>
          <a:bodyPr lIns="0" tIns="0" rIns="0" bIns="0" rtlCol="0" anchor="t">
            <a:spAutoFit/>
          </a:bodyPr>
          <a:lstStyle/>
          <a:p>
            <a:pPr algn="just">
              <a:lnSpc>
                <a:spcPts val="3608"/>
              </a:lnSpc>
            </a:pPr>
          </a:p>
          <a:p>
            <a:pPr algn="ctr">
              <a:lnSpc>
                <a:spcPts val="3608"/>
              </a:lnSpc>
            </a:pPr>
            <a:r>
              <a:rPr lang="en-US" sz="2693">
                <a:solidFill>
                  <a:srgbClr val="000000"/>
                </a:solidFill>
                <a:latin typeface="Agrandir"/>
                <a:ea typeface="Agrandir"/>
                <a:cs typeface="Agrandir"/>
                <a:sym typeface="Agrandir"/>
              </a:rPr>
              <a:t>Memberikan panduan atau rekomendasi kepada investor mengenai model yang paling tepat digunakan untuk peramalan saham BBCA dalam berbagai kondisi pasar.</a:t>
            </a:r>
          </a:p>
          <a:p>
            <a:pPr algn="just">
              <a:lnSpc>
                <a:spcPts val="3608"/>
              </a:lnSpc>
            </a:pPr>
            <a:endParaRPr lang="en-US" sz="2693">
              <a:solidFill>
                <a:srgbClr val="000000"/>
              </a:solidFill>
              <a:latin typeface="Agrandir"/>
              <a:ea typeface="Agrandir"/>
              <a:cs typeface="Agrandir"/>
              <a:sym typeface="Agrandir"/>
            </a:endParaRP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0" y="-3061898"/>
            <a:ext cx="18288000" cy="13716000"/>
          </a:xfrm>
          <a:custGeom>
            <a:rect l="l" t="t" r="r" b="b"/>
            <a:pathLst>
              <a:path w="18288000" h="13716000">
                <a:moveTo>
                  <a:pt x="0" y="0"/>
                </a:moveTo>
                <a:lnTo>
                  <a:pt x="18288000" y="0"/>
                </a:lnTo>
                <a:lnTo>
                  <a:pt x="18288000" y="13716000"/>
                </a:lnTo>
                <a:lnTo>
                  <a:pt x="0" y="13716000"/>
                </a:lnTo>
                <a:lnTo>
                  <a:pt x="0" y="0"/>
                </a:lnTo>
                <a:close/>
              </a:path>
            </a:pathLst>
          </a:custGeom>
          <a:blipFill>
            <a:blip r:embed="rId2">
              <a:alphaModFix amt="43999"/>
            </a:blip>
            <a:stretch>
              <a:fillRect/>
            </a:stretch>
          </a:blipFill>
        </p:spPr>
        <p:txBody>
          <a:bodyPr/>
          <a:lstStyle/>
          <a:p/>
        </p:txBody>
      </p:sp>
      <p:sp>
        <p:nvSpPr>
          <p:cNvPr id="3" name="Freeform 3"/>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rot="5400000" flipH="1" flipV="1">
            <a:off x="16617708" y="8587367"/>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3">
              <a:extLst>
                <a:ext uri="{96DAC541-7B7A-43D3-8B79-37D633B846F1}">
                  <asvg:svgBlip xmlns:asvg="http://schemas.microsoft.com/office/drawing/2016/SVG/main" r:embed="rId5"/>
                </a:ext>
              </a:extLst>
            </a:blip>
            <a:stretch>
              <a:fillRect/>
            </a:stretch>
          </a:blipFill>
        </p:spPr>
        <p:txBody>
          <a:bodyPr/>
          <a:lstStyle/>
          <a:p/>
        </p:txBody>
      </p:sp>
      <p:grpSp>
        <p:nvGrpSpPr>
          <p:cNvPr id="5" name="Group 5"/>
          <p:cNvGrpSpPr/>
          <p:nvPr/>
        </p:nvGrpSpPr>
        <p:grpSpPr>
          <a:xfrm>
            <a:off x="1028700" y="2374020"/>
            <a:ext cx="8404878" cy="7133314"/>
            <a:chExt cx="2213630" cy="1878733"/>
          </a:xfrm>
        </p:grpSpPr>
        <p:sp>
          <p:nvSpPr>
            <p:cNvPr id="6" name="Freeform 6"/>
            <p:cNvSpPr/>
            <p:nvPr/>
          </p:nvSpPr>
          <p:spPr>
            <a:xfrm>
              <a:off x="0" y="0"/>
              <a:ext cx="2213630" cy="1878733"/>
            </a:xfrm>
            <a:custGeom>
              <a:rect l="l" t="t" r="r" b="b"/>
              <a:pathLst>
                <a:path w="2213630" h="1878732">
                  <a:moveTo>
                    <a:pt x="46977" y="0"/>
                  </a:moveTo>
                  <a:lnTo>
                    <a:pt x="2166653" y="0"/>
                  </a:lnTo>
                  <a:cubicBezTo>
                    <a:pt x="2192598" y="0"/>
                    <a:pt x="2213630" y="21032"/>
                    <a:pt x="2213630" y="46977"/>
                  </a:cubicBezTo>
                  <a:lnTo>
                    <a:pt x="2213630" y="1831756"/>
                  </a:lnTo>
                  <a:cubicBezTo>
                    <a:pt x="2213630" y="1844215"/>
                    <a:pt x="2208681" y="1856164"/>
                    <a:pt x="2199871" y="1864974"/>
                  </a:cubicBezTo>
                  <a:cubicBezTo>
                    <a:pt x="2191061" y="1873783"/>
                    <a:pt x="2179112" y="1878733"/>
                    <a:pt x="2166653" y="1878733"/>
                  </a:cubicBezTo>
                  <a:lnTo>
                    <a:pt x="46977" y="1878733"/>
                  </a:lnTo>
                  <a:cubicBezTo>
                    <a:pt x="21032" y="1878733"/>
                    <a:pt x="0" y="1857700"/>
                    <a:pt x="0" y="1831756"/>
                  </a:cubicBezTo>
                  <a:lnTo>
                    <a:pt x="0" y="46977"/>
                  </a:lnTo>
                  <a:cubicBezTo>
                    <a:pt x="0" y="34518"/>
                    <a:pt x="4949" y="22569"/>
                    <a:pt x="13759" y="13759"/>
                  </a:cubicBezTo>
                  <a:cubicBezTo>
                    <a:pt x="22569" y="4949"/>
                    <a:pt x="34518" y="0"/>
                    <a:pt x="46977" y="0"/>
                  </a:cubicBezTo>
                  <a:close/>
                </a:path>
              </a:pathLst>
            </a:custGeom>
            <a:solidFill>
              <a:srgbClr val="FFFFFF"/>
            </a:solidFill>
          </p:spPr>
          <p:txBody>
            <a:bodyPr/>
            <a:lstStyle/>
            <a:p/>
          </p:txBody>
        </p:sp>
        <p:sp>
          <p:nvSpPr>
            <p:cNvPr id="7" name="TextBox 7"/>
            <p:cNvSpPr txBox="1"/>
            <p:nvPr/>
          </p:nvSpPr>
          <p:spPr>
            <a:xfrm>
              <a:off x="0" y="-85725"/>
              <a:ext cx="2213630" cy="1964458"/>
            </a:xfrm>
            <a:prstGeom prst="rect">
              <a:avLst/>
            </a:prstGeom>
          </p:spPr>
          <p:txBody>
            <a:bodyPr lIns="50800" tIns="50800" rIns="50800" bIns="50800" rtlCol="0" anchor="ctr"/>
            <a:lstStyle/>
            <a:p>
              <a:pPr algn="ctr">
                <a:lnSpc>
                  <a:spcPts val="2679"/>
                </a:lnSpc>
              </a:pPr>
            </a:p>
          </p:txBody>
        </p:sp>
      </p:grpSp>
      <p:sp>
        <p:nvSpPr>
          <p:cNvPr id="8" name="TextBox 8"/>
          <p:cNvSpPr txBox="1"/>
          <p:nvPr/>
        </p:nvSpPr>
        <p:spPr>
          <a:xfrm>
            <a:off x="3426208" y="846456"/>
            <a:ext cx="11435584" cy="919480"/>
          </a:xfrm>
          <a:prstGeom prst="rect">
            <a:avLst/>
          </a:prstGeom>
        </p:spPr>
        <p:txBody>
          <a:bodyPr lIns="0" tIns="0" rIns="0" bIns="0" rtlCol="0" anchor="t">
            <a:spAutoFit/>
          </a:bodyPr>
          <a:lstStyle/>
          <a:p>
            <a:pPr algn="ctr">
              <a:lnSpc>
                <a:spcPts val="5884"/>
              </a:lnSpc>
            </a:pPr>
            <a:r>
              <a:rPr lang="en-US" sz="5499" b="1">
                <a:solidFill>
                  <a:srgbClr val="E85041"/>
                </a:solidFill>
                <a:latin typeface="Agrandir Bold"/>
                <a:ea typeface="Agrandir Bold"/>
                <a:cs typeface="Agrandir Bold"/>
                <a:sym typeface="Agrandir Bold"/>
              </a:rPr>
              <a:t>Proses Pengerjaan</a:t>
            </a:r>
          </a:p>
        </p:txBody>
      </p:sp>
      <p:grpSp>
        <p:nvGrpSpPr>
          <p:cNvPr id="9" name="Group 9"/>
          <p:cNvGrpSpPr/>
          <p:nvPr/>
        </p:nvGrpSpPr>
        <p:grpSpPr>
          <a:xfrm>
            <a:off x="9676788" y="2374020"/>
            <a:ext cx="7789020" cy="7133314"/>
            <a:chExt cx="2051429" cy="1878733"/>
          </a:xfrm>
        </p:grpSpPr>
        <p:sp>
          <p:nvSpPr>
            <p:cNvPr id="10" name="Freeform 10"/>
            <p:cNvSpPr/>
            <p:nvPr/>
          </p:nvSpPr>
          <p:spPr>
            <a:xfrm>
              <a:off x="0" y="0"/>
              <a:ext cx="2051429" cy="1878733"/>
            </a:xfrm>
            <a:custGeom>
              <a:rect l="l" t="t" r="r" b="b"/>
              <a:pathLst>
                <a:path w="2051429" h="1878732">
                  <a:moveTo>
                    <a:pt x="50692" y="0"/>
                  </a:moveTo>
                  <a:lnTo>
                    <a:pt x="2000738" y="0"/>
                  </a:lnTo>
                  <a:cubicBezTo>
                    <a:pt x="2014182" y="0"/>
                    <a:pt x="2027075" y="5341"/>
                    <a:pt x="2036582" y="14847"/>
                  </a:cubicBezTo>
                  <a:cubicBezTo>
                    <a:pt x="2046088" y="24354"/>
                    <a:pt x="2051429" y="37247"/>
                    <a:pt x="2051429" y="50692"/>
                  </a:cubicBezTo>
                  <a:lnTo>
                    <a:pt x="2051429" y="1828041"/>
                  </a:lnTo>
                  <a:cubicBezTo>
                    <a:pt x="2051429" y="1841485"/>
                    <a:pt x="2046088" y="1854379"/>
                    <a:pt x="2036582" y="1863886"/>
                  </a:cubicBezTo>
                  <a:cubicBezTo>
                    <a:pt x="2027075" y="1873392"/>
                    <a:pt x="2014182" y="1878733"/>
                    <a:pt x="2000738" y="1878733"/>
                  </a:cubicBezTo>
                  <a:lnTo>
                    <a:pt x="50692" y="1878733"/>
                  </a:lnTo>
                  <a:cubicBezTo>
                    <a:pt x="37247" y="1878733"/>
                    <a:pt x="24354" y="1873392"/>
                    <a:pt x="14847" y="1863886"/>
                  </a:cubicBezTo>
                  <a:cubicBezTo>
                    <a:pt x="5341" y="1854379"/>
                    <a:pt x="0" y="1841485"/>
                    <a:pt x="0" y="1828041"/>
                  </a:cubicBezTo>
                  <a:lnTo>
                    <a:pt x="0" y="50692"/>
                  </a:lnTo>
                  <a:cubicBezTo>
                    <a:pt x="0" y="37247"/>
                    <a:pt x="5341" y="24354"/>
                    <a:pt x="14847" y="14847"/>
                  </a:cubicBezTo>
                  <a:cubicBezTo>
                    <a:pt x="24354" y="5341"/>
                    <a:pt x="37247" y="0"/>
                    <a:pt x="50692" y="0"/>
                  </a:cubicBezTo>
                  <a:close/>
                </a:path>
              </a:pathLst>
            </a:custGeom>
            <a:solidFill>
              <a:srgbClr val="FFFFFF"/>
            </a:solidFill>
          </p:spPr>
          <p:txBody>
            <a:bodyPr/>
            <a:lstStyle/>
            <a:p/>
          </p:txBody>
        </p:sp>
        <p:sp>
          <p:nvSpPr>
            <p:cNvPr id="11" name="TextBox 11"/>
            <p:cNvSpPr txBox="1"/>
            <p:nvPr/>
          </p:nvSpPr>
          <p:spPr>
            <a:xfrm>
              <a:off x="0" y="-85725"/>
              <a:ext cx="2051429" cy="1964458"/>
            </a:xfrm>
            <a:prstGeom prst="rect">
              <a:avLst/>
            </a:prstGeom>
          </p:spPr>
          <p:txBody>
            <a:bodyPr lIns="50800" tIns="50800" rIns="50800" bIns="50800" rtlCol="0" anchor="ctr"/>
            <a:lstStyle/>
            <a:p>
              <a:pPr algn="ctr">
                <a:lnSpc>
                  <a:spcPts val="2679"/>
                </a:lnSpc>
              </a:pPr>
            </a:p>
          </p:txBody>
        </p:sp>
      </p:grpSp>
      <p:sp>
        <p:nvSpPr>
          <p:cNvPr id="12" name="Freeform 12"/>
          <p:cNvSpPr/>
          <p:nvPr/>
        </p:nvSpPr>
        <p:spPr>
          <a:xfrm rot="1906465">
            <a:off x="12757854" y="822676"/>
            <a:ext cx="936003" cy="1052764"/>
          </a:xfrm>
          <a:custGeom>
            <a:rect l="l" t="t" r="r" b="b"/>
            <a:pathLst>
              <a:path w="936003" h="1052764">
                <a:moveTo>
                  <a:pt x="0" y="0"/>
                </a:moveTo>
                <a:lnTo>
                  <a:pt x="936003" y="0"/>
                </a:lnTo>
                <a:lnTo>
                  <a:pt x="936003" y="1052765"/>
                </a:lnTo>
                <a:lnTo>
                  <a:pt x="0" y="105276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sp>
        <p:nvSpPr>
          <p:cNvPr id="13" name="TextBox 13"/>
          <p:cNvSpPr txBox="1"/>
          <p:nvPr/>
        </p:nvSpPr>
        <p:spPr>
          <a:xfrm>
            <a:off x="1991526" y="2844166"/>
            <a:ext cx="6443644" cy="722977"/>
          </a:xfrm>
          <a:prstGeom prst="rect">
            <a:avLst/>
          </a:prstGeom>
        </p:spPr>
        <p:txBody>
          <a:bodyPr lIns="0" tIns="0" rIns="0" bIns="0" rtlCol="0" anchor="t">
            <a:spAutoFit/>
          </a:bodyPr>
          <a:lstStyle/>
          <a:p>
            <a:pPr algn="ctr">
              <a:lnSpc>
                <a:spcPts val="5094"/>
              </a:lnSpc>
            </a:pPr>
            <a:r>
              <a:rPr lang="en-US" sz="3801" b="1">
                <a:solidFill>
                  <a:srgbClr val="E85041"/>
                </a:solidFill>
                <a:latin typeface="Agrandir Bold"/>
                <a:ea typeface="Agrandir Bold"/>
                <a:cs typeface="Agrandir Bold"/>
                <a:sym typeface="Agrandir Bold"/>
              </a:rPr>
              <a:t>Model Yang Digunakan</a:t>
            </a:r>
          </a:p>
        </p:txBody>
      </p:sp>
      <p:sp>
        <p:nvSpPr>
          <p:cNvPr id="14" name="TextBox 14"/>
          <p:cNvSpPr txBox="1"/>
          <p:nvPr/>
        </p:nvSpPr>
        <p:spPr>
          <a:xfrm>
            <a:off x="1299960" y="3768983"/>
            <a:ext cx="7844040" cy="5139618"/>
          </a:xfrm>
          <a:prstGeom prst="rect">
            <a:avLst/>
          </a:prstGeom>
        </p:spPr>
        <p:txBody>
          <a:bodyPr lIns="0" tIns="0" rIns="0" bIns="0" rtlCol="0" anchor="t">
            <a:spAutoFit/>
          </a:bodyPr>
          <a:lstStyle/>
          <a:p>
            <a:pPr algn="l">
              <a:lnSpc>
                <a:spcPts val="4445"/>
              </a:lnSpc>
            </a:pPr>
            <a:r>
              <a:rPr lang="en-US" sz="3317">
                <a:solidFill>
                  <a:srgbClr val="000000"/>
                </a:solidFill>
                <a:latin typeface="Agrandir"/>
                <a:ea typeface="Agrandir"/>
                <a:cs typeface="Agrandir"/>
                <a:sym typeface="Agrandir"/>
              </a:rPr>
              <a:t>Tiga model utama:</a:t>
            </a:r>
          </a:p>
          <a:p>
            <a:pPr marL="1432456" lvl="2" indent="-477485" algn="l">
              <a:lnSpc>
                <a:spcPts val="4445"/>
              </a:lnSpc>
              <a:buFont typeface="Arial"/>
              <a:buChar char="⚬"/>
            </a:pPr>
            <a:r>
              <a:rPr lang="en-US" sz="3317">
                <a:solidFill>
                  <a:srgbClr val="000000"/>
                </a:solidFill>
                <a:latin typeface="Agrandir"/>
                <a:ea typeface="Agrandir"/>
                <a:cs typeface="Agrandir"/>
                <a:sym typeface="Agrandir"/>
              </a:rPr>
              <a:t>SARIMA</a:t>
            </a:r>
          </a:p>
          <a:p>
            <a:pPr marL="1432456" lvl="2" indent="-477485" algn="l">
              <a:lnSpc>
                <a:spcPts val="4445"/>
              </a:lnSpc>
              <a:buFont typeface="Arial"/>
              <a:buChar char="⚬"/>
            </a:pPr>
            <a:r>
              <a:rPr lang="en-US" sz="3317">
                <a:solidFill>
                  <a:srgbClr val="000000"/>
                </a:solidFill>
                <a:latin typeface="Agrandir"/>
                <a:ea typeface="Agrandir"/>
                <a:cs typeface="Agrandir"/>
                <a:sym typeface="Agrandir"/>
              </a:rPr>
              <a:t>Exponential Smoothing (ETS):</a:t>
            </a:r>
          </a:p>
          <a:p>
            <a:pPr marL="2148684" lvl="3" indent="-537171" algn="l">
              <a:lnSpc>
                <a:spcPts val="4445"/>
              </a:lnSpc>
              <a:buFont typeface="Arial"/>
              <a:buChar char="￭"/>
            </a:pPr>
            <a:r>
              <a:rPr lang="en-US" sz="3317">
                <a:solidFill>
                  <a:srgbClr val="000000"/>
                </a:solidFill>
                <a:latin typeface="Agrandir"/>
                <a:ea typeface="Agrandir"/>
                <a:cs typeface="Agrandir"/>
                <a:sym typeface="Agrandir"/>
              </a:rPr>
              <a:t>Simple Exponential Smoothing</a:t>
            </a:r>
          </a:p>
          <a:p>
            <a:pPr marL="2148684" lvl="3" indent="-537171" algn="l">
              <a:lnSpc>
                <a:spcPts val="4445"/>
              </a:lnSpc>
              <a:buFont typeface="Arial"/>
              <a:buChar char="￭"/>
            </a:pPr>
            <a:r>
              <a:rPr lang="en-US" sz="3317">
                <a:solidFill>
                  <a:srgbClr val="000000"/>
                </a:solidFill>
                <a:latin typeface="Agrandir"/>
                <a:ea typeface="Agrandir"/>
                <a:cs typeface="Agrandir"/>
                <a:sym typeface="Agrandir"/>
              </a:rPr>
              <a:t>Holt’s Linear</a:t>
            </a:r>
          </a:p>
          <a:p>
            <a:pPr marL="2148684" lvl="3" indent="-537171" algn="l">
              <a:lnSpc>
                <a:spcPts val="4445"/>
              </a:lnSpc>
              <a:buFont typeface="Arial"/>
              <a:buChar char="￭"/>
            </a:pPr>
            <a:r>
              <a:rPr lang="en-US" sz="3317">
                <a:solidFill>
                  <a:srgbClr val="000000"/>
                </a:solidFill>
                <a:latin typeface="Agrandir"/>
                <a:ea typeface="Agrandir"/>
                <a:cs typeface="Agrandir"/>
                <a:sym typeface="Agrandir"/>
              </a:rPr>
              <a:t>Holt’s Winter</a:t>
            </a:r>
          </a:p>
          <a:p>
            <a:pPr marL="1432456" lvl="2" indent="-477485" algn="l">
              <a:lnSpc>
                <a:spcPts val="4445"/>
              </a:lnSpc>
              <a:buFont typeface="Arial"/>
              <a:buChar char="⚬"/>
            </a:pPr>
            <a:r>
              <a:rPr lang="en-US" sz="3317">
                <a:solidFill>
                  <a:srgbClr val="000000"/>
                </a:solidFill>
                <a:latin typeface="Agrandir"/>
                <a:ea typeface="Agrandir"/>
                <a:cs typeface="Agrandir"/>
                <a:sym typeface="Agrandir"/>
              </a:rPr>
              <a:t>XGBoost</a:t>
            </a:r>
          </a:p>
          <a:p>
            <a:pPr algn="l">
              <a:lnSpc>
                <a:spcPts val="4445"/>
              </a:lnSpc>
            </a:pPr>
            <a:endParaRPr lang="en-US" sz="3317">
              <a:solidFill>
                <a:srgbClr val="000000"/>
              </a:solidFill>
              <a:latin typeface="Agrandir"/>
              <a:ea typeface="Agrandir"/>
              <a:cs typeface="Agrandir"/>
              <a:sym typeface="Agrandir"/>
            </a:endParaRPr>
          </a:p>
        </p:txBody>
      </p:sp>
      <p:sp>
        <p:nvSpPr>
          <p:cNvPr id="15" name="TextBox 15"/>
          <p:cNvSpPr txBox="1"/>
          <p:nvPr/>
        </p:nvSpPr>
        <p:spPr>
          <a:xfrm>
            <a:off x="10349477" y="2844166"/>
            <a:ext cx="6443644" cy="722977"/>
          </a:xfrm>
          <a:prstGeom prst="rect">
            <a:avLst/>
          </a:prstGeom>
        </p:spPr>
        <p:txBody>
          <a:bodyPr lIns="0" tIns="0" rIns="0" bIns="0" rtlCol="0" anchor="t">
            <a:spAutoFit/>
          </a:bodyPr>
          <a:lstStyle/>
          <a:p>
            <a:pPr algn="ctr">
              <a:lnSpc>
                <a:spcPts val="5094"/>
              </a:lnSpc>
            </a:pPr>
            <a:r>
              <a:rPr lang="en-US" sz="3801" b="1">
                <a:solidFill>
                  <a:srgbClr val="E85041"/>
                </a:solidFill>
                <a:latin typeface="Agrandir Bold"/>
                <a:ea typeface="Agrandir Bold"/>
                <a:cs typeface="Agrandir Bold"/>
                <a:sym typeface="Agrandir Bold"/>
              </a:rPr>
              <a:t>Proses</a:t>
            </a:r>
          </a:p>
        </p:txBody>
      </p:sp>
      <p:sp>
        <p:nvSpPr>
          <p:cNvPr id="16" name="TextBox 16"/>
          <p:cNvSpPr txBox="1"/>
          <p:nvPr/>
        </p:nvSpPr>
        <p:spPr>
          <a:xfrm>
            <a:off x="9984717" y="3584447"/>
            <a:ext cx="7173163" cy="5484333"/>
          </a:xfrm>
          <a:prstGeom prst="rect">
            <a:avLst/>
          </a:prstGeom>
        </p:spPr>
        <p:txBody>
          <a:bodyPr lIns="0" tIns="0" rIns="0" bIns="0" rtlCol="0" anchor="t">
            <a:spAutoFit/>
          </a:bodyPr>
          <a:lstStyle/>
          <a:p>
            <a:pPr algn="l">
              <a:lnSpc>
                <a:spcPts val="4271"/>
              </a:lnSpc>
            </a:pPr>
            <a:r>
              <a:rPr lang="en-US" sz="3187">
                <a:solidFill>
                  <a:srgbClr val="000000"/>
                </a:solidFill>
                <a:latin typeface="Agrandir"/>
                <a:ea typeface="Agrandir"/>
                <a:cs typeface="Agrandir"/>
                <a:sym typeface="Agrandir"/>
              </a:rPr>
              <a:t>Proses Analisis</a:t>
            </a:r>
          </a:p>
          <a:p>
            <a:pPr marL="688263" lvl="1" indent="-344131" algn="l">
              <a:lnSpc>
                <a:spcPts val="4271"/>
              </a:lnSpc>
              <a:buFont typeface="Arial"/>
              <a:buChar char="•"/>
            </a:pPr>
            <a:r>
              <a:rPr lang="en-US" sz="3187">
                <a:solidFill>
                  <a:srgbClr val="000000"/>
                </a:solidFill>
                <a:latin typeface="Agrandir"/>
                <a:ea typeface="Agrandir"/>
                <a:cs typeface="Agrandir"/>
                <a:sym typeface="Agrandir"/>
              </a:rPr>
              <a:t>Pemrosesan Data:</a:t>
            </a:r>
          </a:p>
          <a:p>
            <a:pPr marL="1376525" lvl="2" indent="-458842" algn="l">
              <a:lnSpc>
                <a:spcPts val="4271"/>
              </a:lnSpc>
              <a:buFont typeface="Arial"/>
              <a:buChar char="⚬"/>
            </a:pPr>
            <a:r>
              <a:rPr lang="en-US" sz="3187">
                <a:solidFill>
                  <a:srgbClr val="000000"/>
                </a:solidFill>
                <a:latin typeface="Agrandir"/>
                <a:ea typeface="Agrandir"/>
                <a:cs typeface="Agrandir"/>
                <a:sym typeface="Agrandir"/>
              </a:rPr>
              <a:t>Pembersihan data</a:t>
            </a:r>
          </a:p>
          <a:p>
            <a:pPr marL="1376525" lvl="2" indent="-458842" algn="l">
              <a:lnSpc>
                <a:spcPts val="4271"/>
              </a:lnSpc>
              <a:buFont typeface="Arial"/>
              <a:buChar char="⚬"/>
            </a:pPr>
            <a:r>
              <a:rPr lang="en-US" sz="3187">
                <a:solidFill>
                  <a:srgbClr val="000000"/>
                </a:solidFill>
                <a:latin typeface="Agrandir"/>
                <a:ea typeface="Agrandir"/>
                <a:cs typeface="Agrandir"/>
                <a:sym typeface="Agrandir"/>
              </a:rPr>
              <a:t>Penanganan missing values</a:t>
            </a:r>
          </a:p>
          <a:p>
            <a:pPr marL="1376525" lvl="2" indent="-458842" algn="l">
              <a:lnSpc>
                <a:spcPts val="4271"/>
              </a:lnSpc>
              <a:buFont typeface="Arial"/>
              <a:buChar char="⚬"/>
            </a:pPr>
            <a:r>
              <a:rPr lang="en-US" sz="3187">
                <a:solidFill>
                  <a:srgbClr val="000000"/>
                </a:solidFill>
                <a:latin typeface="Agrandir"/>
                <a:ea typeface="Agrandir"/>
                <a:cs typeface="Agrandir"/>
                <a:sym typeface="Agrandir"/>
              </a:rPr>
              <a:t>Normalisasi data</a:t>
            </a:r>
          </a:p>
          <a:p>
            <a:pPr marL="688263" lvl="1" indent="-344131" algn="l">
              <a:lnSpc>
                <a:spcPts val="4271"/>
              </a:lnSpc>
              <a:buFont typeface="Arial"/>
              <a:buChar char="•"/>
            </a:pPr>
            <a:r>
              <a:rPr lang="en-US" sz="3187">
                <a:solidFill>
                  <a:srgbClr val="000000"/>
                </a:solidFill>
                <a:latin typeface="Agrandir"/>
                <a:ea typeface="Agrandir"/>
                <a:cs typeface="Agrandir"/>
                <a:sym typeface="Agrandir"/>
              </a:rPr>
              <a:t>Split Data:</a:t>
            </a:r>
          </a:p>
          <a:p>
            <a:pPr marL="1376525" lvl="2" indent="-458842" algn="l">
              <a:lnSpc>
                <a:spcPts val="4271"/>
              </a:lnSpc>
              <a:buFont typeface="Arial"/>
              <a:buChar char="⚬"/>
            </a:pPr>
            <a:r>
              <a:rPr lang="en-US" sz="3187">
                <a:solidFill>
                  <a:srgbClr val="000000"/>
                </a:solidFill>
                <a:latin typeface="Agrandir"/>
                <a:ea typeface="Agrandir"/>
                <a:cs typeface="Agrandir"/>
                <a:sym typeface="Agrandir"/>
              </a:rPr>
              <a:t>Training set: Melatih model</a:t>
            </a:r>
          </a:p>
          <a:p>
            <a:pPr marL="1376525" lvl="2" indent="-458842" algn="l">
              <a:lnSpc>
                <a:spcPts val="4271"/>
              </a:lnSpc>
              <a:buFont typeface="Arial"/>
              <a:buChar char="⚬"/>
            </a:pPr>
            <a:r>
              <a:rPr lang="en-US" sz="3187">
                <a:solidFill>
                  <a:srgbClr val="000000"/>
                </a:solidFill>
                <a:latin typeface="Agrandir"/>
                <a:ea typeface="Agrandir"/>
                <a:cs typeface="Agrandir"/>
                <a:sym typeface="Agrandir"/>
              </a:rPr>
              <a:t>Testing set: Evaluasi kinerja model</a:t>
            </a:r>
          </a:p>
          <a:p>
            <a:pPr algn="l">
              <a:lnSpc>
                <a:spcPts val="4271"/>
              </a:lnSpc>
            </a:pPr>
            <a:endParaRPr lang="en-US" sz="3187">
              <a:solidFill>
                <a:srgbClr val="000000"/>
              </a:solidFill>
              <a:latin typeface="Agrandir"/>
              <a:ea typeface="Agrandir"/>
              <a:cs typeface="Agrandir"/>
              <a:sym typeface="Agrandir"/>
            </a:endParaRP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41000"/>
            </a:blip>
            <a:stretch>
              <a:fillRect t="-16666" b="-16666"/>
            </a:stretch>
          </a:blipFill>
        </p:spPr>
        <p:txBody>
          <a:bodyPr/>
          <a:lstStyle/>
          <a:p/>
        </p:txBody>
      </p:sp>
      <p:sp>
        <p:nvSpPr>
          <p:cNvPr id="3" name="Freeform 3"/>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sp>
        <p:nvSpPr>
          <p:cNvPr id="6" name="Freeform 6"/>
          <p:cNvSpPr/>
          <p:nvPr/>
        </p:nvSpPr>
        <p:spPr>
          <a:xfrm rot="5400000" flipH="1" flipV="1">
            <a:off x="16617708" y="8587367"/>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6">
              <a:extLst>
                <a:ext uri="{96DAC541-7B7A-43D3-8B79-37D633B846F1}">
                  <asvg:svgBlip xmlns:asvg="http://schemas.microsoft.com/office/drawing/2016/SVG/main" r:embed="rId8"/>
                </a:ext>
              </a:extLst>
            </a:blip>
            <a:stretch>
              <a:fillRect/>
            </a:stretch>
          </a:blipFill>
        </p:spPr>
        <p:txBody>
          <a:bodyPr/>
          <a:lstStyle/>
          <a:p/>
        </p:txBody>
      </p:sp>
      <p:grpSp>
        <p:nvGrpSpPr>
          <p:cNvPr id="7" name="Group 7"/>
          <p:cNvGrpSpPr/>
          <p:nvPr/>
        </p:nvGrpSpPr>
        <p:grpSpPr>
          <a:xfrm>
            <a:off x="967360" y="2495908"/>
            <a:ext cx="6546304" cy="5084767"/>
            <a:chExt cx="1724129" cy="1339198"/>
          </a:xfrm>
        </p:grpSpPr>
        <p:sp>
          <p:nvSpPr>
            <p:cNvPr id="8" name="Freeform 8"/>
            <p:cNvSpPr/>
            <p:nvPr/>
          </p:nvSpPr>
          <p:spPr>
            <a:xfrm>
              <a:off x="0" y="0"/>
              <a:ext cx="1724129" cy="1339198"/>
            </a:xfrm>
            <a:custGeom>
              <a:rect l="l" t="t" r="r" b="b"/>
              <a:pathLst>
                <a:path w="1724129" h="1339198">
                  <a:moveTo>
                    <a:pt x="60315" y="0"/>
                  </a:moveTo>
                  <a:lnTo>
                    <a:pt x="1663815" y="0"/>
                  </a:lnTo>
                  <a:cubicBezTo>
                    <a:pt x="1679811" y="0"/>
                    <a:pt x="1695153" y="6355"/>
                    <a:pt x="1706464" y="17666"/>
                  </a:cubicBezTo>
                  <a:cubicBezTo>
                    <a:pt x="1717775" y="28977"/>
                    <a:pt x="1724129" y="44318"/>
                    <a:pt x="1724129" y="60315"/>
                  </a:cubicBezTo>
                  <a:lnTo>
                    <a:pt x="1724129" y="1278883"/>
                  </a:lnTo>
                  <a:cubicBezTo>
                    <a:pt x="1724129" y="1312194"/>
                    <a:pt x="1697126" y="1339198"/>
                    <a:pt x="1663815" y="1339198"/>
                  </a:cubicBezTo>
                  <a:lnTo>
                    <a:pt x="60315" y="1339198"/>
                  </a:lnTo>
                  <a:cubicBezTo>
                    <a:pt x="27004" y="1339198"/>
                    <a:pt x="0" y="1312194"/>
                    <a:pt x="0" y="1278883"/>
                  </a:cubicBezTo>
                  <a:lnTo>
                    <a:pt x="0" y="60315"/>
                  </a:lnTo>
                  <a:cubicBezTo>
                    <a:pt x="0" y="27004"/>
                    <a:pt x="27004" y="0"/>
                    <a:pt x="60315" y="0"/>
                  </a:cubicBezTo>
                  <a:close/>
                </a:path>
              </a:pathLst>
            </a:custGeom>
            <a:solidFill>
              <a:srgbClr val="FFFFFF"/>
            </a:solidFill>
          </p:spPr>
          <p:txBody>
            <a:bodyPr/>
            <a:lstStyle/>
            <a:p/>
          </p:txBody>
        </p:sp>
        <p:sp>
          <p:nvSpPr>
            <p:cNvPr id="9" name="TextBox 9"/>
            <p:cNvSpPr txBox="1"/>
            <p:nvPr/>
          </p:nvSpPr>
          <p:spPr>
            <a:xfrm>
              <a:off x="0" y="-85725"/>
              <a:ext cx="1724129" cy="1424923"/>
            </a:xfrm>
            <a:prstGeom prst="rect">
              <a:avLst/>
            </a:prstGeom>
          </p:spPr>
          <p:txBody>
            <a:bodyPr lIns="50800" tIns="50800" rIns="50800" bIns="50800" rtlCol="0" anchor="ctr"/>
            <a:lstStyle/>
            <a:p>
              <a:pPr algn="ctr">
                <a:lnSpc>
                  <a:spcPts val="2679"/>
                </a:lnSpc>
              </a:pPr>
            </a:p>
          </p:txBody>
        </p:sp>
      </p:grpSp>
      <p:sp>
        <p:nvSpPr>
          <p:cNvPr id="10" name="Freeform 10"/>
          <p:cNvSpPr/>
          <p:nvPr/>
        </p:nvSpPr>
        <p:spPr>
          <a:xfrm>
            <a:off x="-1852703" y="6992614"/>
            <a:ext cx="4114800" cy="4114800"/>
          </a:xfrm>
          <a:custGeom>
            <a:rect l="l" t="t" r="r" b="b"/>
            <a:pathLst>
              <a:path w="4114800" h="4114800">
                <a:moveTo>
                  <a:pt x="0" y="0"/>
                </a:moveTo>
                <a:lnTo>
                  <a:pt x="4114800" y="0"/>
                </a:lnTo>
                <a:lnTo>
                  <a:pt x="411480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p:txBody>
      </p:sp>
      <p:grpSp>
        <p:nvGrpSpPr>
          <p:cNvPr id="11" name="Group 11"/>
          <p:cNvGrpSpPr/>
          <p:nvPr/>
        </p:nvGrpSpPr>
        <p:grpSpPr>
          <a:xfrm>
            <a:off x="967360" y="7818800"/>
            <a:ext cx="12152596" cy="2047855"/>
            <a:chExt cx="3200684" cy="539353"/>
          </a:xfrm>
        </p:grpSpPr>
        <p:sp>
          <p:nvSpPr>
            <p:cNvPr id="12" name="Freeform 12"/>
            <p:cNvSpPr/>
            <p:nvPr/>
          </p:nvSpPr>
          <p:spPr>
            <a:xfrm>
              <a:off x="0" y="0"/>
              <a:ext cx="3200684" cy="539353"/>
            </a:xfrm>
            <a:custGeom>
              <a:rect l="l" t="t" r="r" b="b"/>
              <a:pathLst>
                <a:path w="3200684" h="539353">
                  <a:moveTo>
                    <a:pt x="32490" y="0"/>
                  </a:moveTo>
                  <a:lnTo>
                    <a:pt x="3168194" y="0"/>
                  </a:lnTo>
                  <a:cubicBezTo>
                    <a:pt x="3176811" y="0"/>
                    <a:pt x="3185075" y="3423"/>
                    <a:pt x="3191168" y="9516"/>
                  </a:cubicBezTo>
                  <a:cubicBezTo>
                    <a:pt x="3197261" y="15609"/>
                    <a:pt x="3200684" y="23873"/>
                    <a:pt x="3200684" y="32490"/>
                  </a:cubicBezTo>
                  <a:lnTo>
                    <a:pt x="3200684" y="506863"/>
                  </a:lnTo>
                  <a:cubicBezTo>
                    <a:pt x="3200684" y="524807"/>
                    <a:pt x="3186137" y="539353"/>
                    <a:pt x="3168194" y="539353"/>
                  </a:cubicBezTo>
                  <a:lnTo>
                    <a:pt x="32490" y="539353"/>
                  </a:lnTo>
                  <a:cubicBezTo>
                    <a:pt x="14546" y="539353"/>
                    <a:pt x="0" y="524807"/>
                    <a:pt x="0" y="506863"/>
                  </a:cubicBezTo>
                  <a:lnTo>
                    <a:pt x="0" y="32490"/>
                  </a:lnTo>
                  <a:cubicBezTo>
                    <a:pt x="0" y="14546"/>
                    <a:pt x="14546" y="0"/>
                    <a:pt x="32490" y="0"/>
                  </a:cubicBezTo>
                  <a:close/>
                </a:path>
              </a:pathLst>
            </a:custGeom>
            <a:solidFill>
              <a:srgbClr val="FFFFFF"/>
            </a:solidFill>
          </p:spPr>
          <p:txBody>
            <a:bodyPr/>
            <a:lstStyle/>
            <a:p/>
          </p:txBody>
        </p:sp>
        <p:sp>
          <p:nvSpPr>
            <p:cNvPr id="13" name="TextBox 13"/>
            <p:cNvSpPr txBox="1"/>
            <p:nvPr/>
          </p:nvSpPr>
          <p:spPr>
            <a:xfrm>
              <a:off x="0" y="-85725"/>
              <a:ext cx="3200684" cy="625078"/>
            </a:xfrm>
            <a:prstGeom prst="rect">
              <a:avLst/>
            </a:prstGeom>
          </p:spPr>
          <p:txBody>
            <a:bodyPr lIns="50800" tIns="50800" rIns="50800" bIns="50800" rtlCol="0" anchor="ctr"/>
            <a:lstStyle/>
            <a:p>
              <a:pPr algn="ctr">
                <a:lnSpc>
                  <a:spcPts val="2679"/>
                </a:lnSpc>
              </a:pPr>
            </a:p>
          </p:txBody>
        </p:sp>
      </p:grpSp>
      <p:sp>
        <p:nvSpPr>
          <p:cNvPr id="14" name="Freeform 14"/>
          <p:cNvSpPr/>
          <p:nvPr/>
        </p:nvSpPr>
        <p:spPr>
          <a:xfrm>
            <a:off x="15506700" y="101858"/>
            <a:ext cx="4114800" cy="4114800"/>
          </a:xfrm>
          <a:custGeom>
            <a:rect l="l" t="t" r="r" b="b"/>
            <a:pathLst>
              <a:path w="4114800" h="4114800">
                <a:moveTo>
                  <a:pt x="0" y="0"/>
                </a:moveTo>
                <a:lnTo>
                  <a:pt x="4114800" y="0"/>
                </a:lnTo>
                <a:lnTo>
                  <a:pt x="4114800" y="4114800"/>
                </a:lnTo>
                <a:lnTo>
                  <a:pt x="0" y="4114800"/>
                </a:lnTo>
                <a:lnTo>
                  <a:pt x="0" y="0"/>
                </a:lnTo>
                <a:close/>
              </a:path>
            </a:pathLst>
          </a:custGeom>
          <a:blipFill>
            <a:blip r:embed="rId9">
              <a:extLst>
                <a:ext uri="{96DAC541-7B7A-43D3-8B79-37D633B846F1}">
                  <asvg:svgBlip xmlns:asvg="http://schemas.microsoft.com/office/drawing/2016/SVG/main" r:embed="rId11"/>
                </a:ext>
              </a:extLst>
            </a:blip>
            <a:stretch>
              <a:fillRect/>
            </a:stretch>
          </a:blipFill>
        </p:spPr>
        <p:txBody>
          <a:bodyPr/>
          <a:lstStyle/>
          <a:p/>
        </p:txBody>
      </p:sp>
      <p:sp>
        <p:nvSpPr>
          <p:cNvPr id="15" name="TextBox 15"/>
          <p:cNvSpPr txBox="1"/>
          <p:nvPr/>
        </p:nvSpPr>
        <p:spPr>
          <a:xfrm>
            <a:off x="1265889" y="7434876"/>
            <a:ext cx="12091256" cy="3125501"/>
          </a:xfrm>
          <a:prstGeom prst="rect">
            <a:avLst/>
          </a:prstGeom>
        </p:spPr>
        <p:txBody>
          <a:bodyPr lIns="0" tIns="0" rIns="0" bIns="0" rtlCol="0" anchor="t">
            <a:spAutoFit/>
          </a:bodyPr>
          <a:lstStyle/>
          <a:p>
            <a:pPr algn="l">
              <a:lnSpc>
                <a:spcPts val="3491"/>
              </a:lnSpc>
            </a:pPr>
          </a:p>
          <a:p>
            <a:pPr algn="l">
              <a:lnSpc>
                <a:spcPts val="3491"/>
              </a:lnSpc>
            </a:pPr>
            <a:r>
              <a:rPr lang="en-US" sz="2605" b="1">
                <a:solidFill>
                  <a:srgbClr val="000000"/>
                </a:solidFill>
                <a:latin typeface="Agrandir Bold"/>
                <a:ea typeface="Agrandir Bold"/>
                <a:cs typeface="Agrandir Bold"/>
                <a:sym typeface="Agrandir Bold"/>
              </a:rPr>
              <a:t>Tujuan Perbandingan Model</a:t>
            </a:r>
          </a:p>
          <a:p>
            <a:pPr marL="562505" lvl="1" indent="-281252" algn="l">
              <a:lnSpc>
                <a:spcPts val="3491"/>
              </a:lnSpc>
              <a:buFont typeface="Arial"/>
              <a:buChar char="•"/>
            </a:pPr>
            <a:r>
              <a:rPr lang="en-US" sz="2605">
                <a:solidFill>
                  <a:srgbClr val="000000"/>
                </a:solidFill>
                <a:latin typeface="Agrandir"/>
                <a:ea typeface="Agrandir"/>
                <a:cs typeface="Agrandir"/>
                <a:sym typeface="Agrandir"/>
              </a:rPr>
              <a:t>Menilai efektivitas masing-masing model dalam prediksi harga saham BBCA</a:t>
            </a:r>
          </a:p>
          <a:p>
            <a:pPr marL="562505" lvl="1" indent="-281252" algn="l">
              <a:lnSpc>
                <a:spcPts val="3491"/>
              </a:lnSpc>
              <a:buFont typeface="Arial"/>
              <a:buChar char="•"/>
            </a:pPr>
            <a:r>
              <a:rPr lang="en-US" sz="2605">
                <a:solidFill>
                  <a:srgbClr val="000000"/>
                </a:solidFill>
                <a:latin typeface="Agrandir"/>
                <a:ea typeface="Agrandir"/>
                <a:cs typeface="Agrandir"/>
                <a:sym typeface="Agrandir"/>
              </a:rPr>
              <a:t>Memberikan rekomendasi model terbaik untuk konteks saham volatil</a:t>
            </a:r>
          </a:p>
          <a:p>
            <a:pPr algn="l">
              <a:lnSpc>
                <a:spcPts val="3491"/>
              </a:lnSpc>
            </a:pPr>
            <a:endParaRPr lang="en-US" sz="2605">
              <a:solidFill>
                <a:srgbClr val="000000"/>
              </a:solidFill>
              <a:latin typeface="Agrandir"/>
              <a:ea typeface="Agrandir"/>
              <a:cs typeface="Agrandir"/>
              <a:sym typeface="Agrandir"/>
            </a:endParaRPr>
          </a:p>
          <a:p>
            <a:pPr algn="l">
              <a:lnSpc>
                <a:spcPts val="3491"/>
              </a:lnSpc>
            </a:pPr>
            <a:endParaRPr lang="en-US" sz="2605">
              <a:solidFill>
                <a:srgbClr val="000000"/>
              </a:solidFill>
              <a:latin typeface="Agrandir"/>
              <a:ea typeface="Agrandir"/>
              <a:cs typeface="Agrandir"/>
              <a:sym typeface="Agrandir"/>
            </a:endParaRPr>
          </a:p>
        </p:txBody>
      </p:sp>
      <p:grpSp>
        <p:nvGrpSpPr>
          <p:cNvPr id="16" name="Group 16"/>
          <p:cNvGrpSpPr/>
          <p:nvPr/>
        </p:nvGrpSpPr>
        <p:grpSpPr>
          <a:xfrm>
            <a:off x="7774468" y="2516421"/>
            <a:ext cx="5345488" cy="5043742"/>
            <a:chExt cx="1407865" cy="1328393"/>
          </a:xfrm>
        </p:grpSpPr>
        <p:sp>
          <p:nvSpPr>
            <p:cNvPr id="17" name="Freeform 17"/>
            <p:cNvSpPr/>
            <p:nvPr/>
          </p:nvSpPr>
          <p:spPr>
            <a:xfrm>
              <a:off x="0" y="0"/>
              <a:ext cx="1407865" cy="1328393"/>
            </a:xfrm>
            <a:custGeom>
              <a:rect l="l" t="t" r="r" b="b"/>
              <a:pathLst>
                <a:path w="1407865" h="1328393">
                  <a:moveTo>
                    <a:pt x="73864" y="0"/>
                  </a:moveTo>
                  <a:lnTo>
                    <a:pt x="1334001" y="0"/>
                  </a:lnTo>
                  <a:cubicBezTo>
                    <a:pt x="1353591" y="0"/>
                    <a:pt x="1372379" y="7782"/>
                    <a:pt x="1386231" y="21634"/>
                  </a:cubicBezTo>
                  <a:cubicBezTo>
                    <a:pt x="1400083" y="35486"/>
                    <a:pt x="1407865" y="54274"/>
                    <a:pt x="1407865" y="73864"/>
                  </a:cubicBezTo>
                  <a:lnTo>
                    <a:pt x="1407865" y="1254529"/>
                  </a:lnTo>
                  <a:cubicBezTo>
                    <a:pt x="1407865" y="1274119"/>
                    <a:pt x="1400083" y="1292907"/>
                    <a:pt x="1386231" y="1306759"/>
                  </a:cubicBezTo>
                  <a:cubicBezTo>
                    <a:pt x="1372379" y="1320611"/>
                    <a:pt x="1353591" y="1328393"/>
                    <a:pt x="1334001" y="1328393"/>
                  </a:cubicBezTo>
                  <a:lnTo>
                    <a:pt x="73864" y="1328393"/>
                  </a:lnTo>
                  <a:cubicBezTo>
                    <a:pt x="54274" y="1328393"/>
                    <a:pt x="35486" y="1320611"/>
                    <a:pt x="21634" y="1306759"/>
                  </a:cubicBezTo>
                  <a:cubicBezTo>
                    <a:pt x="7782" y="1292907"/>
                    <a:pt x="0" y="1274119"/>
                    <a:pt x="0" y="1254529"/>
                  </a:cubicBezTo>
                  <a:lnTo>
                    <a:pt x="0" y="73864"/>
                  </a:lnTo>
                  <a:cubicBezTo>
                    <a:pt x="0" y="54274"/>
                    <a:pt x="7782" y="35486"/>
                    <a:pt x="21634" y="21634"/>
                  </a:cubicBezTo>
                  <a:cubicBezTo>
                    <a:pt x="35486" y="7782"/>
                    <a:pt x="54274" y="0"/>
                    <a:pt x="73864" y="0"/>
                  </a:cubicBezTo>
                  <a:close/>
                </a:path>
              </a:pathLst>
            </a:custGeom>
            <a:solidFill>
              <a:srgbClr val="FFFFFF"/>
            </a:solidFill>
          </p:spPr>
          <p:txBody>
            <a:bodyPr/>
            <a:lstStyle/>
            <a:p/>
          </p:txBody>
        </p:sp>
        <p:sp>
          <p:nvSpPr>
            <p:cNvPr id="18" name="TextBox 18"/>
            <p:cNvSpPr txBox="1"/>
            <p:nvPr/>
          </p:nvSpPr>
          <p:spPr>
            <a:xfrm>
              <a:off x="0" y="-85725"/>
              <a:ext cx="1407865" cy="1414118"/>
            </a:xfrm>
            <a:prstGeom prst="rect">
              <a:avLst/>
            </a:prstGeom>
          </p:spPr>
          <p:txBody>
            <a:bodyPr lIns="50800" tIns="50800" rIns="50800" bIns="50800" rtlCol="0" anchor="ctr"/>
            <a:lstStyle/>
            <a:p>
              <a:pPr algn="ctr">
                <a:lnSpc>
                  <a:spcPts val="2679"/>
                </a:lnSpc>
              </a:pPr>
            </a:p>
          </p:txBody>
        </p:sp>
      </p:grpSp>
      <p:grpSp>
        <p:nvGrpSpPr>
          <p:cNvPr id="19" name="Group 19"/>
          <p:cNvGrpSpPr/>
          <p:nvPr/>
        </p:nvGrpSpPr>
        <p:grpSpPr>
          <a:xfrm>
            <a:off x="13357144" y="2621629"/>
            <a:ext cx="4655483" cy="7245027"/>
            <a:chExt cx="1226135" cy="1908155"/>
          </a:xfrm>
        </p:grpSpPr>
        <p:sp>
          <p:nvSpPr>
            <p:cNvPr id="20" name="Freeform 20"/>
            <p:cNvSpPr/>
            <p:nvPr/>
          </p:nvSpPr>
          <p:spPr>
            <a:xfrm>
              <a:off x="0" y="0"/>
              <a:ext cx="1226135" cy="1908155"/>
            </a:xfrm>
            <a:custGeom>
              <a:rect l="l" t="t" r="r" b="b"/>
              <a:pathLst>
                <a:path w="1226135" h="1908155">
                  <a:moveTo>
                    <a:pt x="84811" y="0"/>
                  </a:moveTo>
                  <a:lnTo>
                    <a:pt x="1141324" y="0"/>
                  </a:lnTo>
                  <a:cubicBezTo>
                    <a:pt x="1188164" y="0"/>
                    <a:pt x="1226135" y="37971"/>
                    <a:pt x="1226135" y="84811"/>
                  </a:cubicBezTo>
                  <a:lnTo>
                    <a:pt x="1226135" y="1823344"/>
                  </a:lnTo>
                  <a:cubicBezTo>
                    <a:pt x="1226135" y="1870184"/>
                    <a:pt x="1188164" y="1908155"/>
                    <a:pt x="1141324" y="1908155"/>
                  </a:cubicBezTo>
                  <a:lnTo>
                    <a:pt x="84811" y="1908155"/>
                  </a:lnTo>
                  <a:cubicBezTo>
                    <a:pt x="62318" y="1908155"/>
                    <a:pt x="40746" y="1899220"/>
                    <a:pt x="24841" y="1883315"/>
                  </a:cubicBezTo>
                  <a:cubicBezTo>
                    <a:pt x="8935" y="1867409"/>
                    <a:pt x="0" y="1845837"/>
                    <a:pt x="0" y="1823344"/>
                  </a:cubicBezTo>
                  <a:lnTo>
                    <a:pt x="0" y="84811"/>
                  </a:lnTo>
                  <a:cubicBezTo>
                    <a:pt x="0" y="62318"/>
                    <a:pt x="8935" y="40746"/>
                    <a:pt x="24841" y="24841"/>
                  </a:cubicBezTo>
                  <a:cubicBezTo>
                    <a:pt x="40746" y="8935"/>
                    <a:pt x="62318" y="0"/>
                    <a:pt x="84811" y="0"/>
                  </a:cubicBezTo>
                  <a:close/>
                </a:path>
              </a:pathLst>
            </a:custGeom>
            <a:solidFill>
              <a:srgbClr val="FFFFFF"/>
            </a:solidFill>
          </p:spPr>
          <p:txBody>
            <a:bodyPr/>
            <a:lstStyle/>
            <a:p/>
          </p:txBody>
        </p:sp>
        <p:sp>
          <p:nvSpPr>
            <p:cNvPr id="21" name="TextBox 21"/>
            <p:cNvSpPr txBox="1"/>
            <p:nvPr/>
          </p:nvSpPr>
          <p:spPr>
            <a:xfrm>
              <a:off x="0" y="-85725"/>
              <a:ext cx="1226135" cy="1993880"/>
            </a:xfrm>
            <a:prstGeom prst="rect">
              <a:avLst/>
            </a:prstGeom>
          </p:spPr>
          <p:txBody>
            <a:bodyPr lIns="50800" tIns="50800" rIns="50800" bIns="50800" rtlCol="0" anchor="ctr"/>
            <a:lstStyle/>
            <a:p>
              <a:pPr algn="ctr">
                <a:lnSpc>
                  <a:spcPts val="2679"/>
                </a:lnSpc>
              </a:pPr>
            </a:p>
          </p:txBody>
        </p:sp>
      </p:grpSp>
      <p:sp>
        <p:nvSpPr>
          <p:cNvPr id="22" name="TextBox 22"/>
          <p:cNvSpPr txBox="1"/>
          <p:nvPr/>
        </p:nvSpPr>
        <p:spPr>
          <a:xfrm>
            <a:off x="7911916" y="2708365"/>
            <a:ext cx="5070592" cy="4388909"/>
          </a:xfrm>
          <a:prstGeom prst="rect">
            <a:avLst/>
          </a:prstGeom>
        </p:spPr>
        <p:txBody>
          <a:bodyPr lIns="0" tIns="0" rIns="0" bIns="0" rtlCol="0" anchor="t">
            <a:spAutoFit/>
          </a:bodyPr>
          <a:lstStyle/>
          <a:p>
            <a:pPr algn="l">
              <a:lnSpc>
                <a:spcPts val="2852"/>
              </a:lnSpc>
            </a:pPr>
          </a:p>
          <a:p>
            <a:pPr algn="l">
              <a:lnSpc>
                <a:spcPts val="2852"/>
              </a:lnSpc>
            </a:pPr>
            <a:r>
              <a:rPr lang="en-US" sz="2128" b="1">
                <a:solidFill>
                  <a:srgbClr val="000000"/>
                </a:solidFill>
                <a:latin typeface="Agrandir Bold"/>
                <a:ea typeface="Agrandir Bold"/>
                <a:cs typeface="Agrandir Bold"/>
                <a:sym typeface="Agrandir Bold"/>
              </a:rPr>
              <a:t>Evaluasi Kinerja Model</a:t>
            </a:r>
          </a:p>
          <a:p>
            <a:pPr marL="459539" lvl="1" indent="-229769" algn="l">
              <a:lnSpc>
                <a:spcPts val="2852"/>
              </a:lnSpc>
              <a:buFont typeface="Arial"/>
              <a:buChar char="•"/>
            </a:pPr>
            <a:r>
              <a:rPr lang="en-US" sz="2128">
                <a:solidFill>
                  <a:srgbClr val="000000"/>
                </a:solidFill>
                <a:latin typeface="Agrandir"/>
                <a:ea typeface="Agrandir"/>
                <a:cs typeface="Agrandir"/>
                <a:sym typeface="Agrandir"/>
              </a:rPr>
              <a:t>Metode Evaluasi:</a:t>
            </a:r>
          </a:p>
          <a:p>
            <a:pPr marL="919077" lvl="2" indent="-306359" algn="l">
              <a:lnSpc>
                <a:spcPts val="2852"/>
              </a:lnSpc>
              <a:buFont typeface="Arial"/>
              <a:buChar char="⚬"/>
            </a:pPr>
            <a:r>
              <a:rPr lang="en-US" sz="2128">
                <a:solidFill>
                  <a:srgbClr val="000000"/>
                </a:solidFill>
                <a:latin typeface="Agrandir"/>
                <a:ea typeface="Agrandir"/>
                <a:cs typeface="Agrandir"/>
                <a:sym typeface="Agrandir"/>
              </a:rPr>
              <a:t>Mean Squared Error (MSE):</a:t>
            </a:r>
          </a:p>
          <a:p>
            <a:pPr marL="1378616" lvl="3" indent="-344654" algn="l">
              <a:lnSpc>
                <a:spcPts val="2852"/>
              </a:lnSpc>
              <a:buFont typeface="Arial"/>
              <a:buChar char="￭"/>
            </a:pPr>
            <a:r>
              <a:rPr lang="en-US" sz="2128">
                <a:solidFill>
                  <a:srgbClr val="000000"/>
                </a:solidFill>
                <a:latin typeface="Agrandir"/>
                <a:ea typeface="Agrandir"/>
                <a:cs typeface="Agrandir"/>
                <a:sym typeface="Agrandir"/>
              </a:rPr>
              <a:t>Mengukur kesalahan absolut</a:t>
            </a:r>
          </a:p>
          <a:p>
            <a:pPr marL="1378616" lvl="3" indent="-344654" algn="l">
              <a:lnSpc>
                <a:spcPts val="2852"/>
              </a:lnSpc>
              <a:buFont typeface="Arial"/>
              <a:buChar char="￭"/>
            </a:pPr>
            <a:r>
              <a:rPr lang="en-US" sz="2128">
                <a:solidFill>
                  <a:srgbClr val="000000"/>
                </a:solidFill>
                <a:latin typeface="Agrandir"/>
                <a:ea typeface="Agrandir"/>
                <a:cs typeface="Agrandir"/>
                <a:sym typeface="Agrandir"/>
              </a:rPr>
              <a:t>Sensitif terhadap outlier</a:t>
            </a:r>
          </a:p>
          <a:p>
            <a:pPr marL="919077" lvl="2" indent="-306359" algn="l">
              <a:lnSpc>
                <a:spcPts val="2852"/>
              </a:lnSpc>
              <a:buFont typeface="Arial"/>
              <a:buChar char="⚬"/>
            </a:pPr>
            <a:r>
              <a:rPr lang="en-US" sz="2128">
                <a:solidFill>
                  <a:srgbClr val="000000"/>
                </a:solidFill>
                <a:latin typeface="Agrandir"/>
                <a:ea typeface="Agrandir"/>
                <a:cs typeface="Agrandir"/>
                <a:sym typeface="Agrandir"/>
              </a:rPr>
              <a:t>Mean Absolute Percentage Error (MAPE):</a:t>
            </a:r>
          </a:p>
          <a:p>
            <a:pPr marL="1378616" lvl="3" indent="-344654" algn="l">
              <a:lnSpc>
                <a:spcPts val="2852"/>
              </a:lnSpc>
              <a:buFont typeface="Arial"/>
              <a:buChar char="￭"/>
            </a:pPr>
            <a:r>
              <a:rPr lang="en-US" sz="2128">
                <a:solidFill>
                  <a:srgbClr val="000000"/>
                </a:solidFill>
                <a:latin typeface="Agrandir"/>
                <a:ea typeface="Agrandir"/>
                <a:cs typeface="Agrandir"/>
                <a:sym typeface="Agrandir"/>
              </a:rPr>
              <a:t>Mengukur kesalahan dalam bentuk persentase</a:t>
            </a:r>
          </a:p>
          <a:p>
            <a:pPr marL="1378616" lvl="3" indent="-344654" algn="l">
              <a:lnSpc>
                <a:spcPts val="2852"/>
              </a:lnSpc>
              <a:buFont typeface="Arial"/>
              <a:buChar char="￭"/>
            </a:pPr>
            <a:r>
              <a:rPr lang="en-US" sz="2128">
                <a:solidFill>
                  <a:srgbClr val="000000"/>
                </a:solidFill>
                <a:latin typeface="Agrandir"/>
                <a:ea typeface="Agrandir"/>
                <a:cs typeface="Agrandir"/>
                <a:sym typeface="Agrandir"/>
              </a:rPr>
              <a:t>Menunjukkan kesalahan relatif terhadap nilai aktual</a:t>
            </a:r>
          </a:p>
        </p:txBody>
      </p:sp>
      <p:sp>
        <p:nvSpPr>
          <p:cNvPr id="23" name="Freeform 23"/>
          <p:cNvSpPr/>
          <p:nvPr/>
        </p:nvSpPr>
        <p:spPr>
          <a:xfrm rot="1906465">
            <a:off x="12524031" y="572208"/>
            <a:ext cx="936003" cy="1052764"/>
          </a:xfrm>
          <a:custGeom>
            <a:rect l="l" t="t" r="r" b="b"/>
            <a:pathLst>
              <a:path w="936003" h="1052764">
                <a:moveTo>
                  <a:pt x="0" y="0"/>
                </a:moveTo>
                <a:lnTo>
                  <a:pt x="936003" y="0"/>
                </a:lnTo>
                <a:lnTo>
                  <a:pt x="936003" y="1052764"/>
                </a:lnTo>
                <a:lnTo>
                  <a:pt x="0" y="105276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p:txBody>
      </p:sp>
      <p:sp>
        <p:nvSpPr>
          <p:cNvPr id="24" name="Freeform 24"/>
          <p:cNvSpPr/>
          <p:nvPr/>
        </p:nvSpPr>
        <p:spPr>
          <a:xfrm>
            <a:off x="14153466" y="6347380"/>
            <a:ext cx="3410634" cy="3557376"/>
          </a:xfrm>
          <a:custGeom>
            <a:rect l="l" t="t" r="r" b="b"/>
            <a:pathLst>
              <a:path w="3410634" h="3557376">
                <a:moveTo>
                  <a:pt x="0" y="0"/>
                </a:moveTo>
                <a:lnTo>
                  <a:pt x="3410634" y="0"/>
                </a:lnTo>
                <a:lnTo>
                  <a:pt x="3410634" y="3557376"/>
                </a:lnTo>
                <a:lnTo>
                  <a:pt x="0" y="3557376"/>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p:txBody>
      </p:sp>
      <p:sp>
        <p:nvSpPr>
          <p:cNvPr id="25" name="TextBox 25"/>
          <p:cNvSpPr txBox="1"/>
          <p:nvPr/>
        </p:nvSpPr>
        <p:spPr>
          <a:xfrm>
            <a:off x="1397011" y="2342188"/>
            <a:ext cx="5532247" cy="4959337"/>
          </a:xfrm>
          <a:prstGeom prst="rect">
            <a:avLst/>
          </a:prstGeom>
        </p:spPr>
        <p:txBody>
          <a:bodyPr lIns="0" tIns="0" rIns="0" bIns="0" rtlCol="0" anchor="t">
            <a:spAutoFit/>
          </a:bodyPr>
          <a:lstStyle/>
          <a:p>
            <a:pPr algn="l">
              <a:lnSpc>
                <a:spcPts val="3023"/>
              </a:lnSpc>
            </a:pPr>
          </a:p>
          <a:p>
            <a:pPr algn="l">
              <a:lnSpc>
                <a:spcPts val="3023"/>
              </a:lnSpc>
            </a:pPr>
            <a:r>
              <a:rPr lang="en-US" sz="2256" b="1">
                <a:solidFill>
                  <a:srgbClr val="000000"/>
                </a:solidFill>
                <a:latin typeface="Agrandir Bold"/>
                <a:ea typeface="Agrandir Bold"/>
                <a:cs typeface="Agrandir Bold"/>
                <a:sym typeface="Agrandir Bold"/>
              </a:rPr>
              <a:t>Penerapan Model</a:t>
            </a:r>
          </a:p>
          <a:p>
            <a:pPr marL="487213" lvl="1" indent="-243607" algn="l">
              <a:lnSpc>
                <a:spcPts val="3023"/>
              </a:lnSpc>
              <a:buFont typeface="Arial"/>
              <a:buChar char="•"/>
            </a:pPr>
            <a:r>
              <a:rPr lang="en-US" sz="2256">
                <a:solidFill>
                  <a:srgbClr val="000000"/>
                </a:solidFill>
                <a:latin typeface="Agrandir"/>
                <a:ea typeface="Agrandir"/>
                <a:cs typeface="Agrandir"/>
                <a:sym typeface="Agrandir"/>
              </a:rPr>
              <a:t>SARIMA:</a:t>
            </a:r>
          </a:p>
          <a:p>
            <a:pPr marL="974427" lvl="2" indent="-324809" algn="l">
              <a:lnSpc>
                <a:spcPts val="3023"/>
              </a:lnSpc>
              <a:buFont typeface="Arial"/>
              <a:buChar char="⚬"/>
            </a:pPr>
            <a:r>
              <a:rPr lang="en-US" sz="2256">
                <a:solidFill>
                  <a:srgbClr val="000000"/>
                </a:solidFill>
                <a:latin typeface="Agrandir"/>
                <a:ea typeface="Agrandir"/>
                <a:cs typeface="Agrandir"/>
                <a:sym typeface="Agrandir"/>
              </a:rPr>
              <a:t>Menangani pola musiman &amp; tren jangka panjang</a:t>
            </a:r>
          </a:p>
          <a:p>
            <a:pPr marL="487213" lvl="1" indent="-243607" algn="l">
              <a:lnSpc>
                <a:spcPts val="3023"/>
              </a:lnSpc>
              <a:buFont typeface="Arial"/>
              <a:buChar char="•"/>
            </a:pPr>
            <a:r>
              <a:rPr lang="en-US" sz="2256">
                <a:solidFill>
                  <a:srgbClr val="000000"/>
                </a:solidFill>
                <a:latin typeface="Agrandir"/>
                <a:ea typeface="Agrandir"/>
                <a:cs typeface="Agrandir"/>
                <a:sym typeface="Agrandir"/>
              </a:rPr>
              <a:t>ETS (Exponential Smoothing):</a:t>
            </a:r>
          </a:p>
          <a:p>
            <a:pPr marL="974427" lvl="2" indent="-324809" algn="l">
              <a:lnSpc>
                <a:spcPts val="3023"/>
              </a:lnSpc>
              <a:buFont typeface="Arial"/>
              <a:buChar char="⚬"/>
            </a:pPr>
            <a:r>
              <a:rPr lang="en-US" sz="2256">
                <a:solidFill>
                  <a:srgbClr val="000000"/>
                </a:solidFill>
                <a:latin typeface="Agrandir"/>
                <a:ea typeface="Agrandir"/>
                <a:cs typeface="Agrandir"/>
                <a:sym typeface="Agrandir"/>
              </a:rPr>
              <a:t>Cocok untuk tren stabil &amp; fluktuasi musiman</a:t>
            </a:r>
          </a:p>
          <a:p>
            <a:pPr marL="487213" lvl="1" indent="-243607" algn="l">
              <a:lnSpc>
                <a:spcPts val="3023"/>
              </a:lnSpc>
              <a:buFont typeface="Arial"/>
              <a:buChar char="•"/>
            </a:pPr>
            <a:r>
              <a:rPr lang="en-US" sz="2256">
                <a:solidFill>
                  <a:srgbClr val="000000"/>
                </a:solidFill>
                <a:latin typeface="Agrandir"/>
                <a:ea typeface="Agrandir"/>
                <a:cs typeface="Agrandir"/>
                <a:sym typeface="Agrandir"/>
              </a:rPr>
              <a:t>XGBoost:</a:t>
            </a:r>
          </a:p>
          <a:p>
            <a:pPr marL="974427" lvl="2" indent="-324809" algn="l">
              <a:lnSpc>
                <a:spcPts val="3023"/>
              </a:lnSpc>
              <a:buFont typeface="Arial"/>
              <a:buChar char="⚬"/>
            </a:pPr>
            <a:r>
              <a:rPr lang="en-US" sz="2256">
                <a:solidFill>
                  <a:srgbClr val="000000"/>
                </a:solidFill>
                <a:latin typeface="Agrandir"/>
                <a:ea typeface="Agrandir"/>
                <a:cs typeface="Agrandir"/>
                <a:sym typeface="Agrandir"/>
              </a:rPr>
              <a:t>Gradient boosting untuk akurasi tinggi</a:t>
            </a:r>
          </a:p>
          <a:p>
            <a:pPr marL="974427" lvl="2" indent="-324809" algn="l">
              <a:lnSpc>
                <a:spcPts val="3023"/>
              </a:lnSpc>
              <a:buFont typeface="Arial"/>
              <a:buChar char="⚬"/>
            </a:pPr>
            <a:r>
              <a:rPr lang="en-US" sz="2256">
                <a:solidFill>
                  <a:srgbClr val="000000"/>
                </a:solidFill>
                <a:latin typeface="Agrandir"/>
                <a:ea typeface="Agrandir"/>
                <a:cs typeface="Agrandir"/>
                <a:sym typeface="Agrandir"/>
              </a:rPr>
              <a:t>Optimasi melalui fungsi loss yang efisien</a:t>
            </a:r>
          </a:p>
        </p:txBody>
      </p:sp>
      <p:sp>
        <p:nvSpPr>
          <p:cNvPr id="26" name="TextBox 26"/>
          <p:cNvSpPr txBox="1"/>
          <p:nvPr/>
        </p:nvSpPr>
        <p:spPr>
          <a:xfrm>
            <a:off x="13567631" y="2670265"/>
            <a:ext cx="4361950" cy="3377666"/>
          </a:xfrm>
          <a:prstGeom prst="rect">
            <a:avLst/>
          </a:prstGeom>
        </p:spPr>
        <p:txBody>
          <a:bodyPr lIns="0" tIns="0" rIns="0" bIns="0" rtlCol="0" anchor="t">
            <a:spAutoFit/>
          </a:bodyPr>
          <a:lstStyle/>
          <a:p>
            <a:pPr algn="l">
              <a:lnSpc>
                <a:spcPts val="2628"/>
              </a:lnSpc>
            </a:pPr>
          </a:p>
          <a:p>
            <a:pPr algn="l">
              <a:lnSpc>
                <a:spcPts val="2628"/>
              </a:lnSpc>
            </a:pPr>
            <a:r>
              <a:rPr lang="en-US" sz="1961" b="1">
                <a:solidFill>
                  <a:srgbClr val="000000"/>
                </a:solidFill>
                <a:latin typeface="Agrandir Bold"/>
                <a:ea typeface="Agrandir Bold"/>
                <a:cs typeface="Agrandir Bold"/>
                <a:sym typeface="Agrandir Bold"/>
              </a:rPr>
              <a:t>Fungsi Metrik Evaluasi</a:t>
            </a:r>
          </a:p>
          <a:p>
            <a:pPr marL="423539" lvl="1" indent="-211770" algn="l">
              <a:lnSpc>
                <a:spcPts val="2628"/>
              </a:lnSpc>
              <a:buFont typeface="Arial"/>
              <a:buChar char="•"/>
            </a:pPr>
            <a:r>
              <a:rPr lang="en-US" sz="1961">
                <a:solidFill>
                  <a:srgbClr val="000000"/>
                </a:solidFill>
                <a:latin typeface="Agrandir"/>
                <a:ea typeface="Agrandir"/>
                <a:cs typeface="Agrandir"/>
                <a:sym typeface="Agrandir"/>
              </a:rPr>
              <a:t>MAPE:</a:t>
            </a:r>
          </a:p>
          <a:p>
            <a:pPr marL="847079" lvl="2" indent="-282360" algn="l">
              <a:lnSpc>
                <a:spcPts val="2628"/>
              </a:lnSpc>
              <a:buFont typeface="Arial"/>
              <a:buChar char="⚬"/>
            </a:pPr>
            <a:r>
              <a:rPr lang="en-US" sz="1961">
                <a:solidFill>
                  <a:srgbClr val="000000"/>
                </a:solidFill>
                <a:latin typeface="Agrandir"/>
                <a:ea typeface="Agrandir"/>
                <a:cs typeface="Agrandir"/>
                <a:sym typeface="Agrandir"/>
              </a:rPr>
              <a:t>Persentase rata-rata kesalahan prediksi terhadap nilai aktual</a:t>
            </a:r>
          </a:p>
          <a:p>
            <a:pPr marL="423539" lvl="1" indent="-211770" algn="l">
              <a:lnSpc>
                <a:spcPts val="2628"/>
              </a:lnSpc>
              <a:buFont typeface="Arial"/>
              <a:buChar char="•"/>
            </a:pPr>
            <a:r>
              <a:rPr lang="en-US" sz="1961">
                <a:solidFill>
                  <a:srgbClr val="000000"/>
                </a:solidFill>
                <a:latin typeface="Agrandir"/>
                <a:ea typeface="Agrandir"/>
                <a:cs typeface="Agrandir"/>
                <a:sym typeface="Agrandir"/>
              </a:rPr>
              <a:t>MSE:</a:t>
            </a:r>
          </a:p>
          <a:p>
            <a:pPr marL="847079" lvl="2" indent="-282360" algn="l">
              <a:lnSpc>
                <a:spcPts val="2628"/>
              </a:lnSpc>
              <a:buFont typeface="Arial"/>
              <a:buChar char="⚬"/>
            </a:pPr>
            <a:r>
              <a:rPr lang="en-US" sz="1961">
                <a:solidFill>
                  <a:srgbClr val="000000"/>
                </a:solidFill>
                <a:latin typeface="Agrandir"/>
                <a:ea typeface="Agrandir"/>
                <a:cs typeface="Agrandir"/>
                <a:sym typeface="Agrandir"/>
              </a:rPr>
              <a:t>Rata-rata kuadrat selisih antara nilai aktual &amp; prediksi</a:t>
            </a:r>
          </a:p>
          <a:p>
            <a:pPr algn="l">
              <a:lnSpc>
                <a:spcPts val="2628"/>
              </a:lnSpc>
            </a:pPr>
            <a:endParaRPr lang="en-US" sz="1961">
              <a:solidFill>
                <a:srgbClr val="000000"/>
              </a:solidFill>
              <a:latin typeface="Agrandir"/>
              <a:ea typeface="Agrandir"/>
              <a:cs typeface="Agrandir"/>
              <a:sym typeface="Agrandir"/>
            </a:endParaRPr>
          </a:p>
        </p:txBody>
      </p:sp>
      <p:sp>
        <p:nvSpPr>
          <p:cNvPr id="27" name="TextBox 27"/>
          <p:cNvSpPr txBox="1"/>
          <p:nvPr/>
        </p:nvSpPr>
        <p:spPr>
          <a:xfrm>
            <a:off x="3426208" y="846456"/>
            <a:ext cx="11435584" cy="919480"/>
          </a:xfrm>
          <a:prstGeom prst="rect">
            <a:avLst/>
          </a:prstGeom>
        </p:spPr>
        <p:txBody>
          <a:bodyPr lIns="0" tIns="0" rIns="0" bIns="0" rtlCol="0" anchor="t">
            <a:spAutoFit/>
          </a:bodyPr>
          <a:lstStyle/>
          <a:p>
            <a:pPr algn="ctr">
              <a:lnSpc>
                <a:spcPts val="5884"/>
              </a:lnSpc>
            </a:pPr>
            <a:r>
              <a:rPr lang="en-US" sz="5499" b="1">
                <a:solidFill>
                  <a:srgbClr val="E85041"/>
                </a:solidFill>
                <a:latin typeface="Agrandir Bold"/>
                <a:ea typeface="Agrandir Bold"/>
                <a:cs typeface="Agrandir Bold"/>
                <a:sym typeface="Agrandir Bold"/>
              </a:rPr>
              <a:t>Proses Pengerjaan</a:t>
            </a: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440518" y="-198444"/>
            <a:ext cx="18947175" cy="12623556"/>
          </a:xfrm>
          <a:custGeom>
            <a:rect l="l" t="t" r="r" b="b"/>
            <a:pathLst>
              <a:path w="18947176" h="12623556">
                <a:moveTo>
                  <a:pt x="0" y="0"/>
                </a:moveTo>
                <a:lnTo>
                  <a:pt x="18947176" y="0"/>
                </a:lnTo>
                <a:lnTo>
                  <a:pt x="18947176" y="12623556"/>
                </a:lnTo>
                <a:lnTo>
                  <a:pt x="0" y="12623556"/>
                </a:lnTo>
                <a:lnTo>
                  <a:pt x="0" y="0"/>
                </a:lnTo>
                <a:close/>
              </a:path>
            </a:pathLst>
          </a:custGeom>
          <a:blipFill>
            <a:blip r:embed="rId2">
              <a:alphaModFix amt="36000"/>
            </a:blip>
            <a:stretch>
              <a:fillRect/>
            </a:stretch>
          </a:blipFill>
        </p:spPr>
        <p:txBody>
          <a:bodyPr/>
          <a:lstStyle/>
          <a:p/>
        </p:txBody>
      </p:sp>
      <p:sp>
        <p:nvSpPr>
          <p:cNvPr id="3" name="Freeform 3"/>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grpSp>
        <p:nvGrpSpPr>
          <p:cNvPr id="6" name="Group 6"/>
          <p:cNvGrpSpPr/>
          <p:nvPr/>
        </p:nvGrpSpPr>
        <p:grpSpPr>
          <a:xfrm>
            <a:off x="3460434" y="3089513"/>
            <a:ext cx="10863804" cy="5382309"/>
            <a:chExt cx="2861249" cy="1417563"/>
          </a:xfrm>
        </p:grpSpPr>
        <p:sp>
          <p:nvSpPr>
            <p:cNvPr id="7" name="Freeform 7"/>
            <p:cNvSpPr/>
            <p:nvPr/>
          </p:nvSpPr>
          <p:spPr>
            <a:xfrm>
              <a:off x="0" y="0"/>
              <a:ext cx="2861249" cy="1417563"/>
            </a:xfrm>
            <a:custGeom>
              <a:rect l="l" t="t" r="r" b="b"/>
              <a:pathLst>
                <a:path w="2861249" h="1417563">
                  <a:moveTo>
                    <a:pt x="36344" y="0"/>
                  </a:moveTo>
                  <a:lnTo>
                    <a:pt x="2824905" y="0"/>
                  </a:lnTo>
                  <a:cubicBezTo>
                    <a:pt x="2844977" y="0"/>
                    <a:pt x="2861249" y="16272"/>
                    <a:pt x="2861249" y="36344"/>
                  </a:cubicBezTo>
                  <a:lnTo>
                    <a:pt x="2861249" y="1381219"/>
                  </a:lnTo>
                  <a:cubicBezTo>
                    <a:pt x="2861249" y="1390858"/>
                    <a:pt x="2857420" y="1400102"/>
                    <a:pt x="2850604" y="1406918"/>
                  </a:cubicBezTo>
                  <a:cubicBezTo>
                    <a:pt x="2843788" y="1413734"/>
                    <a:pt x="2834544" y="1417563"/>
                    <a:pt x="2824905" y="1417563"/>
                  </a:cubicBezTo>
                  <a:lnTo>
                    <a:pt x="36344" y="1417563"/>
                  </a:lnTo>
                  <a:cubicBezTo>
                    <a:pt x="26705" y="1417563"/>
                    <a:pt x="17461" y="1413734"/>
                    <a:pt x="10645" y="1406918"/>
                  </a:cubicBezTo>
                  <a:cubicBezTo>
                    <a:pt x="3829" y="1400102"/>
                    <a:pt x="0" y="1390858"/>
                    <a:pt x="0" y="1381219"/>
                  </a:cubicBezTo>
                  <a:lnTo>
                    <a:pt x="0" y="36344"/>
                  </a:lnTo>
                  <a:cubicBezTo>
                    <a:pt x="0" y="26705"/>
                    <a:pt x="3829" y="17461"/>
                    <a:pt x="10645" y="10645"/>
                  </a:cubicBezTo>
                  <a:cubicBezTo>
                    <a:pt x="17461" y="3829"/>
                    <a:pt x="26705" y="0"/>
                    <a:pt x="36344" y="0"/>
                  </a:cubicBezTo>
                  <a:close/>
                </a:path>
              </a:pathLst>
            </a:custGeom>
            <a:solidFill>
              <a:srgbClr val="FFFFFF">
                <a:alpha val="87843"/>
              </a:srgbClr>
            </a:solidFill>
          </p:spPr>
          <p:txBody>
            <a:bodyPr/>
            <a:lstStyle/>
            <a:p/>
          </p:txBody>
        </p:sp>
        <p:sp>
          <p:nvSpPr>
            <p:cNvPr id="8" name="TextBox 8"/>
            <p:cNvSpPr txBox="1"/>
            <p:nvPr/>
          </p:nvSpPr>
          <p:spPr>
            <a:xfrm>
              <a:off x="0" y="-85725"/>
              <a:ext cx="2861249" cy="1503288"/>
            </a:xfrm>
            <a:prstGeom prst="rect">
              <a:avLst/>
            </a:prstGeom>
          </p:spPr>
          <p:txBody>
            <a:bodyPr lIns="50800" tIns="50800" rIns="50800" bIns="50800" rtlCol="0" anchor="ctr"/>
            <a:lstStyle/>
            <a:p>
              <a:pPr algn="ctr">
                <a:lnSpc>
                  <a:spcPts val="2679"/>
                </a:lnSpc>
              </a:pPr>
            </a:p>
          </p:txBody>
        </p:sp>
      </p:grpSp>
      <p:sp>
        <p:nvSpPr>
          <p:cNvPr id="9" name="TextBox 9"/>
          <p:cNvSpPr txBox="1"/>
          <p:nvPr/>
        </p:nvSpPr>
        <p:spPr>
          <a:xfrm>
            <a:off x="3688450" y="3325916"/>
            <a:ext cx="10911100" cy="5487367"/>
          </a:xfrm>
          <a:prstGeom prst="rect">
            <a:avLst/>
          </a:prstGeom>
        </p:spPr>
        <p:txBody>
          <a:bodyPr lIns="0" tIns="0" rIns="0" bIns="0" rtlCol="0" anchor="t">
            <a:spAutoFit/>
          </a:bodyPr>
          <a:lstStyle/>
          <a:p>
            <a:pPr algn="l">
              <a:lnSpc>
                <a:spcPts val="5355"/>
              </a:lnSpc>
            </a:pPr>
            <a:r>
              <a:rPr lang="en-US" sz="3594" b="1">
                <a:solidFill>
                  <a:srgbClr val="000000"/>
                </a:solidFill>
                <a:latin typeface="Agrandir Bold"/>
                <a:ea typeface="Agrandir Bold"/>
                <a:cs typeface="Agrandir Bold"/>
                <a:sym typeface="Agrandir Bold"/>
              </a:rPr>
              <a:t>SARIMA (Seasonal ARIMA)</a:t>
            </a:r>
          </a:p>
          <a:p>
            <a:pPr marL="776037" lvl="1" indent="-388018" algn="l">
              <a:lnSpc>
                <a:spcPts val="5355"/>
              </a:lnSpc>
              <a:buFont typeface="Arial"/>
              <a:buChar char="•"/>
            </a:pPr>
            <a:r>
              <a:rPr lang="en-US" sz="3594">
                <a:solidFill>
                  <a:srgbClr val="000000"/>
                </a:solidFill>
                <a:latin typeface="Agrandir"/>
                <a:ea typeface="Agrandir"/>
                <a:cs typeface="Agrandir"/>
                <a:sym typeface="Agrandir"/>
              </a:rPr>
              <a:t>Pengembangan dari ARIMA yang menambahkan komponen musiman (S)</a:t>
            </a:r>
          </a:p>
          <a:p>
            <a:pPr marL="776037" lvl="1" indent="-388018" algn="l">
              <a:lnSpc>
                <a:spcPts val="5355"/>
              </a:lnSpc>
              <a:buFont typeface="Arial"/>
              <a:buChar char="•"/>
            </a:pPr>
            <a:r>
              <a:rPr lang="en-US" sz="3594">
                <a:solidFill>
                  <a:srgbClr val="000000"/>
                </a:solidFill>
                <a:latin typeface="Agrandir"/>
                <a:ea typeface="Agrandir"/>
                <a:cs typeface="Agrandir"/>
                <a:sym typeface="Agrandir"/>
              </a:rPr>
              <a:t>Cocok untuk data musiman seperti harga saham BBCA</a:t>
            </a:r>
          </a:p>
          <a:p>
            <a:pPr marL="776037" lvl="1" indent="-388018" algn="l">
              <a:lnSpc>
                <a:spcPts val="5355"/>
              </a:lnSpc>
              <a:buFont typeface="Arial"/>
              <a:buChar char="•"/>
            </a:pPr>
            <a:r>
              <a:rPr lang="en-US" sz="3594">
                <a:solidFill>
                  <a:srgbClr val="000000"/>
                </a:solidFill>
                <a:latin typeface="Agrandir"/>
                <a:ea typeface="Agrandir"/>
                <a:cs typeface="Agrandir"/>
                <a:sym typeface="Agrandir"/>
              </a:rPr>
              <a:t>Menangani pola musim, tren, dan fluktuasi periodik</a:t>
            </a:r>
          </a:p>
          <a:p>
            <a:pPr algn="l">
              <a:lnSpc>
                <a:spcPts val="5355"/>
              </a:lnSpc>
            </a:pPr>
            <a:endParaRPr lang="en-US" sz="3594">
              <a:solidFill>
                <a:srgbClr val="000000"/>
              </a:solidFill>
              <a:latin typeface="Agrandir"/>
              <a:ea typeface="Agrandir"/>
              <a:cs typeface="Agrandir"/>
              <a:sym typeface="Agrandir"/>
            </a:endParaRPr>
          </a:p>
        </p:txBody>
      </p:sp>
      <p:sp>
        <p:nvSpPr>
          <p:cNvPr id="10" name="Freeform 10"/>
          <p:cNvSpPr/>
          <p:nvPr/>
        </p:nvSpPr>
        <p:spPr>
          <a:xfrm>
            <a:off x="1215436" y="6174375"/>
            <a:ext cx="2962656" cy="4114800"/>
          </a:xfrm>
          <a:custGeom>
            <a:rect l="l" t="t" r="r" b="b"/>
            <a:pathLst>
              <a:path w="2962656" h="4114800">
                <a:moveTo>
                  <a:pt x="0" y="0"/>
                </a:moveTo>
                <a:lnTo>
                  <a:pt x="2962656" y="0"/>
                </a:lnTo>
                <a:lnTo>
                  <a:pt x="2962656"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p:txBody>
      </p:sp>
      <p:sp>
        <p:nvSpPr>
          <p:cNvPr id="11" name="TextBox 11"/>
          <p:cNvSpPr txBox="1"/>
          <p:nvPr/>
        </p:nvSpPr>
        <p:spPr>
          <a:xfrm>
            <a:off x="2023842" y="684133"/>
            <a:ext cx="14240317" cy="240538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SARIMA (Seasonal Auto-Regressive Integrated Moving Average)</a:t>
            </a:r>
          </a:p>
          <a:p>
            <a:pPr algn="ctr">
              <a:lnSpc>
                <a:spcPts val="5884"/>
              </a:lnSpc>
            </a:pPr>
            <a:endParaRPr lang="en-US" sz="5499" b="1">
              <a:solidFill>
                <a:srgbClr val="FFFFFF"/>
              </a:solidFill>
              <a:latin typeface="Agrandir Bold"/>
              <a:ea typeface="Agrandir Bold"/>
              <a:cs typeface="Agrandir Bold"/>
              <a:sym typeface="Agrandir Bold"/>
            </a:endParaRP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0" y="-2107108"/>
            <a:ext cx="18602789" cy="12394108"/>
          </a:xfrm>
          <a:custGeom>
            <a:rect l="l" t="t" r="r" b="b"/>
            <a:pathLst>
              <a:path w="18602789" h="12394108">
                <a:moveTo>
                  <a:pt x="0" y="0"/>
                </a:moveTo>
                <a:lnTo>
                  <a:pt x="18602789" y="0"/>
                </a:lnTo>
                <a:lnTo>
                  <a:pt x="18602789" y="12394108"/>
                </a:lnTo>
                <a:lnTo>
                  <a:pt x="0" y="12394108"/>
                </a:lnTo>
                <a:lnTo>
                  <a:pt x="0" y="0"/>
                </a:lnTo>
                <a:close/>
              </a:path>
            </a:pathLst>
          </a:custGeom>
          <a:blipFill>
            <a:blip r:embed="rId2">
              <a:alphaModFix amt="50000"/>
            </a:blip>
            <a:stretch>
              <a:fillRect/>
            </a:stretch>
          </a:blipFill>
        </p:spPr>
        <p:txBody>
          <a:bodyPr/>
          <a:lstStyle/>
          <a:p/>
        </p:txBody>
      </p:sp>
      <p:sp>
        <p:nvSpPr>
          <p:cNvPr id="3" name="Freeform 3"/>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grpSp>
        <p:nvGrpSpPr>
          <p:cNvPr id="6" name="Group 6"/>
          <p:cNvGrpSpPr/>
          <p:nvPr/>
        </p:nvGrpSpPr>
        <p:grpSpPr>
          <a:xfrm>
            <a:off x="1794577" y="2541572"/>
            <a:ext cx="14698845" cy="7071390"/>
            <a:chExt cx="3871301" cy="1862424"/>
          </a:xfrm>
        </p:grpSpPr>
        <p:sp>
          <p:nvSpPr>
            <p:cNvPr id="7" name="Freeform 7"/>
            <p:cNvSpPr/>
            <p:nvPr/>
          </p:nvSpPr>
          <p:spPr>
            <a:xfrm>
              <a:off x="0" y="0"/>
              <a:ext cx="3871301" cy="1862424"/>
            </a:xfrm>
            <a:custGeom>
              <a:rect l="l" t="t" r="r" b="b"/>
              <a:pathLst>
                <a:path w="3871301" h="1862424">
                  <a:moveTo>
                    <a:pt x="26862" y="0"/>
                  </a:moveTo>
                  <a:lnTo>
                    <a:pt x="3844439" y="0"/>
                  </a:lnTo>
                  <a:cubicBezTo>
                    <a:pt x="3851563" y="0"/>
                    <a:pt x="3858396" y="2830"/>
                    <a:pt x="3863433" y="7868"/>
                  </a:cubicBezTo>
                  <a:cubicBezTo>
                    <a:pt x="3868471" y="12905"/>
                    <a:pt x="3871301" y="19738"/>
                    <a:pt x="3871301" y="26862"/>
                  </a:cubicBezTo>
                  <a:lnTo>
                    <a:pt x="3871301" y="1835562"/>
                  </a:lnTo>
                  <a:cubicBezTo>
                    <a:pt x="3871301" y="1842686"/>
                    <a:pt x="3868471" y="1849519"/>
                    <a:pt x="3863433" y="1854556"/>
                  </a:cubicBezTo>
                  <a:cubicBezTo>
                    <a:pt x="3858396" y="1859594"/>
                    <a:pt x="3851563" y="1862424"/>
                    <a:pt x="3844439" y="1862424"/>
                  </a:cubicBezTo>
                  <a:lnTo>
                    <a:pt x="26862" y="1862424"/>
                  </a:lnTo>
                  <a:cubicBezTo>
                    <a:pt x="19738" y="1862424"/>
                    <a:pt x="12905" y="1859594"/>
                    <a:pt x="7868" y="1854556"/>
                  </a:cubicBezTo>
                  <a:cubicBezTo>
                    <a:pt x="2830" y="1849519"/>
                    <a:pt x="0" y="1842686"/>
                    <a:pt x="0" y="1835562"/>
                  </a:cubicBezTo>
                  <a:lnTo>
                    <a:pt x="0" y="26862"/>
                  </a:lnTo>
                  <a:cubicBezTo>
                    <a:pt x="0" y="19738"/>
                    <a:pt x="2830" y="12905"/>
                    <a:pt x="7868" y="7868"/>
                  </a:cubicBezTo>
                  <a:cubicBezTo>
                    <a:pt x="12905" y="2830"/>
                    <a:pt x="19738" y="0"/>
                    <a:pt x="26862" y="0"/>
                  </a:cubicBezTo>
                  <a:close/>
                </a:path>
              </a:pathLst>
            </a:custGeom>
            <a:solidFill>
              <a:srgbClr val="FFFFFF"/>
            </a:solidFill>
          </p:spPr>
          <p:txBody>
            <a:bodyPr/>
            <a:lstStyle/>
            <a:p/>
          </p:txBody>
        </p:sp>
        <p:sp>
          <p:nvSpPr>
            <p:cNvPr id="8" name="TextBox 8"/>
            <p:cNvSpPr txBox="1"/>
            <p:nvPr/>
          </p:nvSpPr>
          <p:spPr>
            <a:xfrm>
              <a:off x="0" y="-85725"/>
              <a:ext cx="3871301" cy="1948149"/>
            </a:xfrm>
            <a:prstGeom prst="rect">
              <a:avLst/>
            </a:prstGeom>
          </p:spPr>
          <p:txBody>
            <a:bodyPr lIns="50800" tIns="50800" rIns="50800" bIns="50800" rtlCol="0" anchor="ctr"/>
            <a:lstStyle/>
            <a:p>
              <a:pPr algn="ctr">
                <a:lnSpc>
                  <a:spcPts val="2679"/>
                </a:lnSpc>
              </a:pPr>
            </a:p>
          </p:txBody>
        </p:sp>
      </p:grpSp>
      <p:sp>
        <p:nvSpPr>
          <p:cNvPr id="9" name="TextBox 9"/>
          <p:cNvSpPr txBox="1"/>
          <p:nvPr/>
        </p:nvSpPr>
        <p:spPr>
          <a:xfrm>
            <a:off x="2242945" y="2646750"/>
            <a:ext cx="6443644" cy="718535"/>
          </a:xfrm>
          <a:prstGeom prst="rect">
            <a:avLst/>
          </a:prstGeom>
        </p:spPr>
        <p:txBody>
          <a:bodyPr lIns="0" tIns="0" rIns="0" bIns="0" rtlCol="0" anchor="t">
            <a:spAutoFit/>
          </a:bodyPr>
          <a:lstStyle/>
          <a:p>
            <a:pPr algn="l">
              <a:lnSpc>
                <a:spcPts val="5094"/>
              </a:lnSpc>
            </a:pPr>
            <a:r>
              <a:rPr lang="en-US" sz="3801" b="1">
                <a:solidFill>
                  <a:srgbClr val="E85041"/>
                </a:solidFill>
                <a:latin typeface="Agrandir Bold"/>
                <a:ea typeface="Agrandir Bold"/>
                <a:cs typeface="Agrandir Bold"/>
                <a:sym typeface="Agrandir Bold"/>
              </a:rPr>
              <a:t>Komponen SARIMA</a:t>
            </a:r>
          </a:p>
        </p:txBody>
      </p:sp>
      <p:sp>
        <p:nvSpPr>
          <p:cNvPr id="10" name="TextBox 10"/>
          <p:cNvSpPr txBox="1"/>
          <p:nvPr/>
        </p:nvSpPr>
        <p:spPr>
          <a:xfrm>
            <a:off x="2185915" y="3264128"/>
            <a:ext cx="13916171" cy="6803616"/>
          </a:xfrm>
          <a:prstGeom prst="rect">
            <a:avLst/>
          </a:prstGeom>
        </p:spPr>
        <p:txBody>
          <a:bodyPr lIns="0" tIns="0" rIns="0" bIns="0" rtlCol="0" anchor="t">
            <a:spAutoFit/>
          </a:bodyPr>
          <a:lstStyle/>
          <a:p>
            <a:pPr marL="776037" lvl="1" indent="-388018" algn="l">
              <a:lnSpc>
                <a:spcPts val="4816"/>
              </a:lnSpc>
              <a:buFont typeface="Arial"/>
              <a:buChar char="•"/>
            </a:pPr>
            <a:r>
              <a:rPr lang="en-US" sz="3594">
                <a:solidFill>
                  <a:srgbClr val="000000"/>
                </a:solidFill>
                <a:latin typeface="Agrandir"/>
                <a:ea typeface="Agrandir"/>
                <a:cs typeface="Agrandir"/>
                <a:sym typeface="Agrandir"/>
              </a:rPr>
              <a:t>AR (Auto-Regressive):</a:t>
            </a:r>
          </a:p>
          <a:p>
            <a:pPr algn="l">
              <a:lnSpc>
                <a:spcPts val="4816"/>
              </a:lnSpc>
            </a:pPr>
            <a:r>
              <a:rPr lang="en-US" sz="3594">
                <a:solidFill>
                  <a:srgbClr val="000000"/>
                </a:solidFill>
                <a:latin typeface="Agrandir"/>
                <a:ea typeface="Agrandir"/>
                <a:cs typeface="Agrandir"/>
                <a:sym typeface="Agrandir"/>
              </a:rPr>
              <a:t>    Menggunakan nilai masa lalu untuk memprediksi masa depan</a:t>
            </a:r>
          </a:p>
          <a:p>
            <a:pPr marL="776037" lvl="1" indent="-388018" algn="l">
              <a:lnSpc>
                <a:spcPts val="4816"/>
              </a:lnSpc>
              <a:buFont typeface="Arial"/>
              <a:buChar char="•"/>
            </a:pPr>
            <a:r>
              <a:rPr lang="en-US" sz="3594">
                <a:solidFill>
                  <a:srgbClr val="000000"/>
                </a:solidFill>
                <a:latin typeface="Agrandir"/>
                <a:ea typeface="Agrandir"/>
                <a:cs typeface="Agrandir"/>
                <a:sym typeface="Agrandir"/>
              </a:rPr>
              <a:t>I (Integrated):</a:t>
            </a:r>
          </a:p>
          <a:p>
            <a:pPr algn="l">
              <a:lnSpc>
                <a:spcPts val="4816"/>
              </a:lnSpc>
            </a:pPr>
            <a:r>
              <a:rPr lang="en-US" sz="3594">
                <a:solidFill>
                  <a:srgbClr val="000000"/>
                </a:solidFill>
                <a:latin typeface="Agrandir"/>
                <a:ea typeface="Agrandir"/>
                <a:cs typeface="Agrandir"/>
                <a:sym typeface="Agrandir"/>
              </a:rPr>
              <a:t>     Mengubah data menjadi stasioner dengan differencing</a:t>
            </a:r>
          </a:p>
          <a:p>
            <a:pPr marL="776037" lvl="1" indent="-388018" algn="l">
              <a:lnSpc>
                <a:spcPts val="4816"/>
              </a:lnSpc>
              <a:buFont typeface="Arial"/>
              <a:buChar char="•"/>
            </a:pPr>
            <a:r>
              <a:rPr lang="en-US" sz="3594">
                <a:solidFill>
                  <a:srgbClr val="000000"/>
                </a:solidFill>
                <a:latin typeface="Agrandir"/>
                <a:ea typeface="Agrandir"/>
                <a:cs typeface="Agrandir"/>
                <a:sym typeface="Agrandir"/>
              </a:rPr>
              <a:t>MA (Moving Average):</a:t>
            </a:r>
          </a:p>
          <a:p>
            <a:pPr algn="l">
              <a:lnSpc>
                <a:spcPts val="4816"/>
              </a:lnSpc>
            </a:pPr>
            <a:r>
              <a:rPr lang="en-US" sz="3594">
                <a:solidFill>
                  <a:srgbClr val="000000"/>
                </a:solidFill>
                <a:latin typeface="Agrandir"/>
                <a:ea typeface="Agrandir"/>
                <a:cs typeface="Agrandir"/>
                <a:sym typeface="Agrandir"/>
              </a:rPr>
              <a:t>     Mengoreksi kesalahan prediksi dari periode sebelumnya untuk memperbaiki prediksi di periode berikutnya</a:t>
            </a:r>
          </a:p>
          <a:p>
            <a:pPr marL="776037" lvl="1" indent="-388018" algn="l">
              <a:lnSpc>
                <a:spcPts val="4816"/>
              </a:lnSpc>
              <a:buFont typeface="Arial"/>
              <a:buChar char="•"/>
            </a:pPr>
            <a:r>
              <a:rPr lang="en-US" sz="3594">
                <a:solidFill>
                  <a:srgbClr val="000000"/>
                </a:solidFill>
                <a:latin typeface="Agrandir"/>
                <a:ea typeface="Agrandir"/>
                <a:cs typeface="Agrandir"/>
                <a:sym typeface="Agrandir"/>
              </a:rPr>
              <a:t>S (Seasonal):</a:t>
            </a:r>
          </a:p>
          <a:p>
            <a:pPr algn="l">
              <a:lnSpc>
                <a:spcPts val="4816"/>
              </a:lnSpc>
            </a:pPr>
            <a:r>
              <a:rPr lang="en-US" sz="3594">
                <a:solidFill>
                  <a:srgbClr val="000000"/>
                </a:solidFill>
                <a:latin typeface="Agrandir"/>
                <a:ea typeface="Agrandir"/>
                <a:cs typeface="Agrandir"/>
                <a:sym typeface="Agrandir"/>
              </a:rPr>
              <a:t>     Menangani pola musiman berulang (misalnya per tahun atau per kuartal)</a:t>
            </a:r>
          </a:p>
          <a:p>
            <a:pPr algn="l">
              <a:lnSpc>
                <a:spcPts val="4816"/>
              </a:lnSpc>
            </a:pPr>
            <a:endParaRPr lang="en-US" sz="3594">
              <a:solidFill>
                <a:srgbClr val="000000"/>
              </a:solidFill>
              <a:latin typeface="Agrandir"/>
              <a:ea typeface="Agrandir"/>
              <a:cs typeface="Agrandir"/>
              <a:sym typeface="Agrandir"/>
            </a:endParaRPr>
          </a:p>
        </p:txBody>
      </p:sp>
      <p:sp>
        <p:nvSpPr>
          <p:cNvPr id="11" name="Freeform 11"/>
          <p:cNvSpPr/>
          <p:nvPr/>
        </p:nvSpPr>
        <p:spPr>
          <a:xfrm>
            <a:off x="14158294" y="0"/>
            <a:ext cx="4001643" cy="4114800"/>
          </a:xfrm>
          <a:custGeom>
            <a:rect l="l" t="t" r="r" b="b"/>
            <a:pathLst>
              <a:path w="4001642" h="4114800">
                <a:moveTo>
                  <a:pt x="0" y="0"/>
                </a:moveTo>
                <a:lnTo>
                  <a:pt x="4001643" y="0"/>
                </a:lnTo>
                <a:lnTo>
                  <a:pt x="4001643"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p:txBody>
      </p:sp>
      <p:sp>
        <p:nvSpPr>
          <p:cNvPr id="12" name="TextBox 12"/>
          <p:cNvSpPr txBox="1"/>
          <p:nvPr/>
        </p:nvSpPr>
        <p:spPr>
          <a:xfrm>
            <a:off x="1369037" y="706576"/>
            <a:ext cx="14240317" cy="240538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SARIMA (Seasonal Auto-Regressive Integrated Moving Average)</a:t>
            </a:r>
          </a:p>
          <a:p>
            <a:pPr algn="ctr">
              <a:lnSpc>
                <a:spcPts val="5884"/>
              </a:lnSpc>
            </a:pPr>
            <a:endParaRPr lang="en-US" sz="5499" b="1">
              <a:solidFill>
                <a:srgbClr val="FFFFFF"/>
              </a:solidFill>
              <a:latin typeface="Agrandir Bold"/>
              <a:ea typeface="Agrandir Bold"/>
              <a:cs typeface="Agrandir Bold"/>
              <a:sym typeface="Agrandir Bold"/>
            </a:endParaRP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p:txBody>
      </p:sp>
      <p:sp>
        <p:nvSpPr>
          <p:cNvPr id="5" name="Freeform 5"/>
          <p:cNvSpPr/>
          <p:nvPr/>
        </p:nvSpPr>
        <p:spPr>
          <a:xfrm>
            <a:off x="0" y="0"/>
            <a:ext cx="18678443" cy="12444513"/>
          </a:xfrm>
          <a:custGeom>
            <a:rect l="l" t="t" r="r" b="b"/>
            <a:pathLst>
              <a:path w="18678443" h="12444513">
                <a:moveTo>
                  <a:pt x="0" y="0"/>
                </a:moveTo>
                <a:lnTo>
                  <a:pt x="18678443" y="0"/>
                </a:lnTo>
                <a:lnTo>
                  <a:pt x="18678443" y="12444513"/>
                </a:lnTo>
                <a:lnTo>
                  <a:pt x="0" y="12444513"/>
                </a:lnTo>
                <a:lnTo>
                  <a:pt x="0" y="0"/>
                </a:lnTo>
                <a:close/>
              </a:path>
            </a:pathLst>
          </a:custGeom>
          <a:blipFill>
            <a:blip r:embed="rId7">
              <a:alphaModFix amt="43999"/>
            </a:blip>
            <a:stretch>
              <a:fillRect/>
            </a:stretch>
          </a:blipFill>
        </p:spPr>
        <p:txBody>
          <a:bodyPr/>
          <a:lstStyle/>
          <a:p/>
        </p:txBody>
      </p:sp>
      <p:grpSp>
        <p:nvGrpSpPr>
          <p:cNvPr id="6" name="Group 6"/>
          <p:cNvGrpSpPr/>
          <p:nvPr/>
        </p:nvGrpSpPr>
        <p:grpSpPr>
          <a:xfrm>
            <a:off x="1794577" y="2541572"/>
            <a:ext cx="14698845" cy="6884280"/>
            <a:chExt cx="3871301" cy="1813144"/>
          </a:xfrm>
        </p:grpSpPr>
        <p:sp>
          <p:nvSpPr>
            <p:cNvPr id="7" name="Freeform 7"/>
            <p:cNvSpPr/>
            <p:nvPr/>
          </p:nvSpPr>
          <p:spPr>
            <a:xfrm>
              <a:off x="0" y="0"/>
              <a:ext cx="3871301" cy="1813144"/>
            </a:xfrm>
            <a:custGeom>
              <a:rect l="l" t="t" r="r" b="b"/>
              <a:pathLst>
                <a:path w="3871301" h="1813143">
                  <a:moveTo>
                    <a:pt x="26862" y="0"/>
                  </a:moveTo>
                  <a:lnTo>
                    <a:pt x="3844439" y="0"/>
                  </a:lnTo>
                  <a:cubicBezTo>
                    <a:pt x="3851563" y="0"/>
                    <a:pt x="3858396" y="2830"/>
                    <a:pt x="3863433" y="7868"/>
                  </a:cubicBezTo>
                  <a:cubicBezTo>
                    <a:pt x="3868471" y="12905"/>
                    <a:pt x="3871301" y="19738"/>
                    <a:pt x="3871301" y="26862"/>
                  </a:cubicBezTo>
                  <a:lnTo>
                    <a:pt x="3871301" y="1786282"/>
                  </a:lnTo>
                  <a:cubicBezTo>
                    <a:pt x="3871301" y="1793406"/>
                    <a:pt x="3868471" y="1800239"/>
                    <a:pt x="3863433" y="1805276"/>
                  </a:cubicBezTo>
                  <a:cubicBezTo>
                    <a:pt x="3858396" y="1810314"/>
                    <a:pt x="3851563" y="1813144"/>
                    <a:pt x="3844439" y="1813144"/>
                  </a:cubicBezTo>
                  <a:lnTo>
                    <a:pt x="26862" y="1813144"/>
                  </a:lnTo>
                  <a:cubicBezTo>
                    <a:pt x="19738" y="1813144"/>
                    <a:pt x="12905" y="1810314"/>
                    <a:pt x="7868" y="1805276"/>
                  </a:cubicBezTo>
                  <a:cubicBezTo>
                    <a:pt x="2830" y="1800239"/>
                    <a:pt x="0" y="1793406"/>
                    <a:pt x="0" y="1786282"/>
                  </a:cubicBezTo>
                  <a:lnTo>
                    <a:pt x="0" y="26862"/>
                  </a:lnTo>
                  <a:cubicBezTo>
                    <a:pt x="0" y="19738"/>
                    <a:pt x="2830" y="12905"/>
                    <a:pt x="7868" y="7868"/>
                  </a:cubicBezTo>
                  <a:cubicBezTo>
                    <a:pt x="12905" y="2830"/>
                    <a:pt x="19738" y="0"/>
                    <a:pt x="26862" y="0"/>
                  </a:cubicBezTo>
                  <a:close/>
                </a:path>
              </a:pathLst>
            </a:custGeom>
            <a:solidFill>
              <a:srgbClr val="FFFFFF"/>
            </a:solidFill>
          </p:spPr>
          <p:txBody>
            <a:bodyPr/>
            <a:lstStyle/>
            <a:p/>
          </p:txBody>
        </p:sp>
        <p:sp>
          <p:nvSpPr>
            <p:cNvPr id="8" name="TextBox 8"/>
            <p:cNvSpPr txBox="1"/>
            <p:nvPr/>
          </p:nvSpPr>
          <p:spPr>
            <a:xfrm>
              <a:off x="0" y="-85725"/>
              <a:ext cx="3871301" cy="1898869"/>
            </a:xfrm>
            <a:prstGeom prst="rect">
              <a:avLst/>
            </a:prstGeom>
          </p:spPr>
          <p:txBody>
            <a:bodyPr lIns="50800" tIns="50800" rIns="50800" bIns="50800" rtlCol="0" anchor="ctr"/>
            <a:lstStyle/>
            <a:p>
              <a:pPr algn="ctr">
                <a:lnSpc>
                  <a:spcPts val="2679"/>
                </a:lnSpc>
              </a:pPr>
            </a:p>
          </p:txBody>
        </p:sp>
      </p:grpSp>
      <p:sp>
        <p:nvSpPr>
          <p:cNvPr id="9" name="Freeform 9"/>
          <p:cNvSpPr/>
          <p:nvPr/>
        </p:nvSpPr>
        <p:spPr>
          <a:xfrm>
            <a:off x="3147740" y="3788362"/>
            <a:ext cx="11905322" cy="673309"/>
          </a:xfrm>
          <a:custGeom>
            <a:rect l="l" t="t" r="r" b="b"/>
            <a:pathLst>
              <a:path w="11905322" h="673309">
                <a:moveTo>
                  <a:pt x="0" y="0"/>
                </a:moveTo>
                <a:lnTo>
                  <a:pt x="11905322" y="0"/>
                </a:lnTo>
                <a:lnTo>
                  <a:pt x="11905322" y="673309"/>
                </a:lnTo>
                <a:lnTo>
                  <a:pt x="0" y="673309"/>
                </a:lnTo>
                <a:lnTo>
                  <a:pt x="0" y="0"/>
                </a:lnTo>
                <a:close/>
              </a:path>
            </a:pathLst>
          </a:custGeom>
          <a:blipFill>
            <a:blip r:embed="rId8"/>
            <a:stretch>
              <a:fillRect/>
            </a:stretch>
          </a:blipFill>
        </p:spPr>
        <p:txBody>
          <a:bodyPr/>
          <a:lstStyle/>
          <a:p/>
        </p:txBody>
      </p:sp>
      <p:sp>
        <p:nvSpPr>
          <p:cNvPr id="10" name="Freeform 10"/>
          <p:cNvSpPr/>
          <p:nvPr/>
        </p:nvSpPr>
        <p:spPr>
          <a:xfrm>
            <a:off x="14468993" y="1751347"/>
            <a:ext cx="1520994" cy="1330870"/>
          </a:xfrm>
          <a:custGeom>
            <a:rect l="l" t="t" r="r" b="b"/>
            <a:pathLst>
              <a:path w="1520994" h="1330870">
                <a:moveTo>
                  <a:pt x="0" y="0"/>
                </a:moveTo>
                <a:lnTo>
                  <a:pt x="1520994" y="0"/>
                </a:lnTo>
                <a:lnTo>
                  <a:pt x="1520994" y="1330870"/>
                </a:lnTo>
                <a:lnTo>
                  <a:pt x="0" y="133087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p:txBody>
      </p:sp>
      <p:sp>
        <p:nvSpPr>
          <p:cNvPr id="11" name="TextBox 11"/>
          <p:cNvSpPr txBox="1"/>
          <p:nvPr/>
        </p:nvSpPr>
        <p:spPr>
          <a:xfrm>
            <a:off x="2242945" y="2646750"/>
            <a:ext cx="6443644" cy="718535"/>
          </a:xfrm>
          <a:prstGeom prst="rect">
            <a:avLst/>
          </a:prstGeom>
        </p:spPr>
        <p:txBody>
          <a:bodyPr lIns="0" tIns="0" rIns="0" bIns="0" rtlCol="0" anchor="t">
            <a:spAutoFit/>
          </a:bodyPr>
          <a:lstStyle/>
          <a:p>
            <a:pPr algn="l">
              <a:lnSpc>
                <a:spcPts val="5094"/>
              </a:lnSpc>
            </a:pPr>
            <a:r>
              <a:rPr lang="en-US" sz="3801" b="1">
                <a:solidFill>
                  <a:srgbClr val="E85041"/>
                </a:solidFill>
                <a:latin typeface="Agrandir Bold"/>
                <a:ea typeface="Agrandir Bold"/>
                <a:cs typeface="Agrandir Bold"/>
                <a:sym typeface="Agrandir Bold"/>
              </a:rPr>
              <a:t>Rumus SARIMA: </a:t>
            </a:r>
          </a:p>
        </p:txBody>
      </p:sp>
      <p:sp>
        <p:nvSpPr>
          <p:cNvPr id="12" name="TextBox 12"/>
          <p:cNvSpPr txBox="1"/>
          <p:nvPr/>
        </p:nvSpPr>
        <p:spPr>
          <a:xfrm>
            <a:off x="2082884" y="4860388"/>
            <a:ext cx="14122233" cy="4793206"/>
          </a:xfrm>
          <a:prstGeom prst="rect">
            <a:avLst/>
          </a:prstGeom>
        </p:spPr>
        <p:txBody>
          <a:bodyPr lIns="0" tIns="0" rIns="0" bIns="0" rtlCol="0" anchor="t">
            <a:spAutoFit/>
          </a:bodyPr>
          <a:lstStyle/>
          <a:p>
            <a:pPr algn="l">
              <a:lnSpc>
                <a:spcPts val="4146"/>
              </a:lnSpc>
            </a:pPr>
            <a:r>
              <a:rPr lang="en-US" sz="3094">
                <a:solidFill>
                  <a:srgbClr val="000000"/>
                </a:solidFill>
                <a:latin typeface="Agrandir"/>
                <a:ea typeface="Agrandir"/>
                <a:cs typeface="Agrandir"/>
                <a:sym typeface="Agrandir"/>
              </a:rPr>
              <a:t>Keterangan:</a:t>
            </a:r>
          </a:p>
          <a:p>
            <a:pPr marL="668088" lvl="1" indent="-334044" algn="l">
              <a:lnSpc>
                <a:spcPts val="4146"/>
              </a:lnSpc>
              <a:buAutoNum type="arabicPeriod"/>
            </a:pPr>
            <a:r>
              <a:rPr lang="en-US" sz="3094">
                <a:solidFill>
                  <a:srgbClr val="000000"/>
                </a:solidFill>
                <a:latin typeface="Agrandir"/>
                <a:ea typeface="Agrandir"/>
                <a:cs typeface="Agrandir"/>
                <a:sym typeface="Agrandir"/>
              </a:rPr>
              <a:t>s adalah panjang musiman (misalnya, s=12 untuk data bulanan dengan pola musiman tahunan).</a:t>
            </a:r>
          </a:p>
          <a:p>
            <a:pPr marL="668088" lvl="1" indent="-334044" algn="l">
              <a:lnSpc>
                <a:spcPts val="4146"/>
              </a:lnSpc>
              <a:buAutoNum type="arabicPeriod"/>
            </a:pPr>
            <a:r>
              <a:rPr lang="en-US" sz="3094">
                <a:solidFill>
                  <a:srgbClr val="000000"/>
                </a:solidFill>
                <a:latin typeface="Agrandir"/>
                <a:ea typeface="Agrandir"/>
                <a:cs typeface="Agrandir"/>
                <a:sym typeface="Agrandir"/>
              </a:rPr>
              <a:t>Bș adalah operator lag musiman.</a:t>
            </a:r>
          </a:p>
          <a:p>
            <a:pPr marL="668088" lvl="1" indent="-334044" algn="l">
              <a:lnSpc>
                <a:spcPts val="4146"/>
              </a:lnSpc>
              <a:buAutoNum type="arabicPeriod"/>
            </a:pPr>
            <a:r>
              <a:rPr lang="en-US" sz="3094">
                <a:solidFill>
                  <a:srgbClr val="000000"/>
                </a:solidFill>
                <a:latin typeface="Agrandir"/>
                <a:ea typeface="Agrandir"/>
                <a:cs typeface="Agrandir"/>
                <a:sym typeface="Agrandir"/>
              </a:rPr>
              <a:t>ϕ1,ϕ2,…,ϕp adalah koefisien autoregressive (AR).</a:t>
            </a:r>
          </a:p>
          <a:p>
            <a:pPr marL="668088" lvl="1" indent="-334044" algn="l">
              <a:lnSpc>
                <a:spcPts val="4146"/>
              </a:lnSpc>
              <a:buAutoNum type="arabicPeriod"/>
            </a:pPr>
            <a:r>
              <a:rPr lang="en-US" sz="3094">
                <a:solidFill>
                  <a:srgbClr val="000000"/>
                </a:solidFill>
                <a:latin typeface="Agrandir"/>
                <a:ea typeface="Agrandir"/>
                <a:cs typeface="Agrandir"/>
                <a:sym typeface="Agrandir"/>
              </a:rPr>
              <a:t>θ1,θ2,…,θq​ adalah koefisien moving average (MA).</a:t>
            </a:r>
          </a:p>
          <a:p>
            <a:pPr marL="668088" lvl="1" indent="-334044" algn="l">
              <a:lnSpc>
                <a:spcPts val="4146"/>
              </a:lnSpc>
              <a:buAutoNum type="arabicPeriod"/>
            </a:pPr>
            <a:r>
              <a:rPr lang="en-US" sz="3094">
                <a:solidFill>
                  <a:srgbClr val="000000"/>
                </a:solidFill>
                <a:latin typeface="Agrandir"/>
                <a:ea typeface="Agrandir"/>
                <a:cs typeface="Agrandir"/>
                <a:sym typeface="Agrandir"/>
              </a:rPr>
              <a:t>d adalah jumlah diferensiasi untuk membuat data stasioner.</a:t>
            </a:r>
          </a:p>
          <a:p>
            <a:pPr marL="668088" lvl="1" indent="-334044" algn="l">
              <a:lnSpc>
                <a:spcPts val="4146"/>
              </a:lnSpc>
              <a:buAutoNum type="arabicPeriod"/>
            </a:pPr>
            <a:r>
              <a:rPr lang="en-US" sz="3094">
                <a:solidFill>
                  <a:srgbClr val="000000"/>
                </a:solidFill>
                <a:latin typeface="Agrandir"/>
                <a:ea typeface="Agrandir"/>
                <a:cs typeface="Agrandir"/>
                <a:sym typeface="Agrandir"/>
              </a:rPr>
              <a:t>ϵt adalah error pada waktu t.</a:t>
            </a:r>
          </a:p>
          <a:p>
            <a:pPr algn="l">
              <a:lnSpc>
                <a:spcPts val="4146"/>
              </a:lnSpc>
            </a:pPr>
            <a:endParaRPr lang="en-US" sz="3094">
              <a:solidFill>
                <a:srgbClr val="000000"/>
              </a:solidFill>
              <a:latin typeface="Agrandir"/>
              <a:ea typeface="Agrandir"/>
              <a:cs typeface="Agrandir"/>
              <a:sym typeface="Agrandir"/>
            </a:endParaRPr>
          </a:p>
        </p:txBody>
      </p:sp>
      <p:sp>
        <p:nvSpPr>
          <p:cNvPr id="13" name="TextBox 13"/>
          <p:cNvSpPr txBox="1"/>
          <p:nvPr/>
        </p:nvSpPr>
        <p:spPr>
          <a:xfrm>
            <a:off x="2253106" y="676837"/>
            <a:ext cx="14240317" cy="240538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SARIMA (Seasonal Auto-Regressive Integrated Moving Average)</a:t>
            </a:r>
          </a:p>
          <a:p>
            <a:pPr algn="ctr">
              <a:lnSpc>
                <a:spcPts val="5884"/>
              </a:lnSpc>
            </a:pPr>
            <a:endParaRPr lang="en-US" sz="5499" b="1">
              <a:solidFill>
                <a:srgbClr val="FFFFFF"/>
              </a:solidFill>
              <a:latin typeface="Agrandir Bold"/>
              <a:ea typeface="Agrandir Bold"/>
              <a:cs typeface="Agrandir Bold"/>
              <a:sym typeface="Agrandir Bold"/>
            </a:endParaRPr>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3000"/>
            </a:blip>
            <a:stretch>
              <a:fillRect t="-9222" b="-9222"/>
            </a:stretch>
          </a:blipFill>
        </p:spPr>
        <p:txBody>
          <a:bodyPr/>
          <a:lstStyle/>
          <a:p/>
        </p:txBody>
      </p:sp>
      <p:sp>
        <p:nvSpPr>
          <p:cNvPr id="3" name="Freeform 3"/>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grpSp>
        <p:nvGrpSpPr>
          <p:cNvPr id="6" name="Group 6"/>
          <p:cNvGrpSpPr/>
          <p:nvPr/>
        </p:nvGrpSpPr>
        <p:grpSpPr>
          <a:xfrm>
            <a:off x="1794577" y="2541572"/>
            <a:ext cx="14698845" cy="5882590"/>
            <a:chExt cx="3871301" cy="1549324"/>
          </a:xfrm>
        </p:grpSpPr>
        <p:sp>
          <p:nvSpPr>
            <p:cNvPr id="7" name="Freeform 7"/>
            <p:cNvSpPr/>
            <p:nvPr/>
          </p:nvSpPr>
          <p:spPr>
            <a:xfrm>
              <a:off x="0" y="0"/>
              <a:ext cx="3871301" cy="1549324"/>
            </a:xfrm>
            <a:custGeom>
              <a:rect l="l" t="t" r="r" b="b"/>
              <a:pathLst>
                <a:path w="3871301" h="1549324">
                  <a:moveTo>
                    <a:pt x="26862" y="0"/>
                  </a:moveTo>
                  <a:lnTo>
                    <a:pt x="3844439" y="0"/>
                  </a:lnTo>
                  <a:cubicBezTo>
                    <a:pt x="3851563" y="0"/>
                    <a:pt x="3858396" y="2830"/>
                    <a:pt x="3863433" y="7868"/>
                  </a:cubicBezTo>
                  <a:cubicBezTo>
                    <a:pt x="3868471" y="12905"/>
                    <a:pt x="3871301" y="19738"/>
                    <a:pt x="3871301" y="26862"/>
                  </a:cubicBezTo>
                  <a:lnTo>
                    <a:pt x="3871301" y="1522462"/>
                  </a:lnTo>
                  <a:cubicBezTo>
                    <a:pt x="3871301" y="1529587"/>
                    <a:pt x="3868471" y="1536419"/>
                    <a:pt x="3863433" y="1541457"/>
                  </a:cubicBezTo>
                  <a:cubicBezTo>
                    <a:pt x="3858396" y="1546494"/>
                    <a:pt x="3851563" y="1549324"/>
                    <a:pt x="3844439" y="1549324"/>
                  </a:cubicBezTo>
                  <a:lnTo>
                    <a:pt x="26862" y="1549324"/>
                  </a:lnTo>
                  <a:cubicBezTo>
                    <a:pt x="19738" y="1549324"/>
                    <a:pt x="12905" y="1546494"/>
                    <a:pt x="7868" y="1541457"/>
                  </a:cubicBezTo>
                  <a:cubicBezTo>
                    <a:pt x="2830" y="1536419"/>
                    <a:pt x="0" y="1529587"/>
                    <a:pt x="0" y="1522462"/>
                  </a:cubicBezTo>
                  <a:lnTo>
                    <a:pt x="0" y="26862"/>
                  </a:lnTo>
                  <a:cubicBezTo>
                    <a:pt x="0" y="19738"/>
                    <a:pt x="2830" y="12905"/>
                    <a:pt x="7868" y="7868"/>
                  </a:cubicBezTo>
                  <a:cubicBezTo>
                    <a:pt x="12905" y="2830"/>
                    <a:pt x="19738" y="0"/>
                    <a:pt x="26862" y="0"/>
                  </a:cubicBezTo>
                  <a:close/>
                </a:path>
              </a:pathLst>
            </a:custGeom>
            <a:solidFill>
              <a:srgbClr val="FFFFFF"/>
            </a:solidFill>
          </p:spPr>
          <p:txBody>
            <a:bodyPr/>
            <a:lstStyle/>
            <a:p/>
          </p:txBody>
        </p:sp>
        <p:sp>
          <p:nvSpPr>
            <p:cNvPr id="8" name="TextBox 8"/>
            <p:cNvSpPr txBox="1"/>
            <p:nvPr/>
          </p:nvSpPr>
          <p:spPr>
            <a:xfrm>
              <a:off x="0" y="-85725"/>
              <a:ext cx="3871301" cy="1635049"/>
            </a:xfrm>
            <a:prstGeom prst="rect">
              <a:avLst/>
            </a:prstGeom>
          </p:spPr>
          <p:txBody>
            <a:bodyPr lIns="50800" tIns="50800" rIns="50800" bIns="50800" rtlCol="0" anchor="ctr"/>
            <a:lstStyle/>
            <a:p>
              <a:pPr algn="ctr">
                <a:lnSpc>
                  <a:spcPts val="2679"/>
                </a:lnSpc>
              </a:pPr>
            </a:p>
          </p:txBody>
        </p:sp>
      </p:grpSp>
      <p:sp>
        <p:nvSpPr>
          <p:cNvPr id="9" name="TextBox 9"/>
          <p:cNvSpPr txBox="1"/>
          <p:nvPr/>
        </p:nvSpPr>
        <p:spPr>
          <a:xfrm>
            <a:off x="2253106" y="3005028"/>
            <a:ext cx="13457641" cy="5828510"/>
          </a:xfrm>
          <a:prstGeom prst="rect">
            <a:avLst/>
          </a:prstGeom>
        </p:spPr>
        <p:txBody>
          <a:bodyPr lIns="0" tIns="0" rIns="0" bIns="0" rtlCol="0" anchor="t">
            <a:spAutoFit/>
          </a:bodyPr>
          <a:lstStyle/>
          <a:p>
            <a:pPr algn="just">
              <a:lnSpc>
                <a:spcPts val="5084"/>
              </a:lnSpc>
            </a:pPr>
            <a:r>
              <a:rPr lang="en-US" sz="3794">
                <a:solidFill>
                  <a:srgbClr val="000000"/>
                </a:solidFill>
                <a:latin typeface="Agrandir"/>
                <a:ea typeface="Agrandir"/>
                <a:cs typeface="Agrandir"/>
                <a:sym typeface="Agrandir"/>
              </a:rPr>
              <a:t>Metode peramalan yang digunakan untuk menangani data time series dengan memberikan bobot lebih besar pada data terbaru dan bobot yang lebih kecil pada data yang lebih lama. </a:t>
            </a:r>
          </a:p>
          <a:p>
            <a:pPr algn="just">
              <a:lnSpc>
                <a:spcPts val="5084"/>
              </a:lnSpc>
            </a:pPr>
            <a:r>
              <a:rPr lang="en-US" sz="3794">
                <a:solidFill>
                  <a:srgbClr val="000000"/>
                </a:solidFill>
                <a:latin typeface="Agrandir"/>
                <a:ea typeface="Agrandir"/>
                <a:cs typeface="Agrandir"/>
                <a:sym typeface="Agrandir"/>
              </a:rPr>
              <a:t>Keunggulan utama dari SES yaitu kesederhanaannya dan kemampuannya untuk menangani data dengan fluktuasi yang tidak terlalu kompleks.</a:t>
            </a:r>
          </a:p>
          <a:p>
            <a:pPr algn="just">
              <a:lnSpc>
                <a:spcPts val="5084"/>
              </a:lnSpc>
            </a:pPr>
            <a:r>
              <a:rPr lang="en-US" sz="3794">
                <a:solidFill>
                  <a:srgbClr val="000000"/>
                </a:solidFill>
                <a:latin typeface="Agrandir"/>
                <a:ea typeface="Agrandir"/>
                <a:cs typeface="Agrandir"/>
                <a:sym typeface="Agrandir"/>
              </a:rPr>
              <a:t>    </a:t>
            </a:r>
          </a:p>
          <a:p>
            <a:pPr algn="just">
              <a:lnSpc>
                <a:spcPts val="5084"/>
              </a:lnSpc>
            </a:pPr>
            <a:endParaRPr lang="en-US" sz="3794">
              <a:solidFill>
                <a:srgbClr val="000000"/>
              </a:solidFill>
              <a:latin typeface="Agrandir"/>
              <a:ea typeface="Agrandir"/>
              <a:cs typeface="Agrandir"/>
              <a:sym typeface="Agrandir"/>
            </a:endParaRPr>
          </a:p>
        </p:txBody>
      </p:sp>
      <p:sp>
        <p:nvSpPr>
          <p:cNvPr id="10" name="TextBox 10"/>
          <p:cNvSpPr txBox="1"/>
          <p:nvPr/>
        </p:nvSpPr>
        <p:spPr>
          <a:xfrm>
            <a:off x="2253106" y="942975"/>
            <a:ext cx="14240317" cy="91948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Simple Exponential Smoothing (SES) </a:t>
            </a:r>
          </a:p>
        </p:txBody>
      </p:sp>
    </p:spTree>
  </p:cSld>
  <p:clrMapOvr>
    <a:masterClrMapping/>
  </p:clrMapOvr>
  <p:transition/>
  <p:timing/>
</p:sld>
</file>

<file path=ppt/slides/slide1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9265" y="77154"/>
            <a:ext cx="19046560" cy="12689771"/>
          </a:xfrm>
          <a:custGeom>
            <a:rect l="l" t="t" r="r" b="b"/>
            <a:pathLst>
              <a:path w="19046560" h="12689771">
                <a:moveTo>
                  <a:pt x="0" y="0"/>
                </a:moveTo>
                <a:lnTo>
                  <a:pt x="19046560" y="0"/>
                </a:lnTo>
                <a:lnTo>
                  <a:pt x="19046560" y="12689771"/>
                </a:lnTo>
                <a:lnTo>
                  <a:pt x="0" y="12689771"/>
                </a:lnTo>
                <a:lnTo>
                  <a:pt x="0" y="0"/>
                </a:lnTo>
                <a:close/>
              </a:path>
            </a:pathLst>
          </a:custGeom>
          <a:blipFill>
            <a:blip r:embed="rId4">
              <a:alphaModFix amt="43999"/>
            </a:blip>
            <a:stretch>
              <a:fillRect/>
            </a:stretch>
          </a:blipFill>
        </p:spPr>
        <p:txBody>
          <a:bodyPr/>
          <a:lstStyle/>
          <a:p/>
        </p:txBody>
      </p:sp>
      <p:sp>
        <p:nvSpPr>
          <p:cNvPr id="4" name="Freeform 4"/>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grpSp>
        <p:nvGrpSpPr>
          <p:cNvPr id="6" name="Group 6"/>
          <p:cNvGrpSpPr/>
          <p:nvPr/>
        </p:nvGrpSpPr>
        <p:grpSpPr>
          <a:xfrm>
            <a:off x="1794577" y="2541572"/>
            <a:ext cx="14698845" cy="5882590"/>
            <a:chExt cx="3871301" cy="1549324"/>
          </a:xfrm>
        </p:grpSpPr>
        <p:sp>
          <p:nvSpPr>
            <p:cNvPr id="7" name="Freeform 7"/>
            <p:cNvSpPr/>
            <p:nvPr/>
          </p:nvSpPr>
          <p:spPr>
            <a:xfrm>
              <a:off x="0" y="0"/>
              <a:ext cx="3871301" cy="1549324"/>
            </a:xfrm>
            <a:custGeom>
              <a:rect l="l" t="t" r="r" b="b"/>
              <a:pathLst>
                <a:path w="3871301" h="1549324">
                  <a:moveTo>
                    <a:pt x="26862" y="0"/>
                  </a:moveTo>
                  <a:lnTo>
                    <a:pt x="3844439" y="0"/>
                  </a:lnTo>
                  <a:cubicBezTo>
                    <a:pt x="3851563" y="0"/>
                    <a:pt x="3858396" y="2830"/>
                    <a:pt x="3863433" y="7868"/>
                  </a:cubicBezTo>
                  <a:cubicBezTo>
                    <a:pt x="3868471" y="12905"/>
                    <a:pt x="3871301" y="19738"/>
                    <a:pt x="3871301" y="26862"/>
                  </a:cubicBezTo>
                  <a:lnTo>
                    <a:pt x="3871301" y="1522462"/>
                  </a:lnTo>
                  <a:cubicBezTo>
                    <a:pt x="3871301" y="1529587"/>
                    <a:pt x="3868471" y="1536419"/>
                    <a:pt x="3863433" y="1541457"/>
                  </a:cubicBezTo>
                  <a:cubicBezTo>
                    <a:pt x="3858396" y="1546494"/>
                    <a:pt x="3851563" y="1549324"/>
                    <a:pt x="3844439" y="1549324"/>
                  </a:cubicBezTo>
                  <a:lnTo>
                    <a:pt x="26862" y="1549324"/>
                  </a:lnTo>
                  <a:cubicBezTo>
                    <a:pt x="19738" y="1549324"/>
                    <a:pt x="12905" y="1546494"/>
                    <a:pt x="7868" y="1541457"/>
                  </a:cubicBezTo>
                  <a:cubicBezTo>
                    <a:pt x="2830" y="1536419"/>
                    <a:pt x="0" y="1529587"/>
                    <a:pt x="0" y="1522462"/>
                  </a:cubicBezTo>
                  <a:lnTo>
                    <a:pt x="0" y="26862"/>
                  </a:lnTo>
                  <a:cubicBezTo>
                    <a:pt x="0" y="19738"/>
                    <a:pt x="2830" y="12905"/>
                    <a:pt x="7868" y="7868"/>
                  </a:cubicBezTo>
                  <a:cubicBezTo>
                    <a:pt x="12905" y="2830"/>
                    <a:pt x="19738" y="0"/>
                    <a:pt x="26862" y="0"/>
                  </a:cubicBezTo>
                  <a:close/>
                </a:path>
              </a:pathLst>
            </a:custGeom>
            <a:solidFill>
              <a:srgbClr val="FFFFFF"/>
            </a:solidFill>
          </p:spPr>
          <p:txBody>
            <a:bodyPr/>
            <a:lstStyle/>
            <a:p/>
          </p:txBody>
        </p:sp>
        <p:sp>
          <p:nvSpPr>
            <p:cNvPr id="8" name="TextBox 8"/>
            <p:cNvSpPr txBox="1"/>
            <p:nvPr/>
          </p:nvSpPr>
          <p:spPr>
            <a:xfrm>
              <a:off x="0" y="-85725"/>
              <a:ext cx="3871301" cy="1635049"/>
            </a:xfrm>
            <a:prstGeom prst="rect">
              <a:avLst/>
            </a:prstGeom>
          </p:spPr>
          <p:txBody>
            <a:bodyPr lIns="50800" tIns="50800" rIns="50800" bIns="50800" rtlCol="0" anchor="ctr"/>
            <a:lstStyle/>
            <a:p>
              <a:pPr algn="ctr">
                <a:lnSpc>
                  <a:spcPts val="2679"/>
                </a:lnSpc>
              </a:pPr>
            </a:p>
          </p:txBody>
        </p:sp>
      </p:grpSp>
      <p:sp>
        <p:nvSpPr>
          <p:cNvPr id="9" name="TextBox 9"/>
          <p:cNvSpPr txBox="1"/>
          <p:nvPr/>
        </p:nvSpPr>
        <p:spPr>
          <a:xfrm>
            <a:off x="2242945" y="2646750"/>
            <a:ext cx="6443644" cy="718535"/>
          </a:xfrm>
          <a:prstGeom prst="rect">
            <a:avLst/>
          </a:prstGeom>
        </p:spPr>
        <p:txBody>
          <a:bodyPr lIns="0" tIns="0" rIns="0" bIns="0" rtlCol="0" anchor="t">
            <a:spAutoFit/>
          </a:bodyPr>
          <a:lstStyle/>
          <a:p>
            <a:pPr algn="l">
              <a:lnSpc>
                <a:spcPts val="5094"/>
              </a:lnSpc>
            </a:pPr>
            <a:r>
              <a:rPr lang="en-US" sz="3801" b="1">
                <a:solidFill>
                  <a:srgbClr val="E85041"/>
                </a:solidFill>
                <a:latin typeface="Agrandir Bold"/>
                <a:ea typeface="Agrandir Bold"/>
                <a:cs typeface="Agrandir Bold"/>
                <a:sym typeface="Agrandir Bold"/>
              </a:rPr>
              <a:t>Cara Kerja : </a:t>
            </a:r>
          </a:p>
        </p:txBody>
      </p:sp>
      <p:sp>
        <p:nvSpPr>
          <p:cNvPr id="10" name="TextBox 10"/>
          <p:cNvSpPr txBox="1"/>
          <p:nvPr/>
        </p:nvSpPr>
        <p:spPr>
          <a:xfrm>
            <a:off x="2185915" y="3397358"/>
            <a:ext cx="13916171" cy="5877913"/>
          </a:xfrm>
          <a:prstGeom prst="rect">
            <a:avLst/>
          </a:prstGeom>
        </p:spPr>
        <p:txBody>
          <a:bodyPr lIns="0" tIns="0" rIns="0" bIns="0" rtlCol="0" anchor="t">
            <a:spAutoFit/>
          </a:bodyPr>
          <a:lstStyle/>
          <a:p>
            <a:pPr algn="just">
              <a:lnSpc>
                <a:spcPts val="5352"/>
              </a:lnSpc>
            </a:pPr>
            <a:r>
              <a:rPr lang="en-US" sz="3994">
                <a:solidFill>
                  <a:srgbClr val="000000"/>
                </a:solidFill>
                <a:latin typeface="Agrandir"/>
                <a:ea typeface="Agrandir"/>
                <a:cs typeface="Agrandir"/>
                <a:sym typeface="Agrandir"/>
              </a:rPr>
              <a:t>Model Simple Exponential Smoothing (SES) memberikan bobot lebih besar pada data terbaru dan lebih kecil pada data lama menggunakan nilai alpha (α). Semakin besar nilai alpha, semakin besar pengaruh data terbaru terhadap prediksi. Sebaliknya, alpha yang kecil membuat model lebih stabil namun kurang responsif terhadap perubahan.</a:t>
            </a:r>
          </a:p>
          <a:p>
            <a:pPr algn="just">
              <a:lnSpc>
                <a:spcPts val="4548"/>
              </a:lnSpc>
            </a:pPr>
            <a:endParaRPr lang="en-US" sz="3994">
              <a:solidFill>
                <a:srgbClr val="000000"/>
              </a:solidFill>
              <a:latin typeface="Agrandir"/>
              <a:ea typeface="Agrandir"/>
              <a:cs typeface="Agrandir"/>
              <a:sym typeface="Agrandir"/>
            </a:endParaRPr>
          </a:p>
          <a:p>
            <a:pPr algn="just">
              <a:lnSpc>
                <a:spcPts val="4548"/>
              </a:lnSpc>
            </a:pPr>
            <a:r>
              <a:rPr lang="en-US" sz="3394">
                <a:solidFill>
                  <a:srgbClr val="000000"/>
                </a:solidFill>
                <a:latin typeface="Agrandir"/>
                <a:ea typeface="Agrandir"/>
                <a:cs typeface="Agrandir"/>
                <a:sym typeface="Agrandir"/>
              </a:rPr>
              <a:t>    </a:t>
            </a:r>
          </a:p>
          <a:p>
            <a:pPr algn="just">
              <a:lnSpc>
                <a:spcPts val="4548"/>
              </a:lnSpc>
            </a:pPr>
            <a:endParaRPr lang="en-US" sz="3394">
              <a:solidFill>
                <a:srgbClr val="000000"/>
              </a:solidFill>
              <a:latin typeface="Agrandir"/>
              <a:ea typeface="Agrandir"/>
              <a:cs typeface="Agrandir"/>
              <a:sym typeface="Agrandir"/>
            </a:endParaRPr>
          </a:p>
        </p:txBody>
      </p:sp>
      <p:sp>
        <p:nvSpPr>
          <p:cNvPr id="11" name="TextBox 11"/>
          <p:cNvSpPr txBox="1"/>
          <p:nvPr/>
        </p:nvSpPr>
        <p:spPr>
          <a:xfrm>
            <a:off x="2253106" y="942975"/>
            <a:ext cx="14240317" cy="91948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Simple Exponential Smoothing (SES) </a:t>
            </a:r>
          </a:p>
        </p:txBody>
      </p:sp>
    </p:spTree>
  </p:cSld>
  <p:clrMapOvr>
    <a:masterClrMapping/>
  </p:clrMapOvr>
  <p:transition/>
  <p:timing/>
</p:sld>
</file>

<file path=ppt/slides/slide1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p:txBody>
      </p:sp>
      <p:sp>
        <p:nvSpPr>
          <p:cNvPr id="5" name="Freeform 5"/>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7">
              <a:alphaModFix amt="34000"/>
            </a:blip>
            <a:stretch>
              <a:fillRect t="-9222" b="-9222"/>
            </a:stretch>
          </a:blipFill>
        </p:spPr>
        <p:txBody>
          <a:bodyPr/>
          <a:lstStyle/>
          <a:p/>
        </p:txBody>
      </p:sp>
      <p:grpSp>
        <p:nvGrpSpPr>
          <p:cNvPr id="6" name="Group 6"/>
          <p:cNvGrpSpPr/>
          <p:nvPr/>
        </p:nvGrpSpPr>
        <p:grpSpPr>
          <a:xfrm>
            <a:off x="2595720" y="2447289"/>
            <a:ext cx="13353718" cy="4543919"/>
            <a:chExt cx="3517029" cy="1196752"/>
          </a:xfrm>
        </p:grpSpPr>
        <p:sp>
          <p:nvSpPr>
            <p:cNvPr id="7" name="Freeform 7"/>
            <p:cNvSpPr/>
            <p:nvPr/>
          </p:nvSpPr>
          <p:spPr>
            <a:xfrm>
              <a:off x="0" y="0"/>
              <a:ext cx="3517029" cy="1196752"/>
            </a:xfrm>
            <a:custGeom>
              <a:rect l="l" t="t" r="r" b="b"/>
              <a:pathLst>
                <a:path w="3517029" h="1196752">
                  <a:moveTo>
                    <a:pt x="29568" y="0"/>
                  </a:moveTo>
                  <a:lnTo>
                    <a:pt x="3487462" y="0"/>
                  </a:lnTo>
                  <a:cubicBezTo>
                    <a:pt x="3503791" y="0"/>
                    <a:pt x="3517029" y="13238"/>
                    <a:pt x="3517029" y="29568"/>
                  </a:cubicBezTo>
                  <a:lnTo>
                    <a:pt x="3517029" y="1167185"/>
                  </a:lnTo>
                  <a:cubicBezTo>
                    <a:pt x="3517029" y="1183514"/>
                    <a:pt x="3503791" y="1196752"/>
                    <a:pt x="3487462" y="1196752"/>
                  </a:cubicBezTo>
                  <a:lnTo>
                    <a:pt x="29568" y="1196752"/>
                  </a:lnTo>
                  <a:cubicBezTo>
                    <a:pt x="13238" y="1196752"/>
                    <a:pt x="0" y="1183514"/>
                    <a:pt x="0" y="1167185"/>
                  </a:cubicBezTo>
                  <a:lnTo>
                    <a:pt x="0" y="29568"/>
                  </a:lnTo>
                  <a:cubicBezTo>
                    <a:pt x="0" y="13238"/>
                    <a:pt x="13238" y="0"/>
                    <a:pt x="29568" y="0"/>
                  </a:cubicBezTo>
                  <a:close/>
                </a:path>
              </a:pathLst>
            </a:custGeom>
            <a:solidFill>
              <a:srgbClr val="FFFFFF"/>
            </a:solidFill>
          </p:spPr>
          <p:txBody>
            <a:bodyPr/>
            <a:lstStyle/>
            <a:p/>
          </p:txBody>
        </p:sp>
        <p:sp>
          <p:nvSpPr>
            <p:cNvPr id="8" name="TextBox 8"/>
            <p:cNvSpPr txBox="1"/>
            <p:nvPr/>
          </p:nvSpPr>
          <p:spPr>
            <a:xfrm>
              <a:off x="0" y="-85725"/>
              <a:ext cx="3517029" cy="1282477"/>
            </a:xfrm>
            <a:prstGeom prst="rect">
              <a:avLst/>
            </a:prstGeom>
          </p:spPr>
          <p:txBody>
            <a:bodyPr lIns="50800" tIns="50800" rIns="50800" bIns="50800" rtlCol="0" anchor="ctr"/>
            <a:lstStyle/>
            <a:p>
              <a:pPr algn="ctr">
                <a:lnSpc>
                  <a:spcPts val="2679"/>
                </a:lnSpc>
              </a:pPr>
            </a:p>
          </p:txBody>
        </p:sp>
      </p:grpSp>
      <p:sp>
        <p:nvSpPr>
          <p:cNvPr id="9" name="TextBox 9"/>
          <p:cNvSpPr txBox="1"/>
          <p:nvPr/>
        </p:nvSpPr>
        <p:spPr>
          <a:xfrm>
            <a:off x="3069423" y="3704866"/>
            <a:ext cx="12202691" cy="5877913"/>
          </a:xfrm>
          <a:prstGeom prst="rect">
            <a:avLst/>
          </a:prstGeom>
        </p:spPr>
        <p:txBody>
          <a:bodyPr lIns="0" tIns="0" rIns="0" bIns="0" rtlCol="0" anchor="t">
            <a:spAutoFit/>
          </a:bodyPr>
          <a:lstStyle/>
          <a:p>
            <a:pPr algn="just">
              <a:lnSpc>
                <a:spcPts val="5352"/>
              </a:lnSpc>
            </a:pPr>
            <a:r>
              <a:rPr lang="en-US" sz="3994">
                <a:solidFill>
                  <a:srgbClr val="000000"/>
                </a:solidFill>
                <a:latin typeface="Agrandir"/>
                <a:ea typeface="Agrandir"/>
                <a:cs typeface="Agrandir"/>
                <a:sym typeface="Agrandir"/>
              </a:rPr>
              <a:t>Nilai Alpha (α) apabila mendekati 1 → Sangat responsif, cepat berubah</a:t>
            </a:r>
          </a:p>
          <a:p>
            <a:pPr algn="just">
              <a:lnSpc>
                <a:spcPts val="5352"/>
              </a:lnSpc>
            </a:pPr>
            <a:r>
              <a:rPr lang="en-US" sz="3994">
                <a:solidFill>
                  <a:srgbClr val="000000"/>
                </a:solidFill>
                <a:latin typeface="Agrandir"/>
                <a:ea typeface="Agrandir"/>
                <a:cs typeface="Agrandir"/>
                <a:sym typeface="Agrandir"/>
              </a:rPr>
              <a:t>apabila α mendekati 0 → Lebih stabil, lambat merespons</a:t>
            </a:r>
          </a:p>
          <a:p>
            <a:pPr algn="just">
              <a:lnSpc>
                <a:spcPts val="5352"/>
              </a:lnSpc>
            </a:pPr>
            <a:endParaRPr lang="en-US" sz="3994">
              <a:solidFill>
                <a:srgbClr val="000000"/>
              </a:solidFill>
              <a:latin typeface="Agrandir"/>
              <a:ea typeface="Agrandir"/>
              <a:cs typeface="Agrandir"/>
              <a:sym typeface="Agrandir"/>
            </a:endParaRPr>
          </a:p>
          <a:p>
            <a:pPr algn="just">
              <a:lnSpc>
                <a:spcPts val="5352"/>
              </a:lnSpc>
            </a:pPr>
            <a:endParaRPr lang="en-US" sz="3994">
              <a:solidFill>
                <a:srgbClr val="000000"/>
              </a:solidFill>
              <a:latin typeface="Agrandir"/>
              <a:ea typeface="Agrandir"/>
              <a:cs typeface="Agrandir"/>
              <a:sym typeface="Agrandir"/>
            </a:endParaRPr>
          </a:p>
          <a:p>
            <a:pPr algn="just">
              <a:lnSpc>
                <a:spcPts val="4548"/>
              </a:lnSpc>
            </a:pPr>
            <a:endParaRPr lang="en-US" sz="3994">
              <a:solidFill>
                <a:srgbClr val="000000"/>
              </a:solidFill>
              <a:latin typeface="Agrandir"/>
              <a:ea typeface="Agrandir"/>
              <a:cs typeface="Agrandir"/>
              <a:sym typeface="Agrandir"/>
            </a:endParaRPr>
          </a:p>
          <a:p>
            <a:pPr algn="just">
              <a:lnSpc>
                <a:spcPts val="4548"/>
              </a:lnSpc>
            </a:pPr>
            <a:r>
              <a:rPr lang="en-US" sz="3394">
                <a:solidFill>
                  <a:srgbClr val="000000"/>
                </a:solidFill>
                <a:latin typeface="Agrandir"/>
                <a:ea typeface="Agrandir"/>
                <a:cs typeface="Agrandir"/>
                <a:sym typeface="Agrandir"/>
              </a:rPr>
              <a:t>    </a:t>
            </a:r>
          </a:p>
          <a:p>
            <a:pPr algn="just">
              <a:lnSpc>
                <a:spcPts val="4548"/>
              </a:lnSpc>
            </a:pPr>
            <a:endParaRPr lang="en-US" sz="3394">
              <a:solidFill>
                <a:srgbClr val="000000"/>
              </a:solidFill>
              <a:latin typeface="Agrandir"/>
              <a:ea typeface="Agrandir"/>
              <a:cs typeface="Agrandir"/>
              <a:sym typeface="Agrandir"/>
            </a:endParaRPr>
          </a:p>
        </p:txBody>
      </p:sp>
      <p:grpSp>
        <p:nvGrpSpPr>
          <p:cNvPr id="10" name="Group 10"/>
          <p:cNvGrpSpPr/>
          <p:nvPr/>
        </p:nvGrpSpPr>
        <p:grpSpPr>
          <a:xfrm>
            <a:off x="2595720" y="7572233"/>
            <a:ext cx="13353718" cy="2014382"/>
            <a:chExt cx="3517029" cy="530537"/>
          </a:xfrm>
        </p:grpSpPr>
        <p:sp>
          <p:nvSpPr>
            <p:cNvPr id="11" name="Freeform 11"/>
            <p:cNvSpPr/>
            <p:nvPr/>
          </p:nvSpPr>
          <p:spPr>
            <a:xfrm>
              <a:off x="0" y="0"/>
              <a:ext cx="3517029" cy="530537"/>
            </a:xfrm>
            <a:custGeom>
              <a:rect l="l" t="t" r="r" b="b"/>
              <a:pathLst>
                <a:path w="3517029" h="530537">
                  <a:moveTo>
                    <a:pt x="29568" y="0"/>
                  </a:moveTo>
                  <a:lnTo>
                    <a:pt x="3487462" y="0"/>
                  </a:lnTo>
                  <a:cubicBezTo>
                    <a:pt x="3503791" y="0"/>
                    <a:pt x="3517029" y="13238"/>
                    <a:pt x="3517029" y="29568"/>
                  </a:cubicBezTo>
                  <a:lnTo>
                    <a:pt x="3517029" y="500969"/>
                  </a:lnTo>
                  <a:cubicBezTo>
                    <a:pt x="3517029" y="508811"/>
                    <a:pt x="3513914" y="516332"/>
                    <a:pt x="3508369" y="521877"/>
                  </a:cubicBezTo>
                  <a:cubicBezTo>
                    <a:pt x="3502824" y="527422"/>
                    <a:pt x="3495303" y="530537"/>
                    <a:pt x="3487462" y="530537"/>
                  </a:cubicBezTo>
                  <a:lnTo>
                    <a:pt x="29568" y="530537"/>
                  </a:lnTo>
                  <a:cubicBezTo>
                    <a:pt x="13238" y="530537"/>
                    <a:pt x="0" y="517299"/>
                    <a:pt x="0" y="500969"/>
                  </a:cubicBezTo>
                  <a:lnTo>
                    <a:pt x="0" y="29568"/>
                  </a:lnTo>
                  <a:cubicBezTo>
                    <a:pt x="0" y="13238"/>
                    <a:pt x="13238" y="0"/>
                    <a:pt x="29568" y="0"/>
                  </a:cubicBezTo>
                  <a:close/>
                </a:path>
              </a:pathLst>
            </a:custGeom>
            <a:solidFill>
              <a:srgbClr val="FFFFFF"/>
            </a:solidFill>
          </p:spPr>
          <p:txBody>
            <a:bodyPr/>
            <a:lstStyle/>
            <a:p/>
          </p:txBody>
        </p:sp>
        <p:sp>
          <p:nvSpPr>
            <p:cNvPr id="12" name="TextBox 12"/>
            <p:cNvSpPr txBox="1"/>
            <p:nvPr/>
          </p:nvSpPr>
          <p:spPr>
            <a:xfrm>
              <a:off x="0" y="-85725"/>
              <a:ext cx="3517029" cy="616262"/>
            </a:xfrm>
            <a:prstGeom prst="rect">
              <a:avLst/>
            </a:prstGeom>
          </p:spPr>
          <p:txBody>
            <a:bodyPr lIns="50800" tIns="50800" rIns="50800" bIns="50800" rtlCol="0" anchor="ctr"/>
            <a:lstStyle/>
            <a:p>
              <a:pPr algn="ctr">
                <a:lnSpc>
                  <a:spcPts val="2679"/>
                </a:lnSpc>
              </a:pPr>
            </a:p>
          </p:txBody>
        </p:sp>
      </p:grpSp>
      <p:sp>
        <p:nvSpPr>
          <p:cNvPr id="13" name="TextBox 13"/>
          <p:cNvSpPr txBox="1"/>
          <p:nvPr/>
        </p:nvSpPr>
        <p:spPr>
          <a:xfrm>
            <a:off x="6181489" y="2612049"/>
            <a:ext cx="6443644" cy="718535"/>
          </a:xfrm>
          <a:prstGeom prst="rect">
            <a:avLst/>
          </a:prstGeom>
        </p:spPr>
        <p:txBody>
          <a:bodyPr lIns="0" tIns="0" rIns="0" bIns="0" rtlCol="0" anchor="t">
            <a:spAutoFit/>
          </a:bodyPr>
          <a:lstStyle/>
          <a:p>
            <a:pPr algn="l">
              <a:lnSpc>
                <a:spcPts val="5094"/>
              </a:lnSpc>
            </a:pPr>
            <a:r>
              <a:rPr lang="en-US" sz="3801" b="1">
                <a:solidFill>
                  <a:srgbClr val="E85041"/>
                </a:solidFill>
                <a:latin typeface="Agrandir Bold"/>
                <a:ea typeface="Agrandir Bold"/>
                <a:cs typeface="Agrandir Bold"/>
                <a:sym typeface="Agrandir Bold"/>
              </a:rPr>
              <a:t>Peran Alpha (α) dalam SES</a:t>
            </a:r>
          </a:p>
        </p:txBody>
      </p:sp>
      <p:sp>
        <p:nvSpPr>
          <p:cNvPr id="14" name="TextBox 14"/>
          <p:cNvSpPr txBox="1"/>
          <p:nvPr/>
        </p:nvSpPr>
        <p:spPr>
          <a:xfrm>
            <a:off x="2253106" y="942975"/>
            <a:ext cx="14240317" cy="91948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Simple Exponential Smoothing (SES) </a:t>
            </a:r>
          </a:p>
        </p:txBody>
      </p:sp>
      <p:sp>
        <p:nvSpPr>
          <p:cNvPr id="15" name="TextBox 15"/>
          <p:cNvSpPr txBox="1"/>
          <p:nvPr/>
        </p:nvSpPr>
        <p:spPr>
          <a:xfrm>
            <a:off x="3069423" y="6558097"/>
            <a:ext cx="12256227" cy="4525363"/>
          </a:xfrm>
          <a:prstGeom prst="rect">
            <a:avLst/>
          </a:prstGeom>
        </p:spPr>
        <p:txBody>
          <a:bodyPr lIns="0" tIns="0" rIns="0" bIns="0" rtlCol="0" anchor="t">
            <a:spAutoFit/>
          </a:bodyPr>
          <a:lstStyle/>
          <a:p>
            <a:pPr algn="just">
              <a:lnSpc>
                <a:spcPts val="5352"/>
              </a:lnSpc>
            </a:pPr>
          </a:p>
          <a:p>
            <a:pPr algn="just">
              <a:lnSpc>
                <a:spcPts val="5352"/>
              </a:lnSpc>
            </a:pPr>
          </a:p>
          <a:p>
            <a:pPr algn="just">
              <a:lnSpc>
                <a:spcPts val="5352"/>
              </a:lnSpc>
            </a:pPr>
            <a:r>
              <a:rPr lang="en-US" sz="3994">
                <a:solidFill>
                  <a:srgbClr val="000000"/>
                </a:solidFill>
                <a:latin typeface="Agrandir"/>
                <a:ea typeface="Agrandir"/>
                <a:cs typeface="Agrandir"/>
                <a:sym typeface="Agrandir"/>
              </a:rPr>
              <a:t>Alpha (α) adalah parameter smoothing, bernilai antara 0 dan 1</a:t>
            </a:r>
          </a:p>
          <a:p>
            <a:pPr algn="just">
              <a:lnSpc>
                <a:spcPts val="4548"/>
              </a:lnSpc>
            </a:pPr>
            <a:endParaRPr lang="en-US" sz="3994">
              <a:solidFill>
                <a:srgbClr val="000000"/>
              </a:solidFill>
              <a:latin typeface="Agrandir"/>
              <a:ea typeface="Agrandir"/>
              <a:cs typeface="Agrandir"/>
              <a:sym typeface="Agrandir"/>
            </a:endParaRPr>
          </a:p>
          <a:p>
            <a:pPr algn="just">
              <a:lnSpc>
                <a:spcPts val="4548"/>
              </a:lnSpc>
            </a:pPr>
            <a:r>
              <a:rPr lang="en-US" sz="3394">
                <a:solidFill>
                  <a:srgbClr val="000000"/>
                </a:solidFill>
                <a:latin typeface="Agrandir"/>
                <a:ea typeface="Agrandir"/>
                <a:cs typeface="Agrandir"/>
                <a:sym typeface="Agrandir"/>
              </a:rPr>
              <a:t>    </a:t>
            </a:r>
          </a:p>
          <a:p>
            <a:pPr algn="just">
              <a:lnSpc>
                <a:spcPts val="4548"/>
              </a:lnSpc>
            </a:pPr>
            <a:endParaRPr lang="en-US" sz="3394">
              <a:solidFill>
                <a:srgbClr val="000000"/>
              </a:solidFill>
              <a:latin typeface="Agrandir"/>
              <a:ea typeface="Agrandir"/>
              <a:cs typeface="Agrandir"/>
              <a:sym typeface="Agrandir"/>
            </a:endParaRPr>
          </a:p>
        </p:txBody>
      </p:sp>
    </p:spTree>
  </p:cSld>
  <p:clrMapOvr>
    <a:masterClrMapping/>
  </p:clrMapOvr>
  <p:transition/>
  <p:timing/>
</p:sld>
</file>

<file path=ppt/slides/slide16.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4">
              <a:alphaModFix amt="49000"/>
            </a:blip>
            <a:stretch>
              <a:fillRect t="-9222" b="-9222"/>
            </a:stretch>
          </a:blipFill>
        </p:spPr>
        <p:txBody>
          <a:bodyPr/>
          <a:lstStyle/>
          <a:p/>
        </p:txBody>
      </p:sp>
      <p:sp>
        <p:nvSpPr>
          <p:cNvPr id="4" name="Freeform 4"/>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grpSp>
        <p:nvGrpSpPr>
          <p:cNvPr id="6" name="Group 6"/>
          <p:cNvGrpSpPr/>
          <p:nvPr/>
        </p:nvGrpSpPr>
        <p:grpSpPr>
          <a:xfrm>
            <a:off x="1794577" y="2541572"/>
            <a:ext cx="14698845" cy="5140049"/>
            <a:chExt cx="3871301" cy="1353758"/>
          </a:xfrm>
        </p:grpSpPr>
        <p:sp>
          <p:nvSpPr>
            <p:cNvPr id="7" name="Freeform 7"/>
            <p:cNvSpPr/>
            <p:nvPr/>
          </p:nvSpPr>
          <p:spPr>
            <a:xfrm>
              <a:off x="0" y="0"/>
              <a:ext cx="3871301" cy="1353758"/>
            </a:xfrm>
            <a:custGeom>
              <a:rect l="l" t="t" r="r" b="b"/>
              <a:pathLst>
                <a:path w="3871301" h="1353758">
                  <a:moveTo>
                    <a:pt x="26862" y="0"/>
                  </a:moveTo>
                  <a:lnTo>
                    <a:pt x="3844439" y="0"/>
                  </a:lnTo>
                  <a:cubicBezTo>
                    <a:pt x="3851563" y="0"/>
                    <a:pt x="3858396" y="2830"/>
                    <a:pt x="3863433" y="7868"/>
                  </a:cubicBezTo>
                  <a:cubicBezTo>
                    <a:pt x="3868471" y="12905"/>
                    <a:pt x="3871301" y="19738"/>
                    <a:pt x="3871301" y="26862"/>
                  </a:cubicBezTo>
                  <a:lnTo>
                    <a:pt x="3871301" y="1326896"/>
                  </a:lnTo>
                  <a:cubicBezTo>
                    <a:pt x="3871301" y="1334020"/>
                    <a:pt x="3868471" y="1340853"/>
                    <a:pt x="3863433" y="1345890"/>
                  </a:cubicBezTo>
                  <a:cubicBezTo>
                    <a:pt x="3858396" y="1350928"/>
                    <a:pt x="3851563" y="1353758"/>
                    <a:pt x="3844439" y="1353758"/>
                  </a:cubicBezTo>
                  <a:lnTo>
                    <a:pt x="26862" y="1353758"/>
                  </a:lnTo>
                  <a:cubicBezTo>
                    <a:pt x="19738" y="1353758"/>
                    <a:pt x="12905" y="1350928"/>
                    <a:pt x="7868" y="1345890"/>
                  </a:cubicBezTo>
                  <a:cubicBezTo>
                    <a:pt x="2830" y="1340853"/>
                    <a:pt x="0" y="1334020"/>
                    <a:pt x="0" y="1326896"/>
                  </a:cubicBezTo>
                  <a:lnTo>
                    <a:pt x="0" y="26862"/>
                  </a:lnTo>
                  <a:cubicBezTo>
                    <a:pt x="0" y="19738"/>
                    <a:pt x="2830" y="12905"/>
                    <a:pt x="7868" y="7868"/>
                  </a:cubicBezTo>
                  <a:cubicBezTo>
                    <a:pt x="12905" y="2830"/>
                    <a:pt x="19738" y="0"/>
                    <a:pt x="26862" y="0"/>
                  </a:cubicBezTo>
                  <a:close/>
                </a:path>
              </a:pathLst>
            </a:custGeom>
            <a:solidFill>
              <a:srgbClr val="FFFFFF"/>
            </a:solidFill>
          </p:spPr>
          <p:txBody>
            <a:bodyPr/>
            <a:lstStyle/>
            <a:p/>
          </p:txBody>
        </p:sp>
        <p:sp>
          <p:nvSpPr>
            <p:cNvPr id="8" name="TextBox 8"/>
            <p:cNvSpPr txBox="1"/>
            <p:nvPr/>
          </p:nvSpPr>
          <p:spPr>
            <a:xfrm>
              <a:off x="0" y="-85725"/>
              <a:ext cx="3871301" cy="1439483"/>
            </a:xfrm>
            <a:prstGeom prst="rect">
              <a:avLst/>
            </a:prstGeom>
          </p:spPr>
          <p:txBody>
            <a:bodyPr lIns="50800" tIns="50800" rIns="50800" bIns="50800" rtlCol="0" anchor="ctr"/>
            <a:lstStyle/>
            <a:p>
              <a:pPr algn="ctr">
                <a:lnSpc>
                  <a:spcPts val="2679"/>
                </a:lnSpc>
              </a:pPr>
            </a:p>
          </p:txBody>
        </p:sp>
      </p:grpSp>
      <p:sp>
        <p:nvSpPr>
          <p:cNvPr id="9" name="Freeform 9"/>
          <p:cNvSpPr/>
          <p:nvPr/>
        </p:nvSpPr>
        <p:spPr>
          <a:xfrm>
            <a:off x="5662120" y="3249827"/>
            <a:ext cx="7422290" cy="845923"/>
          </a:xfrm>
          <a:custGeom>
            <a:rect l="l" t="t" r="r" b="b"/>
            <a:pathLst>
              <a:path w="7422290" h="845923">
                <a:moveTo>
                  <a:pt x="0" y="0"/>
                </a:moveTo>
                <a:lnTo>
                  <a:pt x="7422290" y="0"/>
                </a:lnTo>
                <a:lnTo>
                  <a:pt x="7422290" y="845923"/>
                </a:lnTo>
                <a:lnTo>
                  <a:pt x="0" y="845923"/>
                </a:lnTo>
                <a:lnTo>
                  <a:pt x="0" y="0"/>
                </a:lnTo>
                <a:close/>
              </a:path>
            </a:pathLst>
          </a:custGeom>
          <a:blipFill>
            <a:blip r:embed="rId8"/>
            <a:stretch>
              <a:fillRect/>
            </a:stretch>
          </a:blipFill>
        </p:spPr>
        <p:txBody>
          <a:bodyPr/>
          <a:lstStyle/>
          <a:p/>
        </p:txBody>
      </p:sp>
      <p:grpSp>
        <p:nvGrpSpPr>
          <p:cNvPr id="10" name="Group 10"/>
          <p:cNvGrpSpPr/>
          <p:nvPr/>
        </p:nvGrpSpPr>
        <p:grpSpPr>
          <a:xfrm>
            <a:off x="1803388" y="8035897"/>
            <a:ext cx="14698845" cy="1806589"/>
            <a:chExt cx="3871301" cy="475809"/>
          </a:xfrm>
        </p:grpSpPr>
        <p:sp>
          <p:nvSpPr>
            <p:cNvPr id="11" name="Freeform 11"/>
            <p:cNvSpPr/>
            <p:nvPr/>
          </p:nvSpPr>
          <p:spPr>
            <a:xfrm>
              <a:off x="0" y="0"/>
              <a:ext cx="3871301" cy="475809"/>
            </a:xfrm>
            <a:custGeom>
              <a:rect l="l" t="t" r="r" b="b"/>
              <a:pathLst>
                <a:path w="3871301" h="475809">
                  <a:moveTo>
                    <a:pt x="26862" y="0"/>
                  </a:moveTo>
                  <a:lnTo>
                    <a:pt x="3844439" y="0"/>
                  </a:lnTo>
                  <a:cubicBezTo>
                    <a:pt x="3851563" y="0"/>
                    <a:pt x="3858396" y="2830"/>
                    <a:pt x="3863433" y="7868"/>
                  </a:cubicBezTo>
                  <a:cubicBezTo>
                    <a:pt x="3868471" y="12905"/>
                    <a:pt x="3871301" y="19738"/>
                    <a:pt x="3871301" y="26862"/>
                  </a:cubicBezTo>
                  <a:lnTo>
                    <a:pt x="3871301" y="448948"/>
                  </a:lnTo>
                  <a:cubicBezTo>
                    <a:pt x="3871301" y="456072"/>
                    <a:pt x="3868471" y="462904"/>
                    <a:pt x="3863433" y="467942"/>
                  </a:cubicBezTo>
                  <a:cubicBezTo>
                    <a:pt x="3858396" y="472979"/>
                    <a:pt x="3851563" y="475809"/>
                    <a:pt x="3844439" y="475809"/>
                  </a:cubicBezTo>
                  <a:lnTo>
                    <a:pt x="26862" y="475809"/>
                  </a:lnTo>
                  <a:cubicBezTo>
                    <a:pt x="19738" y="475809"/>
                    <a:pt x="12905" y="472979"/>
                    <a:pt x="7868" y="467942"/>
                  </a:cubicBezTo>
                  <a:cubicBezTo>
                    <a:pt x="2830" y="462904"/>
                    <a:pt x="0" y="456072"/>
                    <a:pt x="0" y="448948"/>
                  </a:cubicBezTo>
                  <a:lnTo>
                    <a:pt x="0" y="26862"/>
                  </a:lnTo>
                  <a:cubicBezTo>
                    <a:pt x="0" y="19738"/>
                    <a:pt x="2830" y="12905"/>
                    <a:pt x="7868" y="7868"/>
                  </a:cubicBezTo>
                  <a:cubicBezTo>
                    <a:pt x="12905" y="2830"/>
                    <a:pt x="19738" y="0"/>
                    <a:pt x="26862" y="0"/>
                  </a:cubicBezTo>
                  <a:close/>
                </a:path>
              </a:pathLst>
            </a:custGeom>
            <a:solidFill>
              <a:srgbClr val="FFFFFF"/>
            </a:solidFill>
          </p:spPr>
          <p:txBody>
            <a:bodyPr/>
            <a:lstStyle/>
            <a:p/>
          </p:txBody>
        </p:sp>
        <p:sp>
          <p:nvSpPr>
            <p:cNvPr id="12" name="TextBox 12"/>
            <p:cNvSpPr txBox="1"/>
            <p:nvPr/>
          </p:nvSpPr>
          <p:spPr>
            <a:xfrm>
              <a:off x="0" y="-85725"/>
              <a:ext cx="3871301" cy="561534"/>
            </a:xfrm>
            <a:prstGeom prst="rect">
              <a:avLst/>
            </a:prstGeom>
          </p:spPr>
          <p:txBody>
            <a:bodyPr lIns="50800" tIns="50800" rIns="50800" bIns="50800" rtlCol="0" anchor="ctr"/>
            <a:lstStyle/>
            <a:p>
              <a:pPr algn="ctr">
                <a:lnSpc>
                  <a:spcPts val="2679"/>
                </a:lnSpc>
              </a:pPr>
            </a:p>
          </p:txBody>
        </p:sp>
      </p:grpSp>
      <p:sp>
        <p:nvSpPr>
          <p:cNvPr id="13" name="TextBox 13"/>
          <p:cNvSpPr txBox="1"/>
          <p:nvPr/>
        </p:nvSpPr>
        <p:spPr>
          <a:xfrm>
            <a:off x="2253106" y="2595195"/>
            <a:ext cx="12138968" cy="718535"/>
          </a:xfrm>
          <a:prstGeom prst="rect">
            <a:avLst/>
          </a:prstGeom>
        </p:spPr>
        <p:txBody>
          <a:bodyPr lIns="0" tIns="0" rIns="0" bIns="0" rtlCol="0" anchor="t">
            <a:spAutoFit/>
          </a:bodyPr>
          <a:lstStyle/>
          <a:p>
            <a:pPr algn="l">
              <a:lnSpc>
                <a:spcPts val="5094"/>
              </a:lnSpc>
            </a:pPr>
            <a:r>
              <a:rPr lang="en-US" sz="3801" b="1">
                <a:solidFill>
                  <a:srgbClr val="E85041"/>
                </a:solidFill>
                <a:latin typeface="Agrandir Bold"/>
                <a:ea typeface="Agrandir Bold"/>
                <a:cs typeface="Agrandir Bold"/>
                <a:sym typeface="Agrandir Bold"/>
              </a:rPr>
              <a:t>Rumus SES untuk  peramalan periode t+1: </a:t>
            </a:r>
          </a:p>
        </p:txBody>
      </p:sp>
      <p:sp>
        <p:nvSpPr>
          <p:cNvPr id="14" name="TextBox 14"/>
          <p:cNvSpPr txBox="1"/>
          <p:nvPr/>
        </p:nvSpPr>
        <p:spPr>
          <a:xfrm>
            <a:off x="1991526" y="3952875"/>
            <a:ext cx="14322571" cy="4083022"/>
          </a:xfrm>
          <a:prstGeom prst="rect">
            <a:avLst/>
          </a:prstGeom>
        </p:spPr>
        <p:txBody>
          <a:bodyPr lIns="0" tIns="0" rIns="0" bIns="0" rtlCol="0" anchor="t">
            <a:spAutoFit/>
          </a:bodyPr>
          <a:lstStyle/>
          <a:p>
            <a:pPr algn="l">
              <a:lnSpc>
                <a:spcPts val="4548"/>
              </a:lnSpc>
            </a:pPr>
            <a:r>
              <a:rPr lang="en-US" sz="3394">
                <a:solidFill>
                  <a:srgbClr val="000000"/>
                </a:solidFill>
                <a:latin typeface="Agrandir"/>
                <a:ea typeface="Agrandir"/>
                <a:cs typeface="Agrandir"/>
                <a:sym typeface="Agrandir"/>
              </a:rPr>
              <a:t>Keterangan:</a:t>
            </a:r>
          </a:p>
          <a:p>
            <a:pPr marL="732856" lvl="1" indent="-366428" algn="l">
              <a:lnSpc>
                <a:spcPts val="4548"/>
              </a:lnSpc>
              <a:buFont typeface="Arial"/>
              <a:buChar char="•"/>
            </a:pPr>
            <a:r>
              <a:rPr lang="en-US" sz="3394">
                <a:solidFill>
                  <a:srgbClr val="000000"/>
                </a:solidFill>
                <a:latin typeface="Agrandir"/>
                <a:ea typeface="Agrandir"/>
                <a:cs typeface="Agrandir"/>
                <a:sym typeface="Agrandir"/>
              </a:rPr>
              <a:t>y^t+1 adalah prediksi harga saham BBCA untuk periode t+1</a:t>
            </a:r>
          </a:p>
          <a:p>
            <a:pPr marL="732856" lvl="1" indent="-366428" algn="l">
              <a:lnSpc>
                <a:spcPts val="4548"/>
              </a:lnSpc>
              <a:buFont typeface="Arial"/>
              <a:buChar char="•"/>
            </a:pPr>
            <a:r>
              <a:rPr lang="en-US" sz="3394">
                <a:solidFill>
                  <a:srgbClr val="000000"/>
                </a:solidFill>
                <a:latin typeface="Agrandir"/>
                <a:ea typeface="Agrandir"/>
                <a:cs typeface="Agrandir"/>
                <a:sym typeface="Agrandir"/>
              </a:rPr>
              <a:t>yt adalah harga saham BBCA pada periode t</a:t>
            </a:r>
          </a:p>
          <a:p>
            <a:pPr marL="732856" lvl="1" indent="-366428" algn="l">
              <a:lnSpc>
                <a:spcPts val="4548"/>
              </a:lnSpc>
              <a:buFont typeface="Arial"/>
              <a:buChar char="•"/>
            </a:pPr>
            <a:r>
              <a:rPr lang="en-US" sz="3394">
                <a:solidFill>
                  <a:srgbClr val="000000"/>
                </a:solidFill>
                <a:latin typeface="Agrandir"/>
                <a:ea typeface="Agrandir"/>
                <a:cs typeface="Agrandir"/>
                <a:sym typeface="Agrandir"/>
              </a:rPr>
              <a:t>y^t​ adalah prediksi harga saham BBCA pada periode sebelumnya t</a:t>
            </a:r>
          </a:p>
          <a:p>
            <a:pPr marL="732856" lvl="1" indent="-366428" algn="l">
              <a:lnSpc>
                <a:spcPts val="4548"/>
              </a:lnSpc>
              <a:buFont typeface="Arial"/>
              <a:buChar char="•"/>
            </a:pPr>
            <a:r>
              <a:rPr lang="en-US" sz="3394">
                <a:solidFill>
                  <a:srgbClr val="000000"/>
                </a:solidFill>
                <a:latin typeface="Agrandir"/>
                <a:ea typeface="Agrandir"/>
                <a:cs typeface="Agrandir"/>
                <a:sym typeface="Agrandir"/>
              </a:rPr>
              <a:t>α adalah factor smoothing yang mengontrol seberapa besar pengaruh data terbaru.</a:t>
            </a:r>
          </a:p>
          <a:p>
            <a:pPr algn="l">
              <a:lnSpc>
                <a:spcPts val="4548"/>
              </a:lnSpc>
            </a:pPr>
            <a:endParaRPr lang="en-US" sz="3394">
              <a:solidFill>
                <a:srgbClr val="000000"/>
              </a:solidFill>
              <a:latin typeface="Agrandir"/>
              <a:ea typeface="Agrandir"/>
              <a:cs typeface="Agrandir"/>
              <a:sym typeface="Agrandir"/>
            </a:endParaRPr>
          </a:p>
        </p:txBody>
      </p:sp>
      <p:sp>
        <p:nvSpPr>
          <p:cNvPr id="15" name="TextBox 15"/>
          <p:cNvSpPr txBox="1"/>
          <p:nvPr/>
        </p:nvSpPr>
        <p:spPr>
          <a:xfrm>
            <a:off x="2253106" y="942975"/>
            <a:ext cx="14240317" cy="91948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Simple Exponential Smoothing (SES) </a:t>
            </a:r>
          </a:p>
        </p:txBody>
      </p:sp>
      <p:sp>
        <p:nvSpPr>
          <p:cNvPr id="16" name="TextBox 16"/>
          <p:cNvSpPr txBox="1"/>
          <p:nvPr/>
        </p:nvSpPr>
        <p:spPr>
          <a:xfrm>
            <a:off x="9464062" y="9966587"/>
            <a:ext cx="15631523" cy="6184576"/>
          </a:xfrm>
          <a:prstGeom prst="rect">
            <a:avLst/>
          </a:prstGeom>
        </p:spPr>
        <p:txBody>
          <a:bodyPr lIns="0" tIns="0" rIns="0" bIns="0" rtlCol="0" anchor="t">
            <a:spAutoFit/>
          </a:bodyPr>
          <a:lstStyle/>
          <a:p>
            <a:pPr algn="l">
              <a:lnSpc>
                <a:spcPts val="4816"/>
              </a:lnSpc>
            </a:pPr>
            <a:r>
              <a:rPr lang="en-US" sz="3594">
                <a:solidFill>
                  <a:srgbClr val="000000"/>
                </a:solidFill>
                <a:latin typeface="Agrandir"/>
                <a:ea typeface="Agrandir"/>
                <a:cs typeface="Agrandir"/>
                <a:sym typeface="Agrandir"/>
              </a:rPr>
              <a:t>Komponen SARIMA</a:t>
            </a:r>
          </a:p>
          <a:p>
            <a:pPr marL="776036" lvl="1" indent="-388018" algn="l">
              <a:lnSpc>
                <a:spcPts val="4816"/>
              </a:lnSpc>
              <a:buAutoNum type="arabicPeriod"/>
            </a:pPr>
            <a:r>
              <a:rPr lang="en-US" sz="3594">
                <a:solidFill>
                  <a:srgbClr val="000000"/>
                </a:solidFill>
                <a:latin typeface="Agrandir"/>
                <a:ea typeface="Agrandir"/>
                <a:cs typeface="Agrandir"/>
                <a:sym typeface="Agrandir"/>
              </a:rPr>
              <a:t>AR (Auto-Regressive):</a:t>
            </a:r>
          </a:p>
          <a:p>
            <a:pPr marL="776036" lvl="1" indent="-388018" algn="l">
              <a:lnSpc>
                <a:spcPts val="4816"/>
              </a:lnSpc>
              <a:buAutoNum type="arabicPeriod"/>
            </a:pPr>
            <a:r>
              <a:rPr lang="en-US" sz="3594">
                <a:solidFill>
                  <a:srgbClr val="000000"/>
                </a:solidFill>
                <a:latin typeface="Agrandir"/>
                <a:ea typeface="Agrandir"/>
                <a:cs typeface="Agrandir"/>
                <a:sym typeface="Agrandir"/>
              </a:rPr>
              <a:t> Gunakan nilai masa lalu → prediksi masa depan</a:t>
            </a:r>
          </a:p>
          <a:p>
            <a:pPr marL="776036" lvl="1" indent="-388018" algn="l">
              <a:lnSpc>
                <a:spcPts val="4816"/>
              </a:lnSpc>
              <a:buAutoNum type="arabicPeriod"/>
            </a:pPr>
            <a:r>
              <a:rPr lang="en-US" sz="3594">
                <a:solidFill>
                  <a:srgbClr val="000000"/>
                </a:solidFill>
                <a:latin typeface="Agrandir"/>
                <a:ea typeface="Agrandir"/>
                <a:cs typeface="Agrandir"/>
                <a:sym typeface="Agrandir"/>
              </a:rPr>
              <a:t>I (Integrated):</a:t>
            </a:r>
          </a:p>
          <a:p>
            <a:pPr marL="776036" lvl="1" indent="-388018" algn="l">
              <a:lnSpc>
                <a:spcPts val="4816"/>
              </a:lnSpc>
              <a:buAutoNum type="arabicPeriod"/>
            </a:pPr>
            <a:r>
              <a:rPr lang="en-US" sz="3594">
                <a:solidFill>
                  <a:srgbClr val="000000"/>
                </a:solidFill>
                <a:latin typeface="Agrandir"/>
                <a:ea typeface="Agrandir"/>
                <a:cs typeface="Agrandir"/>
                <a:sym typeface="Agrandir"/>
              </a:rPr>
              <a:t> Ubah data menjadi stasioner dengan differencing</a:t>
            </a:r>
          </a:p>
          <a:p>
            <a:pPr marL="776036" lvl="1" indent="-388018" algn="l">
              <a:lnSpc>
                <a:spcPts val="4816"/>
              </a:lnSpc>
              <a:buAutoNum type="arabicPeriod"/>
            </a:pPr>
            <a:r>
              <a:rPr lang="en-US" sz="3594">
                <a:solidFill>
                  <a:srgbClr val="000000"/>
                </a:solidFill>
                <a:latin typeface="Agrandir"/>
                <a:ea typeface="Agrandir"/>
                <a:cs typeface="Agrandir"/>
                <a:sym typeface="Agrandir"/>
              </a:rPr>
              <a:t>MA (Moving Average):</a:t>
            </a:r>
          </a:p>
          <a:p>
            <a:pPr marL="776036" lvl="1" indent="-388018" algn="l">
              <a:lnSpc>
                <a:spcPts val="4816"/>
              </a:lnSpc>
              <a:buAutoNum type="arabicPeriod"/>
            </a:pPr>
            <a:r>
              <a:rPr lang="en-US" sz="3594">
                <a:solidFill>
                  <a:srgbClr val="000000"/>
                </a:solidFill>
                <a:latin typeface="Agrandir"/>
                <a:ea typeface="Agrandir"/>
                <a:cs typeface="Agrandir"/>
                <a:sym typeface="Agrandir"/>
              </a:rPr>
              <a:t> Koreksi prediksi berdasarkan error sebelumnya</a:t>
            </a:r>
          </a:p>
          <a:p>
            <a:pPr marL="776036" lvl="1" indent="-388018" algn="l">
              <a:lnSpc>
                <a:spcPts val="4816"/>
              </a:lnSpc>
              <a:buAutoNum type="arabicPeriod"/>
            </a:pPr>
            <a:r>
              <a:rPr lang="en-US" sz="3594">
                <a:solidFill>
                  <a:srgbClr val="000000"/>
                </a:solidFill>
                <a:latin typeface="Agrandir"/>
                <a:ea typeface="Agrandir"/>
                <a:cs typeface="Agrandir"/>
                <a:sym typeface="Agrandir"/>
              </a:rPr>
              <a:t>S (Seasonal):</a:t>
            </a:r>
          </a:p>
          <a:p>
            <a:pPr marL="776036" lvl="1" indent="-388018" algn="l">
              <a:lnSpc>
                <a:spcPts val="4816"/>
              </a:lnSpc>
              <a:buAutoNum type="arabicPeriod"/>
            </a:pPr>
            <a:r>
              <a:rPr lang="en-US" sz="3594">
                <a:solidFill>
                  <a:srgbClr val="000000"/>
                </a:solidFill>
                <a:latin typeface="Agrandir"/>
                <a:ea typeface="Agrandir"/>
                <a:cs typeface="Agrandir"/>
                <a:sym typeface="Agrandir"/>
              </a:rPr>
              <a:t> Tangani pola musiman berulang (misalnya per tahun atau per kuartal)</a:t>
            </a:r>
          </a:p>
          <a:p>
            <a:pPr algn="l">
              <a:lnSpc>
                <a:spcPts val="4816"/>
              </a:lnSpc>
            </a:pPr>
            <a:endParaRPr lang="en-US" sz="3594">
              <a:solidFill>
                <a:srgbClr val="000000"/>
              </a:solidFill>
              <a:latin typeface="Agrandir"/>
              <a:ea typeface="Agrandir"/>
              <a:cs typeface="Agrandir"/>
              <a:sym typeface="Agrandir"/>
            </a:endParaRPr>
          </a:p>
        </p:txBody>
      </p:sp>
      <p:sp>
        <p:nvSpPr>
          <p:cNvPr id="17" name="TextBox 17"/>
          <p:cNvSpPr txBox="1"/>
          <p:nvPr/>
        </p:nvSpPr>
        <p:spPr>
          <a:xfrm>
            <a:off x="2211979" y="8002601"/>
            <a:ext cx="14322571" cy="2368522"/>
          </a:xfrm>
          <a:prstGeom prst="rect">
            <a:avLst/>
          </a:prstGeom>
        </p:spPr>
        <p:txBody>
          <a:bodyPr lIns="0" tIns="0" rIns="0" bIns="0" rtlCol="0" anchor="t">
            <a:spAutoFit/>
          </a:bodyPr>
          <a:lstStyle/>
          <a:p>
            <a:pPr algn="l">
              <a:lnSpc>
                <a:spcPts val="4548"/>
              </a:lnSpc>
            </a:pPr>
            <a:r>
              <a:rPr lang="en-US" sz="3394">
                <a:solidFill>
                  <a:srgbClr val="000000"/>
                </a:solidFill>
                <a:latin typeface="Agrandir"/>
                <a:ea typeface="Agrandir"/>
                <a:cs typeface="Agrandir"/>
                <a:sym typeface="Agrandir"/>
              </a:rPr>
              <a:t>Misal:</a:t>
            </a:r>
          </a:p>
          <a:p>
            <a:pPr marL="732856" lvl="1" indent="-366428" algn="l">
              <a:lnSpc>
                <a:spcPts val="4548"/>
              </a:lnSpc>
              <a:buFont typeface="Arial"/>
              <a:buChar char="•"/>
            </a:pPr>
            <a:r>
              <a:rPr lang="en-US" sz="3394">
                <a:solidFill>
                  <a:srgbClr val="000000"/>
                </a:solidFill>
                <a:latin typeface="Agrandir"/>
                <a:ea typeface="Agrandir"/>
                <a:cs typeface="Agrandir"/>
                <a:sym typeface="Agrandir"/>
              </a:rPr>
              <a:t>α = 0.9 → Prediksi sangat cepat menyesuaikan harga baru</a:t>
            </a:r>
          </a:p>
          <a:p>
            <a:pPr marL="732856" lvl="1" indent="-366428" algn="l">
              <a:lnSpc>
                <a:spcPts val="4548"/>
              </a:lnSpc>
              <a:buFont typeface="Arial"/>
              <a:buChar char="•"/>
            </a:pPr>
            <a:r>
              <a:rPr lang="en-US" sz="3394">
                <a:solidFill>
                  <a:srgbClr val="000000"/>
                </a:solidFill>
                <a:latin typeface="Agrandir"/>
                <a:ea typeface="Agrandir"/>
                <a:cs typeface="Agrandir"/>
                <a:sym typeface="Agrandir"/>
              </a:rPr>
              <a:t>α = 0.3 → Prediksi lebih halus, lambat merespon fluktuasi harga</a:t>
            </a:r>
          </a:p>
          <a:p>
            <a:pPr algn="l">
              <a:lnSpc>
                <a:spcPts val="4548"/>
              </a:lnSpc>
            </a:pPr>
            <a:endParaRPr lang="en-US" sz="3394">
              <a:solidFill>
                <a:srgbClr val="000000"/>
              </a:solidFill>
              <a:latin typeface="Agrandir"/>
              <a:ea typeface="Agrandir"/>
              <a:cs typeface="Agrandir"/>
              <a:sym typeface="Agrandir"/>
            </a:endParaRPr>
          </a:p>
        </p:txBody>
      </p:sp>
    </p:spTree>
  </p:cSld>
  <p:clrMapOvr>
    <a:masterClrMapping/>
  </p:clrMapOvr>
  <p:transition/>
  <p:timing/>
</p:sld>
</file>

<file path=ppt/slides/slide17.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95516" y="-469156"/>
            <a:ext cx="18383517" cy="12255677"/>
          </a:xfrm>
          <a:custGeom>
            <a:rect l="l" t="t" r="r" b="b"/>
            <a:pathLst>
              <a:path w="18383516" h="12255677">
                <a:moveTo>
                  <a:pt x="0" y="0"/>
                </a:moveTo>
                <a:lnTo>
                  <a:pt x="18383516" y="0"/>
                </a:lnTo>
                <a:lnTo>
                  <a:pt x="18383516" y="12255677"/>
                </a:lnTo>
                <a:lnTo>
                  <a:pt x="0" y="12255677"/>
                </a:lnTo>
                <a:lnTo>
                  <a:pt x="0" y="0"/>
                </a:lnTo>
                <a:close/>
              </a:path>
            </a:pathLst>
          </a:custGeom>
          <a:blipFill>
            <a:blip r:embed="rId2">
              <a:alphaModFix amt="44999"/>
            </a:blip>
            <a:stretch>
              <a:fillRect/>
            </a:stretch>
          </a:blipFill>
        </p:spPr>
        <p:txBody>
          <a:bodyPr/>
          <a:lstStyle/>
          <a:p/>
        </p:txBody>
      </p:sp>
      <p:sp>
        <p:nvSpPr>
          <p:cNvPr id="3" name="Freeform 3"/>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grpSp>
        <p:nvGrpSpPr>
          <p:cNvPr id="6" name="Group 6"/>
          <p:cNvGrpSpPr/>
          <p:nvPr/>
        </p:nvGrpSpPr>
        <p:grpSpPr>
          <a:xfrm>
            <a:off x="1510113" y="3157428"/>
            <a:ext cx="4133142" cy="5262178"/>
            <a:chExt cx="1088564" cy="1385923"/>
          </a:xfrm>
        </p:grpSpPr>
        <p:sp>
          <p:nvSpPr>
            <p:cNvPr id="7" name="Freeform 7"/>
            <p:cNvSpPr/>
            <p:nvPr/>
          </p:nvSpPr>
          <p:spPr>
            <a:xfrm>
              <a:off x="0" y="0"/>
              <a:ext cx="1088564" cy="1385923"/>
            </a:xfrm>
            <a:custGeom>
              <a:rect l="l" t="t" r="r" b="b"/>
              <a:pathLst>
                <a:path w="1088564" h="1385923">
                  <a:moveTo>
                    <a:pt x="95530" y="0"/>
                  </a:moveTo>
                  <a:lnTo>
                    <a:pt x="993035" y="0"/>
                  </a:lnTo>
                  <a:cubicBezTo>
                    <a:pt x="1018371" y="0"/>
                    <a:pt x="1042669" y="10065"/>
                    <a:pt x="1060584" y="27980"/>
                  </a:cubicBezTo>
                  <a:cubicBezTo>
                    <a:pt x="1078500" y="45895"/>
                    <a:pt x="1088564" y="70194"/>
                    <a:pt x="1088564" y="95530"/>
                  </a:cubicBezTo>
                  <a:lnTo>
                    <a:pt x="1088564" y="1290394"/>
                  </a:lnTo>
                  <a:cubicBezTo>
                    <a:pt x="1088564" y="1315730"/>
                    <a:pt x="1078500" y="1340028"/>
                    <a:pt x="1060584" y="1357943"/>
                  </a:cubicBezTo>
                  <a:cubicBezTo>
                    <a:pt x="1042669" y="1375859"/>
                    <a:pt x="1018371" y="1385923"/>
                    <a:pt x="993035" y="1385923"/>
                  </a:cubicBezTo>
                  <a:lnTo>
                    <a:pt x="95530" y="1385923"/>
                  </a:lnTo>
                  <a:cubicBezTo>
                    <a:pt x="70194" y="1385923"/>
                    <a:pt x="45895" y="1375859"/>
                    <a:pt x="27980" y="1357943"/>
                  </a:cubicBezTo>
                  <a:cubicBezTo>
                    <a:pt x="10065" y="1340028"/>
                    <a:pt x="0" y="1315730"/>
                    <a:pt x="0" y="1290394"/>
                  </a:cubicBezTo>
                  <a:lnTo>
                    <a:pt x="0" y="95530"/>
                  </a:lnTo>
                  <a:cubicBezTo>
                    <a:pt x="0" y="70194"/>
                    <a:pt x="10065" y="45895"/>
                    <a:pt x="27980" y="27980"/>
                  </a:cubicBezTo>
                  <a:cubicBezTo>
                    <a:pt x="45895" y="10065"/>
                    <a:pt x="70194" y="0"/>
                    <a:pt x="95530" y="0"/>
                  </a:cubicBezTo>
                  <a:close/>
                </a:path>
              </a:pathLst>
            </a:custGeom>
            <a:solidFill>
              <a:srgbClr val="FFFFFF"/>
            </a:solidFill>
          </p:spPr>
          <p:txBody>
            <a:bodyPr/>
            <a:lstStyle/>
            <a:p/>
          </p:txBody>
        </p:sp>
        <p:sp>
          <p:nvSpPr>
            <p:cNvPr id="8" name="TextBox 8"/>
            <p:cNvSpPr txBox="1"/>
            <p:nvPr/>
          </p:nvSpPr>
          <p:spPr>
            <a:xfrm>
              <a:off x="0" y="-85725"/>
              <a:ext cx="1088564" cy="1471648"/>
            </a:xfrm>
            <a:prstGeom prst="rect">
              <a:avLst/>
            </a:prstGeom>
          </p:spPr>
          <p:txBody>
            <a:bodyPr lIns="50800" tIns="50800" rIns="50800" bIns="50800" rtlCol="0" anchor="ctr"/>
            <a:lstStyle/>
            <a:p>
              <a:pPr algn="ctr">
                <a:lnSpc>
                  <a:spcPts val="2679"/>
                </a:lnSpc>
              </a:pPr>
            </a:p>
          </p:txBody>
        </p:sp>
      </p:grpSp>
      <p:sp>
        <p:nvSpPr>
          <p:cNvPr id="9" name="TextBox 9"/>
          <p:cNvSpPr txBox="1"/>
          <p:nvPr/>
        </p:nvSpPr>
        <p:spPr>
          <a:xfrm>
            <a:off x="1417999" y="1103154"/>
            <a:ext cx="15356486" cy="240538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Exponential Smoothing (Holt's-Linear) &amp; (Holt’s-Winter)</a:t>
            </a:r>
          </a:p>
          <a:p>
            <a:pPr algn="ctr">
              <a:lnSpc>
                <a:spcPts val="5884"/>
              </a:lnSpc>
            </a:pPr>
            <a:endParaRPr lang="en-US" sz="5499" b="1">
              <a:solidFill>
                <a:srgbClr val="FFFFFF"/>
              </a:solidFill>
              <a:latin typeface="Agrandir Bold"/>
              <a:ea typeface="Agrandir Bold"/>
              <a:cs typeface="Agrandir Bold"/>
              <a:sym typeface="Agrandir Bold"/>
            </a:endParaRPr>
          </a:p>
        </p:txBody>
      </p:sp>
      <p:grpSp>
        <p:nvGrpSpPr>
          <p:cNvPr id="10" name="Group 10"/>
          <p:cNvGrpSpPr/>
          <p:nvPr/>
        </p:nvGrpSpPr>
        <p:grpSpPr>
          <a:xfrm>
            <a:off x="6114849" y="3157428"/>
            <a:ext cx="5213267" cy="5262178"/>
            <a:chExt cx="1373041" cy="1385923"/>
          </a:xfrm>
        </p:grpSpPr>
        <p:sp>
          <p:nvSpPr>
            <p:cNvPr id="11" name="Freeform 11"/>
            <p:cNvSpPr/>
            <p:nvPr/>
          </p:nvSpPr>
          <p:spPr>
            <a:xfrm>
              <a:off x="0" y="0"/>
              <a:ext cx="1373041" cy="1385923"/>
            </a:xfrm>
            <a:custGeom>
              <a:rect l="l" t="t" r="r" b="b"/>
              <a:pathLst>
                <a:path w="1373041" h="1385923">
                  <a:moveTo>
                    <a:pt x="75737" y="0"/>
                  </a:moveTo>
                  <a:lnTo>
                    <a:pt x="1297304" y="0"/>
                  </a:lnTo>
                  <a:cubicBezTo>
                    <a:pt x="1339133" y="0"/>
                    <a:pt x="1373041" y="33909"/>
                    <a:pt x="1373041" y="75737"/>
                  </a:cubicBezTo>
                  <a:lnTo>
                    <a:pt x="1373041" y="1310186"/>
                  </a:lnTo>
                  <a:cubicBezTo>
                    <a:pt x="1373041" y="1330273"/>
                    <a:pt x="1365062" y="1349537"/>
                    <a:pt x="1350859" y="1363741"/>
                  </a:cubicBezTo>
                  <a:cubicBezTo>
                    <a:pt x="1336655" y="1377944"/>
                    <a:pt x="1317391" y="1385923"/>
                    <a:pt x="1297304" y="1385923"/>
                  </a:cubicBezTo>
                  <a:lnTo>
                    <a:pt x="75737" y="1385923"/>
                  </a:lnTo>
                  <a:cubicBezTo>
                    <a:pt x="33909" y="1385923"/>
                    <a:pt x="0" y="1352015"/>
                    <a:pt x="0" y="1310186"/>
                  </a:cubicBezTo>
                  <a:lnTo>
                    <a:pt x="0" y="75737"/>
                  </a:lnTo>
                  <a:cubicBezTo>
                    <a:pt x="0" y="33909"/>
                    <a:pt x="33909" y="0"/>
                    <a:pt x="75737" y="0"/>
                  </a:cubicBezTo>
                  <a:close/>
                </a:path>
              </a:pathLst>
            </a:custGeom>
            <a:solidFill>
              <a:srgbClr val="FFFFFF"/>
            </a:solidFill>
          </p:spPr>
          <p:txBody>
            <a:bodyPr/>
            <a:lstStyle/>
            <a:p/>
          </p:txBody>
        </p:sp>
        <p:sp>
          <p:nvSpPr>
            <p:cNvPr id="12" name="TextBox 12"/>
            <p:cNvSpPr txBox="1"/>
            <p:nvPr/>
          </p:nvSpPr>
          <p:spPr>
            <a:xfrm>
              <a:off x="0" y="-85725"/>
              <a:ext cx="1373041" cy="1471648"/>
            </a:xfrm>
            <a:prstGeom prst="rect">
              <a:avLst/>
            </a:prstGeom>
          </p:spPr>
          <p:txBody>
            <a:bodyPr lIns="50800" tIns="50800" rIns="50800" bIns="50800" rtlCol="0" anchor="ctr"/>
            <a:lstStyle/>
            <a:p>
              <a:pPr algn="ctr">
                <a:lnSpc>
                  <a:spcPts val="2679"/>
                </a:lnSpc>
              </a:pPr>
            </a:p>
          </p:txBody>
        </p:sp>
      </p:grpSp>
      <p:grpSp>
        <p:nvGrpSpPr>
          <p:cNvPr id="13" name="Group 13"/>
          <p:cNvGrpSpPr/>
          <p:nvPr/>
        </p:nvGrpSpPr>
        <p:grpSpPr>
          <a:xfrm>
            <a:off x="11804365" y="3157428"/>
            <a:ext cx="5454935" cy="5262178"/>
            <a:chExt cx="1436691" cy="1385923"/>
          </a:xfrm>
        </p:grpSpPr>
        <p:sp>
          <p:nvSpPr>
            <p:cNvPr id="14" name="Freeform 14"/>
            <p:cNvSpPr/>
            <p:nvPr/>
          </p:nvSpPr>
          <p:spPr>
            <a:xfrm>
              <a:off x="0" y="0"/>
              <a:ext cx="1436691" cy="1385923"/>
            </a:xfrm>
            <a:custGeom>
              <a:rect l="l" t="t" r="r" b="b"/>
              <a:pathLst>
                <a:path w="1436691" h="1385923">
                  <a:moveTo>
                    <a:pt x="72382" y="0"/>
                  </a:moveTo>
                  <a:lnTo>
                    <a:pt x="1364309" y="0"/>
                  </a:lnTo>
                  <a:cubicBezTo>
                    <a:pt x="1383506" y="0"/>
                    <a:pt x="1401916" y="7626"/>
                    <a:pt x="1415490" y="21200"/>
                  </a:cubicBezTo>
                  <a:cubicBezTo>
                    <a:pt x="1429065" y="34774"/>
                    <a:pt x="1436691" y="53185"/>
                    <a:pt x="1436691" y="72382"/>
                  </a:cubicBezTo>
                  <a:lnTo>
                    <a:pt x="1436691" y="1313542"/>
                  </a:lnTo>
                  <a:cubicBezTo>
                    <a:pt x="1436691" y="1332739"/>
                    <a:pt x="1429065" y="1351149"/>
                    <a:pt x="1415490" y="1364723"/>
                  </a:cubicBezTo>
                  <a:cubicBezTo>
                    <a:pt x="1401916" y="1378298"/>
                    <a:pt x="1383506" y="1385923"/>
                    <a:pt x="1364309" y="1385923"/>
                  </a:cubicBezTo>
                  <a:lnTo>
                    <a:pt x="72382" y="1385923"/>
                  </a:lnTo>
                  <a:cubicBezTo>
                    <a:pt x="53185" y="1385923"/>
                    <a:pt x="34774" y="1378298"/>
                    <a:pt x="21200" y="1364723"/>
                  </a:cubicBezTo>
                  <a:cubicBezTo>
                    <a:pt x="7626" y="1351149"/>
                    <a:pt x="0" y="1332739"/>
                    <a:pt x="0" y="1313542"/>
                  </a:cubicBezTo>
                  <a:lnTo>
                    <a:pt x="0" y="72382"/>
                  </a:lnTo>
                  <a:cubicBezTo>
                    <a:pt x="0" y="53185"/>
                    <a:pt x="7626" y="34774"/>
                    <a:pt x="21200" y="21200"/>
                  </a:cubicBezTo>
                  <a:cubicBezTo>
                    <a:pt x="34774" y="7626"/>
                    <a:pt x="53185" y="0"/>
                    <a:pt x="72382" y="0"/>
                  </a:cubicBezTo>
                  <a:close/>
                </a:path>
              </a:pathLst>
            </a:custGeom>
            <a:solidFill>
              <a:srgbClr val="FFFFFF"/>
            </a:solidFill>
          </p:spPr>
          <p:txBody>
            <a:bodyPr/>
            <a:lstStyle/>
            <a:p/>
          </p:txBody>
        </p:sp>
        <p:sp>
          <p:nvSpPr>
            <p:cNvPr id="15" name="TextBox 15"/>
            <p:cNvSpPr txBox="1"/>
            <p:nvPr/>
          </p:nvSpPr>
          <p:spPr>
            <a:xfrm>
              <a:off x="0" y="-85725"/>
              <a:ext cx="1436691" cy="1471648"/>
            </a:xfrm>
            <a:prstGeom prst="rect">
              <a:avLst/>
            </a:prstGeom>
          </p:spPr>
          <p:txBody>
            <a:bodyPr lIns="50800" tIns="50800" rIns="50800" bIns="50800" rtlCol="0" anchor="ctr"/>
            <a:lstStyle/>
            <a:p>
              <a:pPr algn="ctr">
                <a:lnSpc>
                  <a:spcPts val="2679"/>
                </a:lnSpc>
              </a:pPr>
            </a:p>
          </p:txBody>
        </p:sp>
      </p:grpSp>
      <p:sp>
        <p:nvSpPr>
          <p:cNvPr id="16" name="TextBox 16"/>
          <p:cNvSpPr txBox="1"/>
          <p:nvPr/>
        </p:nvSpPr>
        <p:spPr>
          <a:xfrm>
            <a:off x="1678774" y="4144423"/>
            <a:ext cx="3795821" cy="3529129"/>
          </a:xfrm>
          <a:prstGeom prst="rect">
            <a:avLst/>
          </a:prstGeom>
        </p:spPr>
        <p:txBody>
          <a:bodyPr lIns="0" tIns="0" rIns="0" bIns="0" rtlCol="0" anchor="t">
            <a:spAutoFit/>
          </a:bodyPr>
          <a:lstStyle/>
          <a:p>
            <a:pPr algn="ctr">
              <a:lnSpc>
                <a:spcPts val="3939"/>
              </a:lnSpc>
            </a:pPr>
            <a:r>
              <a:rPr lang="en-US" sz="2939">
                <a:solidFill>
                  <a:srgbClr val="000000"/>
                </a:solidFill>
                <a:latin typeface="Agrandir"/>
                <a:ea typeface="Agrandir"/>
                <a:cs typeface="Agrandir"/>
                <a:sym typeface="Agrandir"/>
              </a:rPr>
              <a:t>Holt’s Linear dan Holt’s Winter merupakan pengembangan dari metode Exponential Smoothing (ETS).</a:t>
            </a:r>
          </a:p>
          <a:p>
            <a:pPr algn="ctr">
              <a:lnSpc>
                <a:spcPts val="3939"/>
              </a:lnSpc>
            </a:pPr>
            <a:endParaRPr lang="en-US" sz="2939">
              <a:solidFill>
                <a:srgbClr val="000000"/>
              </a:solidFill>
              <a:latin typeface="Agrandir"/>
              <a:ea typeface="Agrandir"/>
              <a:cs typeface="Agrandir"/>
              <a:sym typeface="Agrandir"/>
            </a:endParaRPr>
          </a:p>
        </p:txBody>
      </p:sp>
      <p:sp>
        <p:nvSpPr>
          <p:cNvPr id="17" name="TextBox 17"/>
          <p:cNvSpPr txBox="1"/>
          <p:nvPr/>
        </p:nvSpPr>
        <p:spPr>
          <a:xfrm>
            <a:off x="6226707" y="3220349"/>
            <a:ext cx="4994208" cy="5095661"/>
          </a:xfrm>
          <a:prstGeom prst="rect">
            <a:avLst/>
          </a:prstGeom>
        </p:spPr>
        <p:txBody>
          <a:bodyPr lIns="0" tIns="0" rIns="0" bIns="0" rtlCol="0" anchor="t">
            <a:spAutoFit/>
          </a:bodyPr>
          <a:lstStyle/>
          <a:p>
            <a:pPr algn="ctr">
              <a:lnSpc>
                <a:spcPts val="3605"/>
              </a:lnSpc>
            </a:pPr>
          </a:p>
          <a:p>
            <a:pPr algn="ctr">
              <a:lnSpc>
                <a:spcPts val="3605"/>
              </a:lnSpc>
            </a:pPr>
            <a:r>
              <a:rPr lang="en-US" sz="2690">
                <a:solidFill>
                  <a:srgbClr val="000000"/>
                </a:solidFill>
                <a:latin typeface="Agrandir"/>
                <a:ea typeface="Agrandir"/>
                <a:cs typeface="Agrandir"/>
                <a:sym typeface="Agrandir"/>
              </a:rPr>
              <a:t>Holt’s Linear digunakan untuk data dengan tren linier tanpa pola musiman yang jelas. Model ini mengasumsikan bahwa data memiliki kecenderungan naik atau turun dalam jangka panjang tanpa adanya perubahan musiman yang berulang.</a:t>
            </a:r>
          </a:p>
          <a:p>
            <a:pPr algn="ctr">
              <a:lnSpc>
                <a:spcPts val="3605"/>
              </a:lnSpc>
            </a:pPr>
            <a:endParaRPr lang="en-US" sz="2690">
              <a:solidFill>
                <a:srgbClr val="000000"/>
              </a:solidFill>
              <a:latin typeface="Agrandir"/>
              <a:ea typeface="Agrandir"/>
              <a:cs typeface="Agrandir"/>
              <a:sym typeface="Agrandir"/>
            </a:endParaRPr>
          </a:p>
        </p:txBody>
      </p:sp>
      <p:sp>
        <p:nvSpPr>
          <p:cNvPr id="18" name="TextBox 18"/>
          <p:cNvSpPr txBox="1"/>
          <p:nvPr/>
        </p:nvSpPr>
        <p:spPr>
          <a:xfrm>
            <a:off x="12080590" y="3202966"/>
            <a:ext cx="5002457" cy="5139951"/>
          </a:xfrm>
          <a:prstGeom prst="rect">
            <a:avLst/>
          </a:prstGeom>
        </p:spPr>
        <p:txBody>
          <a:bodyPr lIns="0" tIns="0" rIns="0" bIns="0" rtlCol="0" anchor="t">
            <a:spAutoFit/>
          </a:bodyPr>
          <a:lstStyle/>
          <a:p>
            <a:pPr algn="ctr">
              <a:lnSpc>
                <a:spcPts val="3138"/>
              </a:lnSpc>
            </a:pPr>
          </a:p>
          <a:p>
            <a:pPr algn="ctr">
              <a:lnSpc>
                <a:spcPts val="3138"/>
              </a:lnSpc>
            </a:pPr>
            <a:r>
              <a:rPr lang="en-US" sz="2342">
                <a:solidFill>
                  <a:srgbClr val="000000"/>
                </a:solidFill>
                <a:latin typeface="Agrandir"/>
                <a:ea typeface="Agrandir"/>
                <a:cs typeface="Agrandir"/>
                <a:sym typeface="Agrandir"/>
              </a:rPr>
              <a:t>Holt’s Winter (atau dikenal juga dengan Triple Exponential Smoothing) digunakan untuk data yang memiliki trend dan musiman. Metode Holt Winter menggabungkan komponen error, trend, dan seasonality, sehingga dapat menghasilkan peramalan yang lebih baik pada data yang memiliki fluktuasi musiman yang signifikan</a:t>
            </a:r>
          </a:p>
          <a:p>
            <a:pPr algn="ctr">
              <a:lnSpc>
                <a:spcPts val="3138"/>
              </a:lnSpc>
            </a:pPr>
            <a:endParaRPr lang="en-US" sz="2342">
              <a:solidFill>
                <a:srgbClr val="000000"/>
              </a:solidFill>
              <a:latin typeface="Agrandir"/>
              <a:ea typeface="Agrandir"/>
              <a:cs typeface="Agrandir"/>
              <a:sym typeface="Agrandir"/>
            </a:endParaRPr>
          </a:p>
        </p:txBody>
      </p:sp>
    </p:spTree>
  </p:cSld>
  <p:clrMapOvr>
    <a:masterClrMapping/>
  </p:clrMapOvr>
  <p:transition/>
  <p:timing/>
</p:sld>
</file>

<file path=ppt/slides/slide18.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4">
              <a:alphaModFix amt="31000"/>
            </a:blip>
            <a:stretch>
              <a:fillRect t="-9259" b="-9259"/>
            </a:stretch>
          </a:blipFill>
        </p:spPr>
        <p:txBody>
          <a:bodyPr/>
          <a:lstStyle/>
          <a:p/>
        </p:txBody>
      </p:sp>
      <p:sp>
        <p:nvSpPr>
          <p:cNvPr id="4" name="Freeform 4"/>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grpSp>
        <p:nvGrpSpPr>
          <p:cNvPr id="6" name="Group 6"/>
          <p:cNvGrpSpPr/>
          <p:nvPr/>
        </p:nvGrpSpPr>
        <p:grpSpPr>
          <a:xfrm>
            <a:off x="1794577" y="2785953"/>
            <a:ext cx="14698845" cy="5357545"/>
            <a:chExt cx="3871301" cy="1411041"/>
          </a:xfrm>
        </p:grpSpPr>
        <p:sp>
          <p:nvSpPr>
            <p:cNvPr id="7" name="Freeform 7"/>
            <p:cNvSpPr/>
            <p:nvPr/>
          </p:nvSpPr>
          <p:spPr>
            <a:xfrm>
              <a:off x="0" y="0"/>
              <a:ext cx="3871301" cy="1411041"/>
            </a:xfrm>
            <a:custGeom>
              <a:rect l="l" t="t" r="r" b="b"/>
              <a:pathLst>
                <a:path w="3871301" h="1411041">
                  <a:moveTo>
                    <a:pt x="26862" y="0"/>
                  </a:moveTo>
                  <a:lnTo>
                    <a:pt x="3844439" y="0"/>
                  </a:lnTo>
                  <a:cubicBezTo>
                    <a:pt x="3851563" y="0"/>
                    <a:pt x="3858396" y="2830"/>
                    <a:pt x="3863433" y="7868"/>
                  </a:cubicBezTo>
                  <a:cubicBezTo>
                    <a:pt x="3868471" y="12905"/>
                    <a:pt x="3871301" y="19738"/>
                    <a:pt x="3871301" y="26862"/>
                  </a:cubicBezTo>
                  <a:lnTo>
                    <a:pt x="3871301" y="1384179"/>
                  </a:lnTo>
                  <a:cubicBezTo>
                    <a:pt x="3871301" y="1391303"/>
                    <a:pt x="3868471" y="1398135"/>
                    <a:pt x="3863433" y="1403173"/>
                  </a:cubicBezTo>
                  <a:cubicBezTo>
                    <a:pt x="3858396" y="1408211"/>
                    <a:pt x="3851563" y="1411041"/>
                    <a:pt x="3844439" y="1411041"/>
                  </a:cubicBezTo>
                  <a:lnTo>
                    <a:pt x="26862" y="1411041"/>
                  </a:lnTo>
                  <a:cubicBezTo>
                    <a:pt x="19738" y="1411041"/>
                    <a:pt x="12905" y="1408211"/>
                    <a:pt x="7868" y="1403173"/>
                  </a:cubicBezTo>
                  <a:cubicBezTo>
                    <a:pt x="2830" y="1398135"/>
                    <a:pt x="0" y="1391303"/>
                    <a:pt x="0" y="1384179"/>
                  </a:cubicBezTo>
                  <a:lnTo>
                    <a:pt x="0" y="26862"/>
                  </a:lnTo>
                  <a:cubicBezTo>
                    <a:pt x="0" y="19738"/>
                    <a:pt x="2830" y="12905"/>
                    <a:pt x="7868" y="7868"/>
                  </a:cubicBezTo>
                  <a:cubicBezTo>
                    <a:pt x="12905" y="2830"/>
                    <a:pt x="19738" y="0"/>
                    <a:pt x="26862" y="0"/>
                  </a:cubicBezTo>
                  <a:close/>
                </a:path>
              </a:pathLst>
            </a:custGeom>
            <a:solidFill>
              <a:srgbClr val="FFFFFF"/>
            </a:solidFill>
          </p:spPr>
          <p:txBody>
            <a:bodyPr/>
            <a:lstStyle/>
            <a:p/>
          </p:txBody>
        </p:sp>
        <p:sp>
          <p:nvSpPr>
            <p:cNvPr id="8" name="TextBox 8"/>
            <p:cNvSpPr txBox="1"/>
            <p:nvPr/>
          </p:nvSpPr>
          <p:spPr>
            <a:xfrm>
              <a:off x="0" y="-85725"/>
              <a:ext cx="3871301" cy="1496766"/>
            </a:xfrm>
            <a:prstGeom prst="rect">
              <a:avLst/>
            </a:prstGeom>
          </p:spPr>
          <p:txBody>
            <a:bodyPr lIns="50800" tIns="50800" rIns="50800" bIns="50800" rtlCol="0" anchor="ctr"/>
            <a:lstStyle/>
            <a:p>
              <a:pPr algn="ctr">
                <a:lnSpc>
                  <a:spcPts val="2679"/>
                </a:lnSpc>
              </a:pPr>
            </a:p>
          </p:txBody>
        </p:sp>
      </p:grpSp>
      <p:sp>
        <p:nvSpPr>
          <p:cNvPr id="9" name="TextBox 9"/>
          <p:cNvSpPr txBox="1"/>
          <p:nvPr/>
        </p:nvSpPr>
        <p:spPr>
          <a:xfrm>
            <a:off x="2185915" y="3153961"/>
            <a:ext cx="13916171" cy="5190335"/>
          </a:xfrm>
          <a:prstGeom prst="rect">
            <a:avLst/>
          </a:prstGeom>
        </p:spPr>
        <p:txBody>
          <a:bodyPr lIns="0" tIns="0" rIns="0" bIns="0" rtlCol="0" anchor="t">
            <a:spAutoFit/>
          </a:bodyPr>
          <a:lstStyle/>
          <a:p>
            <a:pPr algn="just">
              <a:lnSpc>
                <a:spcPts val="5084"/>
              </a:lnSpc>
            </a:pPr>
            <a:r>
              <a:rPr lang="en-US" sz="3794">
                <a:solidFill>
                  <a:srgbClr val="000000"/>
                </a:solidFill>
                <a:latin typeface="Agrandir"/>
                <a:ea typeface="Agrandir"/>
                <a:cs typeface="Agrandir"/>
                <a:sym typeface="Agrandir"/>
              </a:rPr>
              <a:t>Holt’s Linear merupakan pengembangan dari metode Exponential Smoothing (ETS).</a:t>
            </a:r>
          </a:p>
          <a:p>
            <a:pPr marL="819216" lvl="1" indent="-409608" algn="just">
              <a:lnSpc>
                <a:spcPts val="5084"/>
              </a:lnSpc>
              <a:buFont typeface="Arial"/>
              <a:buChar char="•"/>
            </a:pPr>
            <a:r>
              <a:rPr lang="en-US" sz="3794">
                <a:solidFill>
                  <a:srgbClr val="000000"/>
                </a:solidFill>
                <a:latin typeface="Agrandir"/>
                <a:ea typeface="Agrandir"/>
                <a:cs typeface="Agrandir"/>
                <a:sym typeface="Agrandir"/>
              </a:rPr>
              <a:t>Holt’s Linear digunakan untuk data dengan tren linier tanpa pola musiman yang jelas. </a:t>
            </a:r>
          </a:p>
          <a:p>
            <a:pPr marL="819216" lvl="1" indent="-409608" algn="just">
              <a:lnSpc>
                <a:spcPts val="5084"/>
              </a:lnSpc>
              <a:buFont typeface="Arial"/>
              <a:buChar char="•"/>
            </a:pPr>
            <a:r>
              <a:rPr lang="en-US" sz="3794">
                <a:solidFill>
                  <a:srgbClr val="000000"/>
                </a:solidFill>
                <a:latin typeface="Agrandir"/>
                <a:ea typeface="Agrandir"/>
                <a:cs typeface="Agrandir"/>
                <a:sym typeface="Agrandir"/>
              </a:rPr>
              <a:t>Model ini mengasumsikan bahwa data memiliki kecenderungan naik atau turun dalam jangka panjang tanpa adanya perubahan musiman yang berulang</a:t>
            </a:r>
          </a:p>
          <a:p>
            <a:pPr algn="just">
              <a:lnSpc>
                <a:spcPts val="5084"/>
              </a:lnSpc>
            </a:pPr>
            <a:endParaRPr lang="en-US" sz="3794">
              <a:solidFill>
                <a:srgbClr val="000000"/>
              </a:solidFill>
              <a:latin typeface="Agrandir"/>
              <a:ea typeface="Agrandir"/>
              <a:cs typeface="Agrandir"/>
              <a:sym typeface="Agrandir"/>
            </a:endParaRPr>
          </a:p>
        </p:txBody>
      </p:sp>
      <p:sp>
        <p:nvSpPr>
          <p:cNvPr id="10" name="TextBox 10"/>
          <p:cNvSpPr txBox="1"/>
          <p:nvPr/>
        </p:nvSpPr>
        <p:spPr>
          <a:xfrm>
            <a:off x="9464062" y="9966587"/>
            <a:ext cx="15631523" cy="6184576"/>
          </a:xfrm>
          <a:prstGeom prst="rect">
            <a:avLst/>
          </a:prstGeom>
        </p:spPr>
        <p:txBody>
          <a:bodyPr lIns="0" tIns="0" rIns="0" bIns="0" rtlCol="0" anchor="t">
            <a:spAutoFit/>
          </a:bodyPr>
          <a:lstStyle/>
          <a:p>
            <a:pPr algn="l">
              <a:lnSpc>
                <a:spcPts val="4816"/>
              </a:lnSpc>
            </a:pPr>
            <a:r>
              <a:rPr lang="en-US" sz="3594">
                <a:solidFill>
                  <a:srgbClr val="000000"/>
                </a:solidFill>
                <a:latin typeface="Agrandir"/>
                <a:ea typeface="Agrandir"/>
                <a:cs typeface="Agrandir"/>
                <a:sym typeface="Agrandir"/>
              </a:rPr>
              <a:t>Komponen SARIMA</a:t>
            </a:r>
          </a:p>
          <a:p>
            <a:pPr marL="776036" lvl="1" indent="-388018" algn="l">
              <a:lnSpc>
                <a:spcPts val="4816"/>
              </a:lnSpc>
              <a:buAutoNum type="arabicPeriod"/>
            </a:pPr>
            <a:r>
              <a:rPr lang="en-US" sz="3594">
                <a:solidFill>
                  <a:srgbClr val="000000"/>
                </a:solidFill>
                <a:latin typeface="Agrandir"/>
                <a:ea typeface="Agrandir"/>
                <a:cs typeface="Agrandir"/>
                <a:sym typeface="Agrandir"/>
              </a:rPr>
              <a:t>AR (Auto-Regressive):</a:t>
            </a:r>
          </a:p>
          <a:p>
            <a:pPr marL="776036" lvl="1" indent="-388018" algn="l">
              <a:lnSpc>
                <a:spcPts val="4816"/>
              </a:lnSpc>
              <a:buAutoNum type="arabicPeriod"/>
            </a:pPr>
            <a:r>
              <a:rPr lang="en-US" sz="3594">
                <a:solidFill>
                  <a:srgbClr val="000000"/>
                </a:solidFill>
                <a:latin typeface="Agrandir"/>
                <a:ea typeface="Agrandir"/>
                <a:cs typeface="Agrandir"/>
                <a:sym typeface="Agrandir"/>
              </a:rPr>
              <a:t> Gunakan nilai masa lalu → prediksi masa depan</a:t>
            </a:r>
          </a:p>
          <a:p>
            <a:pPr marL="776036" lvl="1" indent="-388018" algn="l">
              <a:lnSpc>
                <a:spcPts val="4816"/>
              </a:lnSpc>
              <a:buAutoNum type="arabicPeriod"/>
            </a:pPr>
            <a:r>
              <a:rPr lang="en-US" sz="3594">
                <a:solidFill>
                  <a:srgbClr val="000000"/>
                </a:solidFill>
                <a:latin typeface="Agrandir"/>
                <a:ea typeface="Agrandir"/>
                <a:cs typeface="Agrandir"/>
                <a:sym typeface="Agrandir"/>
              </a:rPr>
              <a:t>I (Integrated):</a:t>
            </a:r>
          </a:p>
          <a:p>
            <a:pPr marL="776036" lvl="1" indent="-388018" algn="l">
              <a:lnSpc>
                <a:spcPts val="4816"/>
              </a:lnSpc>
              <a:buAutoNum type="arabicPeriod"/>
            </a:pPr>
            <a:r>
              <a:rPr lang="en-US" sz="3594">
                <a:solidFill>
                  <a:srgbClr val="000000"/>
                </a:solidFill>
                <a:latin typeface="Agrandir"/>
                <a:ea typeface="Agrandir"/>
                <a:cs typeface="Agrandir"/>
                <a:sym typeface="Agrandir"/>
              </a:rPr>
              <a:t> Ubah data menjadi stasioner dengan differencing</a:t>
            </a:r>
          </a:p>
          <a:p>
            <a:pPr marL="776036" lvl="1" indent="-388018" algn="l">
              <a:lnSpc>
                <a:spcPts val="4816"/>
              </a:lnSpc>
              <a:buAutoNum type="arabicPeriod"/>
            </a:pPr>
            <a:r>
              <a:rPr lang="en-US" sz="3594">
                <a:solidFill>
                  <a:srgbClr val="000000"/>
                </a:solidFill>
                <a:latin typeface="Agrandir"/>
                <a:ea typeface="Agrandir"/>
                <a:cs typeface="Agrandir"/>
                <a:sym typeface="Agrandir"/>
              </a:rPr>
              <a:t>MA (Moving Average):</a:t>
            </a:r>
          </a:p>
          <a:p>
            <a:pPr marL="776036" lvl="1" indent="-388018" algn="l">
              <a:lnSpc>
                <a:spcPts val="4816"/>
              </a:lnSpc>
              <a:buAutoNum type="arabicPeriod"/>
            </a:pPr>
            <a:r>
              <a:rPr lang="en-US" sz="3594">
                <a:solidFill>
                  <a:srgbClr val="000000"/>
                </a:solidFill>
                <a:latin typeface="Agrandir"/>
                <a:ea typeface="Agrandir"/>
                <a:cs typeface="Agrandir"/>
                <a:sym typeface="Agrandir"/>
              </a:rPr>
              <a:t> Koreksi prediksi berdasarkan error sebelumnya</a:t>
            </a:r>
          </a:p>
          <a:p>
            <a:pPr marL="776036" lvl="1" indent="-388018" algn="l">
              <a:lnSpc>
                <a:spcPts val="4816"/>
              </a:lnSpc>
              <a:buAutoNum type="arabicPeriod"/>
            </a:pPr>
            <a:r>
              <a:rPr lang="en-US" sz="3594">
                <a:solidFill>
                  <a:srgbClr val="000000"/>
                </a:solidFill>
                <a:latin typeface="Agrandir"/>
                <a:ea typeface="Agrandir"/>
                <a:cs typeface="Agrandir"/>
                <a:sym typeface="Agrandir"/>
              </a:rPr>
              <a:t>S (Seasonal):</a:t>
            </a:r>
          </a:p>
          <a:p>
            <a:pPr marL="776036" lvl="1" indent="-388018" algn="l">
              <a:lnSpc>
                <a:spcPts val="4816"/>
              </a:lnSpc>
              <a:buAutoNum type="arabicPeriod"/>
            </a:pPr>
            <a:r>
              <a:rPr lang="en-US" sz="3594">
                <a:solidFill>
                  <a:srgbClr val="000000"/>
                </a:solidFill>
                <a:latin typeface="Agrandir"/>
                <a:ea typeface="Agrandir"/>
                <a:cs typeface="Agrandir"/>
                <a:sym typeface="Agrandir"/>
              </a:rPr>
              <a:t> Tangani pola musiman berulang (misalnya per tahun atau per kuartal)</a:t>
            </a:r>
          </a:p>
          <a:p>
            <a:pPr algn="l">
              <a:lnSpc>
                <a:spcPts val="4816"/>
              </a:lnSpc>
            </a:pPr>
            <a:endParaRPr lang="en-US" sz="3594">
              <a:solidFill>
                <a:srgbClr val="000000"/>
              </a:solidFill>
              <a:latin typeface="Agrandir"/>
              <a:ea typeface="Agrandir"/>
              <a:cs typeface="Agrandir"/>
              <a:sym typeface="Agrandir"/>
            </a:endParaRPr>
          </a:p>
        </p:txBody>
      </p:sp>
      <p:sp>
        <p:nvSpPr>
          <p:cNvPr id="11" name="TextBox 11"/>
          <p:cNvSpPr txBox="1"/>
          <p:nvPr/>
        </p:nvSpPr>
        <p:spPr>
          <a:xfrm>
            <a:off x="1785820" y="1123523"/>
            <a:ext cx="15356486" cy="166243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Exponential Smoothing (Holt's-Linear) </a:t>
            </a:r>
          </a:p>
          <a:p>
            <a:pPr algn="ctr">
              <a:lnSpc>
                <a:spcPts val="5884"/>
              </a:lnSpc>
            </a:pPr>
            <a:endParaRPr lang="en-US" sz="5499" b="1">
              <a:solidFill>
                <a:srgbClr val="FFFFFF"/>
              </a:solidFill>
              <a:latin typeface="Agrandir Bold"/>
              <a:ea typeface="Agrandir Bold"/>
              <a:cs typeface="Agrandir Bold"/>
              <a:sym typeface="Agrandir Bold"/>
            </a:endParaRPr>
          </a:p>
        </p:txBody>
      </p:sp>
    </p:spTree>
  </p:cSld>
  <p:clrMapOvr>
    <a:masterClrMapping/>
  </p:clrMapOvr>
  <p:transition/>
  <p:timing/>
</p:sld>
</file>

<file path=ppt/slides/slide19.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t="-9259" b="-9259"/>
            </a:stretch>
          </a:blipFill>
        </p:spPr>
        <p:txBody>
          <a:bodyPr/>
          <a:lstStyle/>
          <a:p/>
        </p:txBody>
      </p:sp>
      <p:sp>
        <p:nvSpPr>
          <p:cNvPr id="3" name="Freeform 3"/>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grpSp>
        <p:nvGrpSpPr>
          <p:cNvPr id="6" name="Group 6"/>
          <p:cNvGrpSpPr/>
          <p:nvPr/>
        </p:nvGrpSpPr>
        <p:grpSpPr>
          <a:xfrm>
            <a:off x="1308042" y="2541572"/>
            <a:ext cx="7835958" cy="6295985"/>
            <a:chExt cx="2063791" cy="1658202"/>
          </a:xfrm>
        </p:grpSpPr>
        <p:sp>
          <p:nvSpPr>
            <p:cNvPr id="7" name="Freeform 7"/>
            <p:cNvSpPr/>
            <p:nvPr/>
          </p:nvSpPr>
          <p:spPr>
            <a:xfrm>
              <a:off x="0" y="0"/>
              <a:ext cx="2063791" cy="1658202"/>
            </a:xfrm>
            <a:custGeom>
              <a:rect l="l" t="t" r="r" b="b"/>
              <a:pathLst>
                <a:path w="2063791" h="1658202">
                  <a:moveTo>
                    <a:pt x="50388" y="0"/>
                  </a:moveTo>
                  <a:lnTo>
                    <a:pt x="2013403" y="0"/>
                  </a:lnTo>
                  <a:cubicBezTo>
                    <a:pt x="2041232" y="0"/>
                    <a:pt x="2063791" y="22559"/>
                    <a:pt x="2063791" y="50388"/>
                  </a:cubicBezTo>
                  <a:lnTo>
                    <a:pt x="2063791" y="1607814"/>
                  </a:lnTo>
                  <a:cubicBezTo>
                    <a:pt x="2063791" y="1621178"/>
                    <a:pt x="2058483" y="1633994"/>
                    <a:pt x="2049033" y="1643444"/>
                  </a:cubicBezTo>
                  <a:cubicBezTo>
                    <a:pt x="2039584" y="1652893"/>
                    <a:pt x="2026767" y="1658202"/>
                    <a:pt x="2013403" y="1658202"/>
                  </a:cubicBezTo>
                  <a:lnTo>
                    <a:pt x="50388" y="1658202"/>
                  </a:lnTo>
                  <a:cubicBezTo>
                    <a:pt x="22559" y="1658202"/>
                    <a:pt x="0" y="1635642"/>
                    <a:pt x="0" y="1607814"/>
                  </a:cubicBezTo>
                  <a:lnTo>
                    <a:pt x="0" y="50388"/>
                  </a:lnTo>
                  <a:cubicBezTo>
                    <a:pt x="0" y="22559"/>
                    <a:pt x="22559" y="0"/>
                    <a:pt x="50388" y="0"/>
                  </a:cubicBezTo>
                  <a:close/>
                </a:path>
              </a:pathLst>
            </a:custGeom>
            <a:solidFill>
              <a:srgbClr val="FFFFFF"/>
            </a:solidFill>
          </p:spPr>
          <p:txBody>
            <a:bodyPr/>
            <a:lstStyle/>
            <a:p/>
          </p:txBody>
        </p:sp>
        <p:sp>
          <p:nvSpPr>
            <p:cNvPr id="8" name="TextBox 8"/>
            <p:cNvSpPr txBox="1"/>
            <p:nvPr/>
          </p:nvSpPr>
          <p:spPr>
            <a:xfrm>
              <a:off x="0" y="-85725"/>
              <a:ext cx="2063791" cy="1743927"/>
            </a:xfrm>
            <a:prstGeom prst="rect">
              <a:avLst/>
            </a:prstGeom>
          </p:spPr>
          <p:txBody>
            <a:bodyPr lIns="50800" tIns="50800" rIns="50800" bIns="50800" rtlCol="0" anchor="ctr"/>
            <a:lstStyle/>
            <a:p>
              <a:pPr algn="ctr">
                <a:lnSpc>
                  <a:spcPts val="2679"/>
                </a:lnSpc>
              </a:pPr>
            </a:p>
          </p:txBody>
        </p:sp>
      </p:grpSp>
      <p:grpSp>
        <p:nvGrpSpPr>
          <p:cNvPr id="9" name="Group 9"/>
          <p:cNvGrpSpPr/>
          <p:nvPr/>
        </p:nvGrpSpPr>
        <p:grpSpPr>
          <a:xfrm>
            <a:off x="9464062" y="2541572"/>
            <a:ext cx="7815761" cy="6295985"/>
            <a:chExt cx="2058472" cy="1658202"/>
          </a:xfrm>
        </p:grpSpPr>
        <p:sp>
          <p:nvSpPr>
            <p:cNvPr id="10" name="Freeform 10"/>
            <p:cNvSpPr/>
            <p:nvPr/>
          </p:nvSpPr>
          <p:spPr>
            <a:xfrm>
              <a:off x="0" y="0"/>
              <a:ext cx="2058472" cy="1658202"/>
            </a:xfrm>
            <a:custGeom>
              <a:rect l="l" t="t" r="r" b="b"/>
              <a:pathLst>
                <a:path w="2058472" h="1658202">
                  <a:moveTo>
                    <a:pt x="50518" y="0"/>
                  </a:moveTo>
                  <a:lnTo>
                    <a:pt x="2007954" y="0"/>
                  </a:lnTo>
                  <a:cubicBezTo>
                    <a:pt x="2035854" y="0"/>
                    <a:pt x="2058472" y="22618"/>
                    <a:pt x="2058472" y="50518"/>
                  </a:cubicBezTo>
                  <a:lnTo>
                    <a:pt x="2058472" y="1607684"/>
                  </a:lnTo>
                  <a:cubicBezTo>
                    <a:pt x="2058472" y="1635584"/>
                    <a:pt x="2035854" y="1658202"/>
                    <a:pt x="2007954" y="1658202"/>
                  </a:cubicBezTo>
                  <a:lnTo>
                    <a:pt x="50518" y="1658202"/>
                  </a:lnTo>
                  <a:cubicBezTo>
                    <a:pt x="22618" y="1658202"/>
                    <a:pt x="0" y="1635584"/>
                    <a:pt x="0" y="1607684"/>
                  </a:cubicBezTo>
                  <a:lnTo>
                    <a:pt x="0" y="50518"/>
                  </a:lnTo>
                  <a:cubicBezTo>
                    <a:pt x="0" y="22618"/>
                    <a:pt x="22618" y="0"/>
                    <a:pt x="50518" y="0"/>
                  </a:cubicBezTo>
                  <a:close/>
                </a:path>
              </a:pathLst>
            </a:custGeom>
            <a:solidFill>
              <a:srgbClr val="FFFFFF"/>
            </a:solidFill>
          </p:spPr>
          <p:txBody>
            <a:bodyPr/>
            <a:lstStyle/>
            <a:p/>
          </p:txBody>
        </p:sp>
        <p:sp>
          <p:nvSpPr>
            <p:cNvPr id="11" name="TextBox 11"/>
            <p:cNvSpPr txBox="1"/>
            <p:nvPr/>
          </p:nvSpPr>
          <p:spPr>
            <a:xfrm>
              <a:off x="0" y="-85725"/>
              <a:ext cx="2058472" cy="1743927"/>
            </a:xfrm>
            <a:prstGeom prst="rect">
              <a:avLst/>
            </a:prstGeom>
          </p:spPr>
          <p:txBody>
            <a:bodyPr lIns="50800" tIns="50800" rIns="50800" bIns="50800" rtlCol="0" anchor="ctr"/>
            <a:lstStyle/>
            <a:p>
              <a:pPr algn="ctr">
                <a:lnSpc>
                  <a:spcPts val="2679"/>
                </a:lnSpc>
              </a:pPr>
            </a:p>
          </p:txBody>
        </p:sp>
      </p:grpSp>
      <p:sp>
        <p:nvSpPr>
          <p:cNvPr id="12" name="Freeform 12"/>
          <p:cNvSpPr/>
          <p:nvPr/>
        </p:nvSpPr>
        <p:spPr>
          <a:xfrm>
            <a:off x="1805378" y="3525524"/>
            <a:ext cx="6841287" cy="5100241"/>
          </a:xfrm>
          <a:custGeom>
            <a:rect l="l" t="t" r="r" b="b"/>
            <a:pathLst>
              <a:path w="6841287" h="5100241">
                <a:moveTo>
                  <a:pt x="0" y="0"/>
                </a:moveTo>
                <a:lnTo>
                  <a:pt x="6841286" y="0"/>
                </a:lnTo>
                <a:lnTo>
                  <a:pt x="6841286" y="5100240"/>
                </a:lnTo>
                <a:lnTo>
                  <a:pt x="0" y="5100240"/>
                </a:lnTo>
                <a:lnTo>
                  <a:pt x="0" y="0"/>
                </a:lnTo>
                <a:close/>
              </a:path>
            </a:pathLst>
          </a:custGeom>
          <a:blipFill>
            <a:blip r:embed="rId8"/>
            <a:stretch>
              <a:fillRect/>
            </a:stretch>
          </a:blipFill>
        </p:spPr>
        <p:txBody>
          <a:bodyPr/>
          <a:lstStyle/>
          <a:p/>
        </p:txBody>
      </p:sp>
      <p:sp>
        <p:nvSpPr>
          <p:cNvPr id="13" name="TextBox 13"/>
          <p:cNvSpPr txBox="1"/>
          <p:nvPr/>
        </p:nvSpPr>
        <p:spPr>
          <a:xfrm>
            <a:off x="1510113" y="2596848"/>
            <a:ext cx="12138968" cy="715230"/>
          </a:xfrm>
          <a:prstGeom prst="rect">
            <a:avLst/>
          </a:prstGeom>
        </p:spPr>
        <p:txBody>
          <a:bodyPr lIns="0" tIns="0" rIns="0" bIns="0" rtlCol="0" anchor="t">
            <a:spAutoFit/>
          </a:bodyPr>
          <a:lstStyle/>
          <a:p>
            <a:pPr algn="l">
              <a:lnSpc>
                <a:spcPts val="4960"/>
              </a:lnSpc>
            </a:pPr>
            <a:r>
              <a:rPr lang="en-US" sz="3701" b="1">
                <a:solidFill>
                  <a:srgbClr val="E85041"/>
                </a:solidFill>
                <a:latin typeface="Agrandir Bold"/>
                <a:ea typeface="Agrandir Bold"/>
                <a:cs typeface="Agrandir Bold"/>
                <a:sym typeface="Agrandir Bold"/>
              </a:rPr>
              <a:t>Rumus perhitungan Holt Linear :</a:t>
            </a:r>
          </a:p>
        </p:txBody>
      </p:sp>
      <p:sp>
        <p:nvSpPr>
          <p:cNvPr id="14" name="TextBox 14"/>
          <p:cNvSpPr txBox="1"/>
          <p:nvPr/>
        </p:nvSpPr>
        <p:spPr>
          <a:xfrm>
            <a:off x="2253106" y="942975"/>
            <a:ext cx="14240317" cy="91948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Exponential Smoothing (Holt's-Linear) </a:t>
            </a:r>
          </a:p>
        </p:txBody>
      </p:sp>
      <p:sp>
        <p:nvSpPr>
          <p:cNvPr id="15" name="TextBox 15"/>
          <p:cNvSpPr txBox="1"/>
          <p:nvPr/>
        </p:nvSpPr>
        <p:spPr>
          <a:xfrm>
            <a:off x="9830008" y="2623457"/>
            <a:ext cx="7590581" cy="6601178"/>
          </a:xfrm>
          <a:prstGeom prst="rect">
            <a:avLst/>
          </a:prstGeom>
        </p:spPr>
        <p:txBody>
          <a:bodyPr lIns="0" tIns="0" rIns="0" bIns="0" rtlCol="0" anchor="t">
            <a:spAutoFit/>
          </a:bodyPr>
          <a:lstStyle/>
          <a:p>
            <a:pPr algn="l">
              <a:lnSpc>
                <a:spcPts val="4280"/>
              </a:lnSpc>
            </a:pPr>
            <a:r>
              <a:rPr lang="en-US" sz="3194">
                <a:solidFill>
                  <a:srgbClr val="000000"/>
                </a:solidFill>
                <a:latin typeface="Agrandir"/>
                <a:ea typeface="Agrandir"/>
                <a:cs typeface="Agrandir"/>
                <a:sym typeface="Agrandir"/>
              </a:rPr>
              <a:t>Keterangan:</a:t>
            </a:r>
          </a:p>
          <a:p>
            <a:pPr marL="689677" lvl="1" indent="-344839" algn="l">
              <a:lnSpc>
                <a:spcPts val="4280"/>
              </a:lnSpc>
              <a:buFont typeface="Arial"/>
              <a:buChar char="•"/>
            </a:pPr>
            <a:r>
              <a:rPr lang="en-US" sz="3194">
                <a:solidFill>
                  <a:srgbClr val="000000"/>
                </a:solidFill>
                <a:latin typeface="Agrandir"/>
                <a:ea typeface="Agrandir"/>
                <a:cs typeface="Agrandir"/>
                <a:sym typeface="Agrandir"/>
              </a:rPr>
              <a:t>y^t+h adalah peramalan pada periode t+h.</a:t>
            </a:r>
          </a:p>
          <a:p>
            <a:pPr marL="689677" lvl="1" indent="-344839" algn="l">
              <a:lnSpc>
                <a:spcPts val="4280"/>
              </a:lnSpc>
              <a:buFont typeface="Arial"/>
              <a:buChar char="•"/>
            </a:pPr>
            <a:r>
              <a:rPr lang="en-US" sz="3194">
                <a:solidFill>
                  <a:srgbClr val="000000"/>
                </a:solidFill>
                <a:latin typeface="Agrandir"/>
                <a:ea typeface="Agrandir"/>
                <a:cs typeface="Agrandir"/>
                <a:sym typeface="Agrandir"/>
              </a:rPr>
              <a:t>yt​ adalah nilai aktual pada periode t.</a:t>
            </a:r>
          </a:p>
          <a:p>
            <a:pPr marL="689677" lvl="1" indent="-344839" algn="l">
              <a:lnSpc>
                <a:spcPts val="4280"/>
              </a:lnSpc>
              <a:buFont typeface="Arial"/>
              <a:buChar char="•"/>
            </a:pPr>
            <a:r>
              <a:rPr lang="en-US" sz="3194">
                <a:solidFill>
                  <a:srgbClr val="000000"/>
                </a:solidFill>
                <a:latin typeface="Agrandir"/>
                <a:ea typeface="Agrandir"/>
                <a:cs typeface="Agrandir"/>
                <a:sym typeface="Agrandir"/>
              </a:rPr>
              <a:t>lt​ adalah level pada periode t.</a:t>
            </a:r>
          </a:p>
          <a:p>
            <a:pPr marL="689677" lvl="1" indent="-344839" algn="l">
              <a:lnSpc>
                <a:spcPts val="4280"/>
              </a:lnSpc>
              <a:buFont typeface="Arial"/>
              <a:buChar char="•"/>
            </a:pPr>
            <a:r>
              <a:rPr lang="en-US" sz="3194">
                <a:solidFill>
                  <a:srgbClr val="000000"/>
                </a:solidFill>
                <a:latin typeface="Agrandir"/>
                <a:ea typeface="Agrandir"/>
                <a:cs typeface="Agrandir"/>
                <a:sym typeface="Agrandir"/>
              </a:rPr>
              <a:t>bt​ adalah trend pada periode t.</a:t>
            </a:r>
          </a:p>
          <a:p>
            <a:pPr marL="689677" lvl="1" indent="-344839" algn="l">
              <a:lnSpc>
                <a:spcPts val="4280"/>
              </a:lnSpc>
              <a:buFont typeface="Arial"/>
              <a:buChar char="•"/>
            </a:pPr>
            <a:r>
              <a:rPr lang="en-US" sz="3194">
                <a:solidFill>
                  <a:srgbClr val="000000"/>
                </a:solidFill>
                <a:latin typeface="Agrandir"/>
                <a:ea typeface="Agrandir"/>
                <a:cs typeface="Agrandir"/>
                <a:sym typeface="Agrandir"/>
              </a:rPr>
              <a:t>α adalah smoothing factor untuk level (nilai antara 0 dan 1).</a:t>
            </a:r>
          </a:p>
          <a:p>
            <a:pPr marL="689677" lvl="1" indent="-344839" algn="l">
              <a:lnSpc>
                <a:spcPts val="4280"/>
              </a:lnSpc>
              <a:buFont typeface="Arial"/>
              <a:buChar char="•"/>
            </a:pPr>
            <a:r>
              <a:rPr lang="en-US" sz="3194">
                <a:solidFill>
                  <a:srgbClr val="000000"/>
                </a:solidFill>
                <a:latin typeface="Agrandir"/>
                <a:ea typeface="Agrandir"/>
                <a:cs typeface="Agrandir"/>
                <a:sym typeface="Agrandir"/>
              </a:rPr>
              <a:t>β adalah smoothing factor untuk trend (nilai antara 0 dan 1).</a:t>
            </a:r>
          </a:p>
          <a:p>
            <a:pPr marL="689677" lvl="1" indent="-344839" algn="l">
              <a:lnSpc>
                <a:spcPts val="4280"/>
              </a:lnSpc>
              <a:buFont typeface="Arial"/>
              <a:buChar char="•"/>
            </a:pPr>
            <a:r>
              <a:rPr lang="en-US" sz="3194">
                <a:solidFill>
                  <a:srgbClr val="000000"/>
                </a:solidFill>
                <a:latin typeface="Agrandir"/>
                <a:ea typeface="Agrandir"/>
                <a:cs typeface="Agrandir"/>
                <a:sym typeface="Agrandir"/>
              </a:rPr>
              <a:t>h adalah periode peramalan.</a:t>
            </a:r>
          </a:p>
          <a:p>
            <a:pPr algn="l">
              <a:lnSpc>
                <a:spcPts val="4280"/>
              </a:lnSpc>
            </a:pPr>
            <a:endParaRPr lang="en-US" sz="3194">
              <a:solidFill>
                <a:srgbClr val="000000"/>
              </a:solidFill>
              <a:latin typeface="Agrandir"/>
              <a:ea typeface="Agrandir"/>
              <a:cs typeface="Agrandir"/>
              <a:sym typeface="Agrandir"/>
            </a:endParaRPr>
          </a:p>
        </p:txBody>
      </p:sp>
    </p:spTree>
  </p:cSld>
  <p:clrMapOvr>
    <a:masterClrMapping/>
  </p:clrMapOvr>
  <p:transition/>
  <p:timing/>
</p:sld>
</file>

<file path=ppt/slides/slide20.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46000"/>
            </a:blip>
            <a:stretch>
              <a:fillRect t="-9259" b="-9259"/>
            </a:stretch>
          </a:blipFill>
        </p:spPr>
        <p:txBody>
          <a:bodyPr/>
          <a:lstStyle/>
          <a:p/>
        </p:txBody>
      </p:sp>
      <p:sp>
        <p:nvSpPr>
          <p:cNvPr id="3" name="Freeform 3"/>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grpSp>
        <p:nvGrpSpPr>
          <p:cNvPr id="6" name="Group 6"/>
          <p:cNvGrpSpPr/>
          <p:nvPr/>
        </p:nvGrpSpPr>
        <p:grpSpPr>
          <a:xfrm>
            <a:off x="1794577" y="2541572"/>
            <a:ext cx="14698845" cy="6140168"/>
            <a:chExt cx="3871301" cy="1617164"/>
          </a:xfrm>
        </p:grpSpPr>
        <p:sp>
          <p:nvSpPr>
            <p:cNvPr id="7" name="Freeform 7"/>
            <p:cNvSpPr/>
            <p:nvPr/>
          </p:nvSpPr>
          <p:spPr>
            <a:xfrm>
              <a:off x="0" y="0"/>
              <a:ext cx="3871301" cy="1617163"/>
            </a:xfrm>
            <a:custGeom>
              <a:rect l="l" t="t" r="r" b="b"/>
              <a:pathLst>
                <a:path w="3871301" h="1617163">
                  <a:moveTo>
                    <a:pt x="26862" y="0"/>
                  </a:moveTo>
                  <a:lnTo>
                    <a:pt x="3844439" y="0"/>
                  </a:lnTo>
                  <a:cubicBezTo>
                    <a:pt x="3851563" y="0"/>
                    <a:pt x="3858396" y="2830"/>
                    <a:pt x="3863433" y="7868"/>
                  </a:cubicBezTo>
                  <a:cubicBezTo>
                    <a:pt x="3868471" y="12905"/>
                    <a:pt x="3871301" y="19738"/>
                    <a:pt x="3871301" y="26862"/>
                  </a:cubicBezTo>
                  <a:lnTo>
                    <a:pt x="3871301" y="1590302"/>
                  </a:lnTo>
                  <a:cubicBezTo>
                    <a:pt x="3871301" y="1597426"/>
                    <a:pt x="3868471" y="1604258"/>
                    <a:pt x="3863433" y="1609296"/>
                  </a:cubicBezTo>
                  <a:cubicBezTo>
                    <a:pt x="3858396" y="1614333"/>
                    <a:pt x="3851563" y="1617163"/>
                    <a:pt x="3844439" y="1617163"/>
                  </a:cubicBezTo>
                  <a:lnTo>
                    <a:pt x="26862" y="1617163"/>
                  </a:lnTo>
                  <a:cubicBezTo>
                    <a:pt x="19738" y="1617163"/>
                    <a:pt x="12905" y="1614333"/>
                    <a:pt x="7868" y="1609296"/>
                  </a:cubicBezTo>
                  <a:cubicBezTo>
                    <a:pt x="2830" y="1604258"/>
                    <a:pt x="0" y="1597426"/>
                    <a:pt x="0" y="1590302"/>
                  </a:cubicBezTo>
                  <a:lnTo>
                    <a:pt x="0" y="26862"/>
                  </a:lnTo>
                  <a:cubicBezTo>
                    <a:pt x="0" y="19738"/>
                    <a:pt x="2830" y="12905"/>
                    <a:pt x="7868" y="7868"/>
                  </a:cubicBezTo>
                  <a:cubicBezTo>
                    <a:pt x="12905" y="2830"/>
                    <a:pt x="19738" y="0"/>
                    <a:pt x="26862" y="0"/>
                  </a:cubicBezTo>
                  <a:close/>
                </a:path>
              </a:pathLst>
            </a:custGeom>
            <a:solidFill>
              <a:srgbClr val="FFFFFF"/>
            </a:solidFill>
          </p:spPr>
          <p:txBody>
            <a:bodyPr/>
            <a:lstStyle/>
            <a:p/>
          </p:txBody>
        </p:sp>
        <p:sp>
          <p:nvSpPr>
            <p:cNvPr id="8" name="TextBox 8"/>
            <p:cNvSpPr txBox="1"/>
            <p:nvPr/>
          </p:nvSpPr>
          <p:spPr>
            <a:xfrm>
              <a:off x="0" y="-85725"/>
              <a:ext cx="3871301" cy="1702889"/>
            </a:xfrm>
            <a:prstGeom prst="rect">
              <a:avLst/>
            </a:prstGeom>
          </p:spPr>
          <p:txBody>
            <a:bodyPr lIns="50800" tIns="50800" rIns="50800" bIns="50800" rtlCol="0" anchor="ctr"/>
            <a:lstStyle/>
            <a:p>
              <a:pPr algn="ctr">
                <a:lnSpc>
                  <a:spcPts val="2679"/>
                </a:lnSpc>
              </a:pPr>
            </a:p>
          </p:txBody>
        </p:sp>
      </p:grpSp>
      <p:sp>
        <p:nvSpPr>
          <p:cNvPr id="9" name="TextBox 9"/>
          <p:cNvSpPr txBox="1"/>
          <p:nvPr/>
        </p:nvSpPr>
        <p:spPr>
          <a:xfrm>
            <a:off x="2185915" y="2633553"/>
            <a:ext cx="13916171" cy="6466685"/>
          </a:xfrm>
          <a:prstGeom prst="rect">
            <a:avLst/>
          </a:prstGeom>
        </p:spPr>
        <p:txBody>
          <a:bodyPr lIns="0" tIns="0" rIns="0" bIns="0" rtlCol="0" anchor="t">
            <a:spAutoFit/>
          </a:bodyPr>
          <a:lstStyle/>
          <a:p>
            <a:pPr algn="just">
              <a:lnSpc>
                <a:spcPts val="5084"/>
              </a:lnSpc>
            </a:pPr>
            <a:r>
              <a:rPr lang="en-US" sz="3794">
                <a:solidFill>
                  <a:srgbClr val="000000"/>
                </a:solidFill>
                <a:latin typeface="Agrandir"/>
                <a:ea typeface="Agrandir"/>
                <a:cs typeface="Agrandir"/>
                <a:sym typeface="Agrandir"/>
              </a:rPr>
              <a:t>Holt’s Winter merupakan pengembangan dari metode Exponential Smoothing (ETS).</a:t>
            </a:r>
          </a:p>
          <a:p>
            <a:pPr marL="819216" lvl="1" indent="-409608" algn="just">
              <a:lnSpc>
                <a:spcPts val="5084"/>
              </a:lnSpc>
              <a:buFont typeface="Arial"/>
              <a:buChar char="•"/>
            </a:pPr>
            <a:r>
              <a:rPr lang="en-US" sz="3794">
                <a:solidFill>
                  <a:srgbClr val="000000"/>
                </a:solidFill>
                <a:latin typeface="Agrandir"/>
                <a:ea typeface="Agrandir"/>
                <a:cs typeface="Agrandir"/>
                <a:sym typeface="Agrandir"/>
              </a:rPr>
              <a:t>Holt’s Winter(atau dikenal juga dengan Triple Exponential Smoothing) digunakan untuk data yang memiliki trend dan musiman. </a:t>
            </a:r>
          </a:p>
          <a:p>
            <a:pPr marL="819216" lvl="1" indent="-409608" algn="just">
              <a:lnSpc>
                <a:spcPts val="5084"/>
              </a:lnSpc>
              <a:buFont typeface="Arial"/>
              <a:buChar char="•"/>
            </a:pPr>
            <a:r>
              <a:rPr lang="en-US" sz="3794">
                <a:solidFill>
                  <a:srgbClr val="000000"/>
                </a:solidFill>
                <a:latin typeface="Agrandir"/>
                <a:ea typeface="Agrandir"/>
                <a:cs typeface="Agrandir"/>
                <a:sym typeface="Agrandir"/>
              </a:rPr>
              <a:t>Metode Holt Winter menggabungkan komponen error, trend, dan seasonality, sehingga dapat menghasilkan peramalan yang lebih baik pada data yang memiliki fluktuasi musiman yang signifikan</a:t>
            </a:r>
          </a:p>
          <a:p>
            <a:pPr algn="just">
              <a:lnSpc>
                <a:spcPts val="5084"/>
              </a:lnSpc>
            </a:pPr>
            <a:endParaRPr lang="en-US" sz="3794">
              <a:solidFill>
                <a:srgbClr val="000000"/>
              </a:solidFill>
              <a:latin typeface="Agrandir"/>
              <a:ea typeface="Agrandir"/>
              <a:cs typeface="Agrandir"/>
              <a:sym typeface="Agrandir"/>
            </a:endParaRPr>
          </a:p>
        </p:txBody>
      </p:sp>
      <p:sp>
        <p:nvSpPr>
          <p:cNvPr id="10" name="TextBox 10"/>
          <p:cNvSpPr txBox="1"/>
          <p:nvPr/>
        </p:nvSpPr>
        <p:spPr>
          <a:xfrm>
            <a:off x="1785820" y="1123523"/>
            <a:ext cx="15356486" cy="166243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Exponential Smoothing (Holt's-Winter) </a:t>
            </a:r>
          </a:p>
          <a:p>
            <a:pPr algn="ctr">
              <a:lnSpc>
                <a:spcPts val="5884"/>
              </a:lnSpc>
            </a:pPr>
            <a:endParaRPr lang="en-US" sz="5499" b="1">
              <a:solidFill>
                <a:srgbClr val="FFFFFF"/>
              </a:solidFill>
              <a:latin typeface="Agrandir Bold"/>
              <a:ea typeface="Agrandir Bold"/>
              <a:cs typeface="Agrandir Bold"/>
              <a:sym typeface="Agrandir Bold"/>
            </a:endParaRPr>
          </a:p>
        </p:txBody>
      </p:sp>
    </p:spTree>
  </p:cSld>
  <p:clrMapOvr>
    <a:masterClrMapping/>
  </p:clrMapOvr>
  <p:transition/>
  <p:timing/>
</p:sld>
</file>

<file path=ppt/slides/slide2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p:txBody>
      </p:sp>
      <p:sp>
        <p:nvSpPr>
          <p:cNvPr id="5" name="Freeform 5"/>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7">
              <a:alphaModFix amt="51000"/>
            </a:blip>
            <a:stretch>
              <a:fillRect t="-9259" b="-9259"/>
            </a:stretch>
          </a:blipFill>
        </p:spPr>
        <p:txBody>
          <a:bodyPr/>
          <a:lstStyle/>
          <a:p/>
        </p:txBody>
      </p:sp>
      <p:grpSp>
        <p:nvGrpSpPr>
          <p:cNvPr id="6" name="Group 6"/>
          <p:cNvGrpSpPr/>
          <p:nvPr/>
        </p:nvGrpSpPr>
        <p:grpSpPr>
          <a:xfrm>
            <a:off x="1308042" y="2541572"/>
            <a:ext cx="7835958" cy="6295985"/>
            <a:chExt cx="2063791" cy="1658202"/>
          </a:xfrm>
        </p:grpSpPr>
        <p:sp>
          <p:nvSpPr>
            <p:cNvPr id="7" name="Freeform 7"/>
            <p:cNvSpPr/>
            <p:nvPr/>
          </p:nvSpPr>
          <p:spPr>
            <a:xfrm>
              <a:off x="0" y="0"/>
              <a:ext cx="2063791" cy="1658202"/>
            </a:xfrm>
            <a:custGeom>
              <a:rect l="l" t="t" r="r" b="b"/>
              <a:pathLst>
                <a:path w="2063791" h="1658202">
                  <a:moveTo>
                    <a:pt x="50388" y="0"/>
                  </a:moveTo>
                  <a:lnTo>
                    <a:pt x="2013403" y="0"/>
                  </a:lnTo>
                  <a:cubicBezTo>
                    <a:pt x="2041232" y="0"/>
                    <a:pt x="2063791" y="22559"/>
                    <a:pt x="2063791" y="50388"/>
                  </a:cubicBezTo>
                  <a:lnTo>
                    <a:pt x="2063791" y="1607814"/>
                  </a:lnTo>
                  <a:cubicBezTo>
                    <a:pt x="2063791" y="1621178"/>
                    <a:pt x="2058483" y="1633994"/>
                    <a:pt x="2049033" y="1643444"/>
                  </a:cubicBezTo>
                  <a:cubicBezTo>
                    <a:pt x="2039584" y="1652893"/>
                    <a:pt x="2026767" y="1658202"/>
                    <a:pt x="2013403" y="1658202"/>
                  </a:cubicBezTo>
                  <a:lnTo>
                    <a:pt x="50388" y="1658202"/>
                  </a:lnTo>
                  <a:cubicBezTo>
                    <a:pt x="22559" y="1658202"/>
                    <a:pt x="0" y="1635642"/>
                    <a:pt x="0" y="1607814"/>
                  </a:cubicBezTo>
                  <a:lnTo>
                    <a:pt x="0" y="50388"/>
                  </a:lnTo>
                  <a:cubicBezTo>
                    <a:pt x="0" y="22559"/>
                    <a:pt x="22559" y="0"/>
                    <a:pt x="50388" y="0"/>
                  </a:cubicBezTo>
                  <a:close/>
                </a:path>
              </a:pathLst>
            </a:custGeom>
            <a:solidFill>
              <a:srgbClr val="FFFFFF"/>
            </a:solidFill>
          </p:spPr>
          <p:txBody>
            <a:bodyPr/>
            <a:lstStyle/>
            <a:p/>
          </p:txBody>
        </p:sp>
        <p:sp>
          <p:nvSpPr>
            <p:cNvPr id="8" name="TextBox 8"/>
            <p:cNvSpPr txBox="1"/>
            <p:nvPr/>
          </p:nvSpPr>
          <p:spPr>
            <a:xfrm>
              <a:off x="0" y="-85725"/>
              <a:ext cx="2063791" cy="1743927"/>
            </a:xfrm>
            <a:prstGeom prst="rect">
              <a:avLst/>
            </a:prstGeom>
          </p:spPr>
          <p:txBody>
            <a:bodyPr lIns="50800" tIns="50800" rIns="50800" bIns="50800" rtlCol="0" anchor="ctr"/>
            <a:lstStyle/>
            <a:p>
              <a:pPr algn="ctr">
                <a:lnSpc>
                  <a:spcPts val="2679"/>
                </a:lnSpc>
              </a:pPr>
            </a:p>
          </p:txBody>
        </p:sp>
      </p:grpSp>
      <p:grpSp>
        <p:nvGrpSpPr>
          <p:cNvPr id="9" name="Group 9"/>
          <p:cNvGrpSpPr/>
          <p:nvPr/>
        </p:nvGrpSpPr>
        <p:grpSpPr>
          <a:xfrm>
            <a:off x="9464062" y="2225931"/>
            <a:ext cx="7815761" cy="7323808"/>
            <a:chExt cx="2058472" cy="1928904"/>
          </a:xfrm>
        </p:grpSpPr>
        <p:sp>
          <p:nvSpPr>
            <p:cNvPr id="10" name="Freeform 10"/>
            <p:cNvSpPr/>
            <p:nvPr/>
          </p:nvSpPr>
          <p:spPr>
            <a:xfrm>
              <a:off x="0" y="0"/>
              <a:ext cx="2058472" cy="1928904"/>
            </a:xfrm>
            <a:custGeom>
              <a:rect l="l" t="t" r="r" b="b"/>
              <a:pathLst>
                <a:path w="2058472" h="1928904">
                  <a:moveTo>
                    <a:pt x="50518" y="0"/>
                  </a:moveTo>
                  <a:lnTo>
                    <a:pt x="2007954" y="0"/>
                  </a:lnTo>
                  <a:cubicBezTo>
                    <a:pt x="2035854" y="0"/>
                    <a:pt x="2058472" y="22618"/>
                    <a:pt x="2058472" y="50518"/>
                  </a:cubicBezTo>
                  <a:lnTo>
                    <a:pt x="2058472" y="1878386"/>
                  </a:lnTo>
                  <a:cubicBezTo>
                    <a:pt x="2058472" y="1906286"/>
                    <a:pt x="2035854" y="1928904"/>
                    <a:pt x="2007954" y="1928904"/>
                  </a:cubicBezTo>
                  <a:lnTo>
                    <a:pt x="50518" y="1928904"/>
                  </a:lnTo>
                  <a:cubicBezTo>
                    <a:pt x="22618" y="1928904"/>
                    <a:pt x="0" y="1906286"/>
                    <a:pt x="0" y="1878386"/>
                  </a:cubicBezTo>
                  <a:lnTo>
                    <a:pt x="0" y="50518"/>
                  </a:lnTo>
                  <a:cubicBezTo>
                    <a:pt x="0" y="22618"/>
                    <a:pt x="22618" y="0"/>
                    <a:pt x="50518" y="0"/>
                  </a:cubicBezTo>
                  <a:close/>
                </a:path>
              </a:pathLst>
            </a:custGeom>
            <a:solidFill>
              <a:srgbClr val="FFFFFF"/>
            </a:solidFill>
          </p:spPr>
          <p:txBody>
            <a:bodyPr/>
            <a:lstStyle/>
            <a:p/>
          </p:txBody>
        </p:sp>
        <p:sp>
          <p:nvSpPr>
            <p:cNvPr id="11" name="TextBox 11"/>
            <p:cNvSpPr txBox="1"/>
            <p:nvPr/>
          </p:nvSpPr>
          <p:spPr>
            <a:xfrm>
              <a:off x="0" y="-85725"/>
              <a:ext cx="2058472" cy="2014629"/>
            </a:xfrm>
            <a:prstGeom prst="rect">
              <a:avLst/>
            </a:prstGeom>
          </p:spPr>
          <p:txBody>
            <a:bodyPr lIns="50800" tIns="50800" rIns="50800" bIns="50800" rtlCol="0" anchor="ctr"/>
            <a:lstStyle/>
            <a:p>
              <a:pPr algn="ctr">
                <a:lnSpc>
                  <a:spcPts val="2679"/>
                </a:lnSpc>
              </a:pPr>
            </a:p>
          </p:txBody>
        </p:sp>
      </p:grpSp>
      <p:sp>
        <p:nvSpPr>
          <p:cNvPr id="12" name="Freeform 12"/>
          <p:cNvSpPr/>
          <p:nvPr/>
        </p:nvSpPr>
        <p:spPr>
          <a:xfrm>
            <a:off x="1809970" y="3312078"/>
            <a:ext cx="6832101" cy="5319279"/>
          </a:xfrm>
          <a:custGeom>
            <a:rect l="l" t="t" r="r" b="b"/>
            <a:pathLst>
              <a:path w="6832101" h="5319279">
                <a:moveTo>
                  <a:pt x="0" y="0"/>
                </a:moveTo>
                <a:lnTo>
                  <a:pt x="6832101" y="0"/>
                </a:lnTo>
                <a:lnTo>
                  <a:pt x="6832101" y="5319278"/>
                </a:lnTo>
                <a:lnTo>
                  <a:pt x="0" y="5319278"/>
                </a:lnTo>
                <a:lnTo>
                  <a:pt x="0" y="0"/>
                </a:lnTo>
                <a:close/>
              </a:path>
            </a:pathLst>
          </a:custGeom>
          <a:blipFill>
            <a:blip r:embed="rId8"/>
            <a:stretch>
              <a:fillRect/>
            </a:stretch>
          </a:blipFill>
        </p:spPr>
        <p:txBody>
          <a:bodyPr/>
          <a:lstStyle/>
          <a:p/>
        </p:txBody>
      </p:sp>
      <p:sp>
        <p:nvSpPr>
          <p:cNvPr id="13" name="TextBox 13"/>
          <p:cNvSpPr txBox="1"/>
          <p:nvPr/>
        </p:nvSpPr>
        <p:spPr>
          <a:xfrm>
            <a:off x="1510113" y="2596848"/>
            <a:ext cx="12138968" cy="715230"/>
          </a:xfrm>
          <a:prstGeom prst="rect">
            <a:avLst/>
          </a:prstGeom>
        </p:spPr>
        <p:txBody>
          <a:bodyPr lIns="0" tIns="0" rIns="0" bIns="0" rtlCol="0" anchor="t">
            <a:spAutoFit/>
          </a:bodyPr>
          <a:lstStyle/>
          <a:p>
            <a:pPr algn="l">
              <a:lnSpc>
                <a:spcPts val="4960"/>
              </a:lnSpc>
            </a:pPr>
            <a:r>
              <a:rPr lang="en-US" sz="3701" b="1">
                <a:solidFill>
                  <a:srgbClr val="E85041"/>
                </a:solidFill>
                <a:latin typeface="Agrandir Bold"/>
                <a:ea typeface="Agrandir Bold"/>
                <a:cs typeface="Agrandir Bold"/>
                <a:sym typeface="Agrandir Bold"/>
              </a:rPr>
              <a:t>Rumus perhitungan Holt Linear :</a:t>
            </a:r>
          </a:p>
        </p:txBody>
      </p:sp>
      <p:sp>
        <p:nvSpPr>
          <p:cNvPr id="14" name="TextBox 14"/>
          <p:cNvSpPr txBox="1"/>
          <p:nvPr/>
        </p:nvSpPr>
        <p:spPr>
          <a:xfrm>
            <a:off x="2253106" y="942975"/>
            <a:ext cx="14240317" cy="91948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Exponential Smoothing (Holt's-Winter) </a:t>
            </a:r>
          </a:p>
        </p:txBody>
      </p:sp>
      <p:sp>
        <p:nvSpPr>
          <p:cNvPr id="15" name="TextBox 15"/>
          <p:cNvSpPr txBox="1"/>
          <p:nvPr/>
        </p:nvSpPr>
        <p:spPr>
          <a:xfrm>
            <a:off x="9464062" y="9966587"/>
            <a:ext cx="15631523" cy="6184576"/>
          </a:xfrm>
          <a:prstGeom prst="rect">
            <a:avLst/>
          </a:prstGeom>
        </p:spPr>
        <p:txBody>
          <a:bodyPr lIns="0" tIns="0" rIns="0" bIns="0" rtlCol="0" anchor="t">
            <a:spAutoFit/>
          </a:bodyPr>
          <a:lstStyle/>
          <a:p>
            <a:pPr algn="l">
              <a:lnSpc>
                <a:spcPts val="4816"/>
              </a:lnSpc>
            </a:pPr>
            <a:r>
              <a:rPr lang="en-US" sz="3594">
                <a:solidFill>
                  <a:srgbClr val="000000"/>
                </a:solidFill>
                <a:latin typeface="Agrandir"/>
                <a:ea typeface="Agrandir"/>
                <a:cs typeface="Agrandir"/>
                <a:sym typeface="Agrandir"/>
              </a:rPr>
              <a:t>Komponen SARIMA</a:t>
            </a:r>
          </a:p>
          <a:p>
            <a:pPr marL="776036" lvl="1" indent="-388018" algn="l">
              <a:lnSpc>
                <a:spcPts val="4816"/>
              </a:lnSpc>
              <a:buAutoNum type="arabicPeriod"/>
            </a:pPr>
            <a:r>
              <a:rPr lang="en-US" sz="3594">
                <a:solidFill>
                  <a:srgbClr val="000000"/>
                </a:solidFill>
                <a:latin typeface="Agrandir"/>
                <a:ea typeface="Agrandir"/>
                <a:cs typeface="Agrandir"/>
                <a:sym typeface="Agrandir"/>
              </a:rPr>
              <a:t>AR (Auto-Regressive):</a:t>
            </a:r>
          </a:p>
          <a:p>
            <a:pPr marL="776036" lvl="1" indent="-388018" algn="l">
              <a:lnSpc>
                <a:spcPts val="4816"/>
              </a:lnSpc>
              <a:buAutoNum type="arabicPeriod"/>
            </a:pPr>
            <a:r>
              <a:rPr lang="en-US" sz="3594">
                <a:solidFill>
                  <a:srgbClr val="000000"/>
                </a:solidFill>
                <a:latin typeface="Agrandir"/>
                <a:ea typeface="Agrandir"/>
                <a:cs typeface="Agrandir"/>
                <a:sym typeface="Agrandir"/>
              </a:rPr>
              <a:t> Gunakan nilai masa lalu → prediksi masa depan</a:t>
            </a:r>
          </a:p>
          <a:p>
            <a:pPr marL="776036" lvl="1" indent="-388018" algn="l">
              <a:lnSpc>
                <a:spcPts val="4816"/>
              </a:lnSpc>
              <a:buAutoNum type="arabicPeriod"/>
            </a:pPr>
            <a:r>
              <a:rPr lang="en-US" sz="3594">
                <a:solidFill>
                  <a:srgbClr val="000000"/>
                </a:solidFill>
                <a:latin typeface="Agrandir"/>
                <a:ea typeface="Agrandir"/>
                <a:cs typeface="Agrandir"/>
                <a:sym typeface="Agrandir"/>
              </a:rPr>
              <a:t>I (Integrated):</a:t>
            </a:r>
          </a:p>
          <a:p>
            <a:pPr marL="776036" lvl="1" indent="-388018" algn="l">
              <a:lnSpc>
                <a:spcPts val="4816"/>
              </a:lnSpc>
              <a:buAutoNum type="arabicPeriod"/>
            </a:pPr>
            <a:r>
              <a:rPr lang="en-US" sz="3594">
                <a:solidFill>
                  <a:srgbClr val="000000"/>
                </a:solidFill>
                <a:latin typeface="Agrandir"/>
                <a:ea typeface="Agrandir"/>
                <a:cs typeface="Agrandir"/>
                <a:sym typeface="Agrandir"/>
              </a:rPr>
              <a:t> Ubah data menjadi stasioner dengan differencing</a:t>
            </a:r>
          </a:p>
          <a:p>
            <a:pPr marL="776036" lvl="1" indent="-388018" algn="l">
              <a:lnSpc>
                <a:spcPts val="4816"/>
              </a:lnSpc>
              <a:buAutoNum type="arabicPeriod"/>
            </a:pPr>
            <a:r>
              <a:rPr lang="en-US" sz="3594">
                <a:solidFill>
                  <a:srgbClr val="000000"/>
                </a:solidFill>
                <a:latin typeface="Agrandir"/>
                <a:ea typeface="Agrandir"/>
                <a:cs typeface="Agrandir"/>
                <a:sym typeface="Agrandir"/>
              </a:rPr>
              <a:t>MA (Moving Average):</a:t>
            </a:r>
          </a:p>
          <a:p>
            <a:pPr marL="776036" lvl="1" indent="-388018" algn="l">
              <a:lnSpc>
                <a:spcPts val="4816"/>
              </a:lnSpc>
              <a:buAutoNum type="arabicPeriod"/>
            </a:pPr>
            <a:r>
              <a:rPr lang="en-US" sz="3594">
                <a:solidFill>
                  <a:srgbClr val="000000"/>
                </a:solidFill>
                <a:latin typeface="Agrandir"/>
                <a:ea typeface="Agrandir"/>
                <a:cs typeface="Agrandir"/>
                <a:sym typeface="Agrandir"/>
              </a:rPr>
              <a:t> Koreksi prediksi berdasarkan error sebelumnya</a:t>
            </a:r>
          </a:p>
          <a:p>
            <a:pPr marL="776036" lvl="1" indent="-388018" algn="l">
              <a:lnSpc>
                <a:spcPts val="4816"/>
              </a:lnSpc>
              <a:buAutoNum type="arabicPeriod"/>
            </a:pPr>
            <a:r>
              <a:rPr lang="en-US" sz="3594">
                <a:solidFill>
                  <a:srgbClr val="000000"/>
                </a:solidFill>
                <a:latin typeface="Agrandir"/>
                <a:ea typeface="Agrandir"/>
                <a:cs typeface="Agrandir"/>
                <a:sym typeface="Agrandir"/>
              </a:rPr>
              <a:t>S (Seasonal):</a:t>
            </a:r>
          </a:p>
          <a:p>
            <a:pPr marL="776036" lvl="1" indent="-388018" algn="l">
              <a:lnSpc>
                <a:spcPts val="4816"/>
              </a:lnSpc>
              <a:buAutoNum type="arabicPeriod"/>
            </a:pPr>
            <a:r>
              <a:rPr lang="en-US" sz="3594">
                <a:solidFill>
                  <a:srgbClr val="000000"/>
                </a:solidFill>
                <a:latin typeface="Agrandir"/>
                <a:ea typeface="Agrandir"/>
                <a:cs typeface="Agrandir"/>
                <a:sym typeface="Agrandir"/>
              </a:rPr>
              <a:t> Tangani pola musiman berulang (misalnya per tahun atau per kuartal)</a:t>
            </a:r>
          </a:p>
          <a:p>
            <a:pPr algn="l">
              <a:lnSpc>
                <a:spcPts val="4816"/>
              </a:lnSpc>
            </a:pPr>
            <a:endParaRPr lang="en-US" sz="3594">
              <a:solidFill>
                <a:srgbClr val="000000"/>
              </a:solidFill>
              <a:latin typeface="Agrandir"/>
              <a:ea typeface="Agrandir"/>
              <a:cs typeface="Agrandir"/>
              <a:sym typeface="Agrandir"/>
            </a:endParaRPr>
          </a:p>
        </p:txBody>
      </p:sp>
      <p:sp>
        <p:nvSpPr>
          <p:cNvPr id="16" name="TextBox 16"/>
          <p:cNvSpPr txBox="1"/>
          <p:nvPr/>
        </p:nvSpPr>
        <p:spPr>
          <a:xfrm>
            <a:off x="9576653" y="2246749"/>
            <a:ext cx="7590581" cy="7835237"/>
          </a:xfrm>
          <a:prstGeom prst="rect">
            <a:avLst/>
          </a:prstGeom>
        </p:spPr>
        <p:txBody>
          <a:bodyPr lIns="0" tIns="0" rIns="0" bIns="0" rtlCol="0" anchor="t">
            <a:spAutoFit/>
          </a:bodyPr>
          <a:lstStyle/>
          <a:p>
            <a:pPr algn="l">
              <a:lnSpc>
                <a:spcPts val="3878"/>
              </a:lnSpc>
            </a:pPr>
            <a:r>
              <a:rPr lang="en-US" sz="2894">
                <a:solidFill>
                  <a:srgbClr val="000000"/>
                </a:solidFill>
                <a:latin typeface="Agrandir"/>
                <a:ea typeface="Agrandir"/>
                <a:cs typeface="Agrandir"/>
                <a:sym typeface="Agrandir"/>
              </a:rPr>
              <a:t>Keterangan:</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y^t+h​ adalah peramalan pada periode t+h.</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yt adalah nilai aktual pada periode t.</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lt​ adalah level pada periode t.</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bt​ adalah trend pada periode t.</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st​ adalah seasonality pada periode t.</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α adalah smoothing factor untuk level.</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β adalah smoothing factor untuk trend.</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γ adalah smoothing factor untuk seasonality.</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m adalah panjang musiman (misalnya, m=12,untuk data bulanan dengan pola tahunan).</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h adalah periode peramalan.</a:t>
            </a:r>
          </a:p>
          <a:p>
            <a:pPr algn="l">
              <a:lnSpc>
                <a:spcPts val="3878"/>
              </a:lnSpc>
            </a:pPr>
            <a:endParaRPr lang="en-US" sz="2894">
              <a:solidFill>
                <a:srgbClr val="000000"/>
              </a:solidFill>
              <a:latin typeface="Agrandir"/>
              <a:ea typeface="Agrandir"/>
              <a:cs typeface="Agrandir"/>
              <a:sym typeface="Agrandir"/>
            </a:endParaRPr>
          </a:p>
        </p:txBody>
      </p:sp>
    </p:spTree>
  </p:cSld>
  <p:clrMapOvr>
    <a:masterClrMapping/>
  </p:clrMapOvr>
  <p:transition/>
  <p:timing/>
</p:sld>
</file>

<file path=ppt/slides/slide2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12297" y="-118089"/>
            <a:ext cx="18732165" cy="13402244"/>
          </a:xfrm>
          <a:custGeom>
            <a:rect l="l" t="t" r="r" b="b"/>
            <a:pathLst>
              <a:path w="18732165" h="13402243">
                <a:moveTo>
                  <a:pt x="0" y="0"/>
                </a:moveTo>
                <a:lnTo>
                  <a:pt x="18732165" y="0"/>
                </a:lnTo>
                <a:lnTo>
                  <a:pt x="18732165" y="13402243"/>
                </a:lnTo>
                <a:lnTo>
                  <a:pt x="0" y="13402243"/>
                </a:lnTo>
                <a:lnTo>
                  <a:pt x="0" y="0"/>
                </a:lnTo>
                <a:close/>
              </a:path>
            </a:pathLst>
          </a:custGeom>
          <a:blipFill>
            <a:blip r:embed="rId2">
              <a:alphaModFix amt="51000"/>
            </a:blip>
            <a:stretch>
              <a:fillRect t="-2413" b="-2413"/>
            </a:stretch>
          </a:blipFill>
        </p:spPr>
        <p:txBody>
          <a:bodyPr/>
          <a:lstStyle/>
          <a:p/>
        </p:txBody>
      </p:sp>
      <p:sp>
        <p:nvSpPr>
          <p:cNvPr id="3" name="Freeform 3"/>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grpSp>
        <p:nvGrpSpPr>
          <p:cNvPr id="6" name="Group 6"/>
          <p:cNvGrpSpPr/>
          <p:nvPr/>
        </p:nvGrpSpPr>
        <p:grpSpPr>
          <a:xfrm>
            <a:off x="1794577" y="2541572"/>
            <a:ext cx="14698845" cy="6932280"/>
            <a:chExt cx="3871301" cy="1825786"/>
          </a:xfrm>
        </p:grpSpPr>
        <p:sp>
          <p:nvSpPr>
            <p:cNvPr id="7" name="Freeform 7"/>
            <p:cNvSpPr/>
            <p:nvPr/>
          </p:nvSpPr>
          <p:spPr>
            <a:xfrm>
              <a:off x="0" y="0"/>
              <a:ext cx="3871301" cy="1825786"/>
            </a:xfrm>
            <a:custGeom>
              <a:rect l="l" t="t" r="r" b="b"/>
              <a:pathLst>
                <a:path w="3871301" h="1825785">
                  <a:moveTo>
                    <a:pt x="26862" y="0"/>
                  </a:moveTo>
                  <a:lnTo>
                    <a:pt x="3844439" y="0"/>
                  </a:lnTo>
                  <a:cubicBezTo>
                    <a:pt x="3851563" y="0"/>
                    <a:pt x="3858396" y="2830"/>
                    <a:pt x="3863433" y="7868"/>
                  </a:cubicBezTo>
                  <a:cubicBezTo>
                    <a:pt x="3868471" y="12905"/>
                    <a:pt x="3871301" y="19738"/>
                    <a:pt x="3871301" y="26862"/>
                  </a:cubicBezTo>
                  <a:lnTo>
                    <a:pt x="3871301" y="1798924"/>
                  </a:lnTo>
                  <a:cubicBezTo>
                    <a:pt x="3871301" y="1806048"/>
                    <a:pt x="3868471" y="1812880"/>
                    <a:pt x="3863433" y="1817918"/>
                  </a:cubicBezTo>
                  <a:cubicBezTo>
                    <a:pt x="3858396" y="1822956"/>
                    <a:pt x="3851563" y="1825786"/>
                    <a:pt x="3844439" y="1825786"/>
                  </a:cubicBezTo>
                  <a:lnTo>
                    <a:pt x="26862" y="1825786"/>
                  </a:lnTo>
                  <a:cubicBezTo>
                    <a:pt x="19738" y="1825786"/>
                    <a:pt x="12905" y="1822956"/>
                    <a:pt x="7868" y="1817918"/>
                  </a:cubicBezTo>
                  <a:cubicBezTo>
                    <a:pt x="2830" y="1812880"/>
                    <a:pt x="0" y="1806048"/>
                    <a:pt x="0" y="1798924"/>
                  </a:cubicBezTo>
                  <a:lnTo>
                    <a:pt x="0" y="26862"/>
                  </a:lnTo>
                  <a:cubicBezTo>
                    <a:pt x="0" y="19738"/>
                    <a:pt x="2830" y="12905"/>
                    <a:pt x="7868" y="7868"/>
                  </a:cubicBezTo>
                  <a:cubicBezTo>
                    <a:pt x="12905" y="2830"/>
                    <a:pt x="19738" y="0"/>
                    <a:pt x="26862" y="0"/>
                  </a:cubicBezTo>
                  <a:close/>
                </a:path>
              </a:pathLst>
            </a:custGeom>
            <a:solidFill>
              <a:srgbClr val="FFFFFF"/>
            </a:solidFill>
          </p:spPr>
          <p:txBody>
            <a:bodyPr/>
            <a:lstStyle/>
            <a:p/>
          </p:txBody>
        </p:sp>
        <p:sp>
          <p:nvSpPr>
            <p:cNvPr id="8" name="TextBox 8"/>
            <p:cNvSpPr txBox="1"/>
            <p:nvPr/>
          </p:nvSpPr>
          <p:spPr>
            <a:xfrm>
              <a:off x="0" y="-85725"/>
              <a:ext cx="3871301" cy="1911511"/>
            </a:xfrm>
            <a:prstGeom prst="rect">
              <a:avLst/>
            </a:prstGeom>
          </p:spPr>
          <p:txBody>
            <a:bodyPr lIns="50800" tIns="50800" rIns="50800" bIns="50800" rtlCol="0" anchor="ctr"/>
            <a:lstStyle/>
            <a:p>
              <a:pPr algn="ctr">
                <a:lnSpc>
                  <a:spcPts val="2679"/>
                </a:lnSpc>
              </a:pPr>
            </a:p>
          </p:txBody>
        </p:sp>
      </p:grpSp>
      <p:sp>
        <p:nvSpPr>
          <p:cNvPr id="9" name="TextBox 9"/>
          <p:cNvSpPr txBox="1"/>
          <p:nvPr/>
        </p:nvSpPr>
        <p:spPr>
          <a:xfrm>
            <a:off x="2185915" y="2730704"/>
            <a:ext cx="13916171" cy="8229953"/>
          </a:xfrm>
          <a:prstGeom prst="rect">
            <a:avLst/>
          </a:prstGeom>
        </p:spPr>
        <p:txBody>
          <a:bodyPr lIns="0" tIns="0" rIns="0" bIns="0" rtlCol="0" anchor="t">
            <a:spAutoFit/>
          </a:bodyPr>
          <a:lstStyle/>
          <a:p>
            <a:pPr algn="just">
              <a:lnSpc>
                <a:spcPts val="4280"/>
              </a:lnSpc>
            </a:pPr>
            <a:r>
              <a:rPr lang="en-US" sz="3194">
                <a:solidFill>
                  <a:srgbClr val="000000"/>
                </a:solidFill>
                <a:latin typeface="Agrandir"/>
                <a:ea typeface="Agrandir"/>
                <a:cs typeface="Agrandir"/>
                <a:sym typeface="Agrandir"/>
              </a:rPr>
              <a:t>Algoritma pembelajaran mesin berbasis pohon keputusan yang sangat efektif untuk regresi dan klasifikasi. Berbeda dengan metode time series tradisional, XGBoost menggunakan pendekatan berbasis pohon keputusan yang mampu menangani data non-linear dan kompleksitas tinggi. </a:t>
            </a:r>
          </a:p>
          <a:p>
            <a:pPr algn="just">
              <a:lnSpc>
                <a:spcPts val="4280"/>
              </a:lnSpc>
            </a:pPr>
            <a:endParaRPr lang="en-US" sz="3194">
              <a:solidFill>
                <a:srgbClr val="000000"/>
              </a:solidFill>
              <a:latin typeface="Agrandir"/>
              <a:ea typeface="Agrandir"/>
              <a:cs typeface="Agrandir"/>
              <a:sym typeface="Agrandir"/>
            </a:endParaRPr>
          </a:p>
          <a:p>
            <a:pPr algn="just">
              <a:lnSpc>
                <a:spcPts val="4280"/>
              </a:lnSpc>
            </a:pPr>
            <a:r>
              <a:rPr lang="en-US" sz="3194">
                <a:solidFill>
                  <a:srgbClr val="000000"/>
                </a:solidFill>
                <a:latin typeface="Agrandir"/>
                <a:ea typeface="Agrandir"/>
                <a:cs typeface="Agrandir"/>
                <a:sym typeface="Agrandir"/>
              </a:rPr>
              <a:t>Keunggulan XGBoost:</a:t>
            </a:r>
          </a:p>
          <a:p>
            <a:pPr marL="689679" lvl="1" indent="-344840" algn="just">
              <a:lnSpc>
                <a:spcPts val="4280"/>
              </a:lnSpc>
              <a:buFont typeface="Arial"/>
              <a:buChar char="•"/>
            </a:pPr>
            <a:r>
              <a:rPr lang="en-US" sz="3194">
                <a:solidFill>
                  <a:srgbClr val="000000"/>
                </a:solidFill>
                <a:latin typeface="Agrandir"/>
                <a:ea typeface="Agrandir"/>
                <a:cs typeface="Agrandir"/>
                <a:sym typeface="Agrandir"/>
              </a:rPr>
              <a:t>Membangun model secara bertahap untuk memperbaiki kesalahan prediksi sebelumnya (gradient boosting).</a:t>
            </a:r>
          </a:p>
          <a:p>
            <a:pPr marL="689679" lvl="1" indent="-344840" algn="just">
              <a:lnSpc>
                <a:spcPts val="4280"/>
              </a:lnSpc>
              <a:buFont typeface="Arial"/>
              <a:buChar char="•"/>
            </a:pPr>
            <a:r>
              <a:rPr lang="en-US" sz="3194">
                <a:solidFill>
                  <a:srgbClr val="000000"/>
                </a:solidFill>
                <a:latin typeface="Agrandir"/>
                <a:ea typeface="Agrandir"/>
                <a:cs typeface="Agrandir"/>
                <a:sym typeface="Agrandir"/>
              </a:rPr>
              <a:t>Mengoptimalkan fungsi loss menggunakan gradient descent.</a:t>
            </a:r>
          </a:p>
          <a:p>
            <a:pPr marL="689679" lvl="1" indent="-344840" algn="just">
              <a:lnSpc>
                <a:spcPts val="4280"/>
              </a:lnSpc>
              <a:buFont typeface="Arial"/>
              <a:buChar char="•"/>
            </a:pPr>
            <a:r>
              <a:rPr lang="en-US" sz="3194">
                <a:solidFill>
                  <a:srgbClr val="000000"/>
                </a:solidFill>
                <a:latin typeface="Agrandir"/>
                <a:ea typeface="Agrandir"/>
                <a:cs typeface="Agrandir"/>
                <a:sym typeface="Agrandir"/>
              </a:rPr>
              <a:t>Menggunakan regularisasi (γ dan λ) untuk mencegah overfitting dan meningkatkan generalisasi.</a:t>
            </a:r>
          </a:p>
          <a:p>
            <a:pPr algn="just">
              <a:lnSpc>
                <a:spcPts val="4280"/>
              </a:lnSpc>
            </a:pPr>
            <a:endParaRPr lang="en-US" sz="3194">
              <a:solidFill>
                <a:srgbClr val="000000"/>
              </a:solidFill>
              <a:latin typeface="Agrandir"/>
              <a:ea typeface="Agrandir"/>
              <a:cs typeface="Agrandir"/>
              <a:sym typeface="Agrandir"/>
            </a:endParaRPr>
          </a:p>
          <a:p>
            <a:pPr algn="just">
              <a:lnSpc>
                <a:spcPts val="4280"/>
              </a:lnSpc>
            </a:pPr>
            <a:r>
              <a:rPr lang="en-US" sz="3194">
                <a:solidFill>
                  <a:srgbClr val="000000"/>
                </a:solidFill>
                <a:latin typeface="Agrandir"/>
                <a:ea typeface="Agrandir"/>
                <a:cs typeface="Agrandir"/>
                <a:sym typeface="Agrandir"/>
              </a:rPr>
              <a:t>    </a:t>
            </a:r>
          </a:p>
          <a:p>
            <a:pPr algn="just">
              <a:lnSpc>
                <a:spcPts val="4280"/>
              </a:lnSpc>
            </a:pPr>
            <a:endParaRPr lang="en-US" sz="3194">
              <a:solidFill>
                <a:srgbClr val="000000"/>
              </a:solidFill>
              <a:latin typeface="Agrandir"/>
              <a:ea typeface="Agrandir"/>
              <a:cs typeface="Agrandir"/>
              <a:sym typeface="Agrandir"/>
            </a:endParaRPr>
          </a:p>
        </p:txBody>
      </p:sp>
      <p:sp>
        <p:nvSpPr>
          <p:cNvPr id="10" name="TextBox 10"/>
          <p:cNvSpPr txBox="1"/>
          <p:nvPr/>
        </p:nvSpPr>
        <p:spPr>
          <a:xfrm>
            <a:off x="2253106" y="942975"/>
            <a:ext cx="14240317" cy="91948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XGBoost (Extreme Gradient Boosting) </a:t>
            </a:r>
          </a:p>
        </p:txBody>
      </p:sp>
    </p:spTree>
  </p:cSld>
  <p:clrMapOvr>
    <a:masterClrMapping/>
  </p:clrMapOvr>
  <p:transition/>
  <p:timing/>
</p:sld>
</file>

<file path=ppt/slides/slide2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47000"/>
            </a:blip>
            <a:stretch>
              <a:fillRect t="-16666" b="-16666"/>
            </a:stretch>
          </a:blipFill>
        </p:spPr>
        <p:txBody>
          <a:bodyPr/>
          <a:lstStyle/>
          <a:p/>
        </p:txBody>
      </p:sp>
      <p:sp>
        <p:nvSpPr>
          <p:cNvPr id="3" name="Freeform 3"/>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grpSp>
        <p:nvGrpSpPr>
          <p:cNvPr id="6" name="Group 6"/>
          <p:cNvGrpSpPr/>
          <p:nvPr/>
        </p:nvGrpSpPr>
        <p:grpSpPr>
          <a:xfrm>
            <a:off x="1794577" y="2541572"/>
            <a:ext cx="14698845" cy="6989020"/>
            <a:chExt cx="3871301" cy="1840729"/>
          </a:xfrm>
        </p:grpSpPr>
        <p:sp>
          <p:nvSpPr>
            <p:cNvPr id="7" name="Freeform 7"/>
            <p:cNvSpPr/>
            <p:nvPr/>
          </p:nvSpPr>
          <p:spPr>
            <a:xfrm>
              <a:off x="0" y="0"/>
              <a:ext cx="3871301" cy="1840730"/>
            </a:xfrm>
            <a:custGeom>
              <a:rect l="l" t="t" r="r" b="b"/>
              <a:pathLst>
                <a:path w="3871301" h="1840730">
                  <a:moveTo>
                    <a:pt x="26862" y="0"/>
                  </a:moveTo>
                  <a:lnTo>
                    <a:pt x="3844439" y="0"/>
                  </a:lnTo>
                  <a:cubicBezTo>
                    <a:pt x="3851563" y="0"/>
                    <a:pt x="3858396" y="2830"/>
                    <a:pt x="3863433" y="7868"/>
                  </a:cubicBezTo>
                  <a:cubicBezTo>
                    <a:pt x="3868471" y="12905"/>
                    <a:pt x="3871301" y="19738"/>
                    <a:pt x="3871301" y="26862"/>
                  </a:cubicBezTo>
                  <a:lnTo>
                    <a:pt x="3871301" y="1813868"/>
                  </a:lnTo>
                  <a:cubicBezTo>
                    <a:pt x="3871301" y="1820992"/>
                    <a:pt x="3868471" y="1827824"/>
                    <a:pt x="3863433" y="1832862"/>
                  </a:cubicBezTo>
                  <a:cubicBezTo>
                    <a:pt x="3858396" y="1837899"/>
                    <a:pt x="3851563" y="1840730"/>
                    <a:pt x="3844439" y="1840730"/>
                  </a:cubicBezTo>
                  <a:lnTo>
                    <a:pt x="26862" y="1840730"/>
                  </a:lnTo>
                  <a:cubicBezTo>
                    <a:pt x="19738" y="1840730"/>
                    <a:pt x="12905" y="1837899"/>
                    <a:pt x="7868" y="1832862"/>
                  </a:cubicBezTo>
                  <a:cubicBezTo>
                    <a:pt x="2830" y="1827824"/>
                    <a:pt x="0" y="1820992"/>
                    <a:pt x="0" y="1813868"/>
                  </a:cubicBezTo>
                  <a:lnTo>
                    <a:pt x="0" y="26862"/>
                  </a:lnTo>
                  <a:cubicBezTo>
                    <a:pt x="0" y="19738"/>
                    <a:pt x="2830" y="12905"/>
                    <a:pt x="7868" y="7868"/>
                  </a:cubicBezTo>
                  <a:cubicBezTo>
                    <a:pt x="12905" y="2830"/>
                    <a:pt x="19738" y="0"/>
                    <a:pt x="26862" y="0"/>
                  </a:cubicBezTo>
                  <a:close/>
                </a:path>
              </a:pathLst>
            </a:custGeom>
            <a:solidFill>
              <a:srgbClr val="FFFFFF"/>
            </a:solidFill>
          </p:spPr>
          <p:txBody>
            <a:bodyPr/>
            <a:lstStyle/>
            <a:p/>
          </p:txBody>
        </p:sp>
        <p:sp>
          <p:nvSpPr>
            <p:cNvPr id="8" name="TextBox 8"/>
            <p:cNvSpPr txBox="1"/>
            <p:nvPr/>
          </p:nvSpPr>
          <p:spPr>
            <a:xfrm>
              <a:off x="0" y="-85725"/>
              <a:ext cx="3871301" cy="1926454"/>
            </a:xfrm>
            <a:prstGeom prst="rect">
              <a:avLst/>
            </a:prstGeom>
          </p:spPr>
          <p:txBody>
            <a:bodyPr lIns="50800" tIns="50800" rIns="50800" bIns="50800" rtlCol="0" anchor="ctr"/>
            <a:lstStyle/>
            <a:p>
              <a:pPr algn="ctr">
                <a:lnSpc>
                  <a:spcPts val="2679"/>
                </a:lnSpc>
              </a:pPr>
            </a:p>
          </p:txBody>
        </p:sp>
      </p:grpSp>
      <p:sp>
        <p:nvSpPr>
          <p:cNvPr id="9" name="TextBox 9"/>
          <p:cNvSpPr txBox="1"/>
          <p:nvPr/>
        </p:nvSpPr>
        <p:spPr>
          <a:xfrm>
            <a:off x="2242945" y="2646750"/>
            <a:ext cx="6443644" cy="718535"/>
          </a:xfrm>
          <a:prstGeom prst="rect">
            <a:avLst/>
          </a:prstGeom>
        </p:spPr>
        <p:txBody>
          <a:bodyPr lIns="0" tIns="0" rIns="0" bIns="0" rtlCol="0" anchor="t">
            <a:spAutoFit/>
          </a:bodyPr>
          <a:lstStyle/>
          <a:p>
            <a:pPr algn="l">
              <a:lnSpc>
                <a:spcPts val="5094"/>
              </a:lnSpc>
            </a:pPr>
            <a:r>
              <a:rPr lang="en-US" sz="3801" b="1">
                <a:solidFill>
                  <a:srgbClr val="E85041"/>
                </a:solidFill>
                <a:latin typeface="Agrandir Bold"/>
                <a:ea typeface="Agrandir Bold"/>
                <a:cs typeface="Agrandir Bold"/>
                <a:sym typeface="Agrandir Bold"/>
              </a:rPr>
              <a:t>Cara Kerja : </a:t>
            </a:r>
          </a:p>
        </p:txBody>
      </p:sp>
      <p:sp>
        <p:nvSpPr>
          <p:cNvPr id="10" name="TextBox 10"/>
          <p:cNvSpPr txBox="1"/>
          <p:nvPr/>
        </p:nvSpPr>
        <p:spPr>
          <a:xfrm>
            <a:off x="2185915" y="3193834"/>
            <a:ext cx="13916171" cy="7906738"/>
          </a:xfrm>
          <a:prstGeom prst="rect">
            <a:avLst/>
          </a:prstGeom>
        </p:spPr>
        <p:txBody>
          <a:bodyPr lIns="0" tIns="0" rIns="0" bIns="0" rtlCol="0" anchor="t">
            <a:spAutoFit/>
          </a:bodyPr>
          <a:lstStyle/>
          <a:p>
            <a:pPr marL="862395" lvl="1" indent="-431197" algn="just">
              <a:lnSpc>
                <a:spcPts val="5352"/>
              </a:lnSpc>
              <a:buFont typeface="Arial"/>
              <a:buChar char="•"/>
            </a:pPr>
            <a:r>
              <a:rPr lang="en-US" sz="3994">
                <a:solidFill>
                  <a:srgbClr val="000000"/>
                </a:solidFill>
                <a:latin typeface="Agrandir"/>
                <a:ea typeface="Agrandir"/>
                <a:cs typeface="Agrandir"/>
                <a:sym typeface="Agrandir"/>
              </a:rPr>
              <a:t>Pembangunan Pohon Iteratif</a:t>
            </a:r>
          </a:p>
          <a:p>
            <a:pPr algn="just">
              <a:lnSpc>
                <a:spcPts val="5352"/>
              </a:lnSpc>
            </a:pPr>
            <a:r>
              <a:rPr lang="en-US" sz="3994">
                <a:solidFill>
                  <a:srgbClr val="000000"/>
                </a:solidFill>
                <a:latin typeface="Agrandir"/>
                <a:ea typeface="Agrandir"/>
                <a:cs typeface="Agrandir"/>
                <a:sym typeface="Agrandir"/>
              </a:rPr>
              <a:t>   Setiap pohon baru memperbaiki kesalahan dari pohon sebelumnya</a:t>
            </a:r>
          </a:p>
          <a:p>
            <a:pPr marL="862395" lvl="1" indent="-431197" algn="just">
              <a:lnSpc>
                <a:spcPts val="5352"/>
              </a:lnSpc>
              <a:buFont typeface="Arial"/>
              <a:buChar char="•"/>
            </a:pPr>
            <a:r>
              <a:rPr lang="en-US" sz="3994">
                <a:solidFill>
                  <a:srgbClr val="000000"/>
                </a:solidFill>
                <a:latin typeface="Agrandir"/>
                <a:ea typeface="Agrandir"/>
                <a:cs typeface="Agrandir"/>
                <a:sym typeface="Agrandir"/>
              </a:rPr>
              <a:t> Gradient Descent</a:t>
            </a:r>
          </a:p>
          <a:p>
            <a:pPr algn="just">
              <a:lnSpc>
                <a:spcPts val="5352"/>
              </a:lnSpc>
            </a:pPr>
            <a:r>
              <a:rPr lang="en-US" sz="3994">
                <a:solidFill>
                  <a:srgbClr val="000000"/>
                </a:solidFill>
                <a:latin typeface="Agrandir"/>
                <a:ea typeface="Agrandir"/>
                <a:cs typeface="Agrandir"/>
                <a:sym typeface="Agrandir"/>
              </a:rPr>
              <a:t>    Mengoptimalkan perbedaan antara prediksi dan data aktual.</a:t>
            </a:r>
          </a:p>
          <a:p>
            <a:pPr marL="862395" lvl="1" indent="-431197" algn="just">
              <a:lnSpc>
                <a:spcPts val="5352"/>
              </a:lnSpc>
              <a:buFont typeface="Arial"/>
              <a:buChar char="•"/>
            </a:pPr>
            <a:r>
              <a:rPr lang="en-US" sz="3994">
                <a:solidFill>
                  <a:srgbClr val="000000"/>
                </a:solidFill>
                <a:latin typeface="Agrandir"/>
                <a:ea typeface="Agrandir"/>
                <a:cs typeface="Agrandir"/>
                <a:sym typeface="Agrandir"/>
              </a:rPr>
              <a:t> Regularisasi</a:t>
            </a:r>
          </a:p>
          <a:p>
            <a:pPr algn="just">
              <a:lnSpc>
                <a:spcPts val="5352"/>
              </a:lnSpc>
            </a:pPr>
            <a:r>
              <a:rPr lang="en-US" sz="3994">
                <a:solidFill>
                  <a:srgbClr val="000000"/>
                </a:solidFill>
                <a:latin typeface="Agrandir"/>
                <a:ea typeface="Agrandir"/>
                <a:cs typeface="Agrandir"/>
                <a:sym typeface="Agrandir"/>
              </a:rPr>
              <a:t>    Menyederhanakan pohon dan menghindari overfitting agar model tetap akurat di data baru.</a:t>
            </a:r>
          </a:p>
          <a:p>
            <a:pPr algn="just">
              <a:lnSpc>
                <a:spcPts val="4548"/>
              </a:lnSpc>
            </a:pPr>
            <a:endParaRPr lang="en-US" sz="3994">
              <a:solidFill>
                <a:srgbClr val="000000"/>
              </a:solidFill>
              <a:latin typeface="Agrandir"/>
              <a:ea typeface="Agrandir"/>
              <a:cs typeface="Agrandir"/>
              <a:sym typeface="Agrandir"/>
            </a:endParaRPr>
          </a:p>
          <a:p>
            <a:pPr algn="just">
              <a:lnSpc>
                <a:spcPts val="4548"/>
              </a:lnSpc>
            </a:pPr>
            <a:r>
              <a:rPr lang="en-US" sz="3394">
                <a:solidFill>
                  <a:srgbClr val="000000"/>
                </a:solidFill>
                <a:latin typeface="Agrandir"/>
                <a:ea typeface="Agrandir"/>
                <a:cs typeface="Agrandir"/>
                <a:sym typeface="Agrandir"/>
              </a:rPr>
              <a:t>    </a:t>
            </a:r>
          </a:p>
          <a:p>
            <a:pPr algn="just">
              <a:lnSpc>
                <a:spcPts val="4548"/>
              </a:lnSpc>
            </a:pPr>
            <a:endParaRPr lang="en-US" sz="3394">
              <a:solidFill>
                <a:srgbClr val="000000"/>
              </a:solidFill>
              <a:latin typeface="Agrandir"/>
              <a:ea typeface="Agrandir"/>
              <a:cs typeface="Agrandir"/>
              <a:sym typeface="Agrandir"/>
            </a:endParaRPr>
          </a:p>
        </p:txBody>
      </p:sp>
      <p:sp>
        <p:nvSpPr>
          <p:cNvPr id="11" name="TextBox 11"/>
          <p:cNvSpPr txBox="1"/>
          <p:nvPr/>
        </p:nvSpPr>
        <p:spPr>
          <a:xfrm>
            <a:off x="2253106" y="942975"/>
            <a:ext cx="14240317" cy="91948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XGBoost (Extreme Gradient Boosting) </a:t>
            </a:r>
          </a:p>
        </p:txBody>
      </p:sp>
    </p:spTree>
  </p:cSld>
  <p:clrMapOvr>
    <a:masterClrMapping/>
  </p:clrMapOvr>
  <p:transition/>
  <p:timing/>
</p:sld>
</file>

<file path=ppt/slides/slide2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64000"/>
            </a:blip>
            <a:stretch>
              <a:fillRect t="-33333" b="0"/>
            </a:stretch>
          </a:blipFill>
        </p:spPr>
        <p:txBody>
          <a:bodyPr/>
          <a:lstStyle/>
          <a:p/>
        </p:txBody>
      </p:sp>
      <p:sp>
        <p:nvSpPr>
          <p:cNvPr id="3" name="Freeform 3"/>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grpSp>
        <p:nvGrpSpPr>
          <p:cNvPr id="6" name="Group 6"/>
          <p:cNvGrpSpPr/>
          <p:nvPr/>
        </p:nvGrpSpPr>
        <p:grpSpPr>
          <a:xfrm>
            <a:off x="1308042" y="2541572"/>
            <a:ext cx="7835958" cy="6716728"/>
            <a:chExt cx="2063791" cy="1769015"/>
          </a:xfrm>
        </p:grpSpPr>
        <p:sp>
          <p:nvSpPr>
            <p:cNvPr id="7" name="Freeform 7"/>
            <p:cNvSpPr/>
            <p:nvPr/>
          </p:nvSpPr>
          <p:spPr>
            <a:xfrm>
              <a:off x="0" y="0"/>
              <a:ext cx="2063791" cy="1769015"/>
            </a:xfrm>
            <a:custGeom>
              <a:rect l="l" t="t" r="r" b="b"/>
              <a:pathLst>
                <a:path w="2063791" h="1769015">
                  <a:moveTo>
                    <a:pt x="50388" y="0"/>
                  </a:moveTo>
                  <a:lnTo>
                    <a:pt x="2013403" y="0"/>
                  </a:lnTo>
                  <a:cubicBezTo>
                    <a:pt x="2041232" y="0"/>
                    <a:pt x="2063791" y="22559"/>
                    <a:pt x="2063791" y="50388"/>
                  </a:cubicBezTo>
                  <a:lnTo>
                    <a:pt x="2063791" y="1718627"/>
                  </a:lnTo>
                  <a:cubicBezTo>
                    <a:pt x="2063791" y="1731990"/>
                    <a:pt x="2058483" y="1744807"/>
                    <a:pt x="2049033" y="1754256"/>
                  </a:cubicBezTo>
                  <a:cubicBezTo>
                    <a:pt x="2039584" y="1763706"/>
                    <a:pt x="2026767" y="1769015"/>
                    <a:pt x="2013403" y="1769015"/>
                  </a:cubicBezTo>
                  <a:lnTo>
                    <a:pt x="50388" y="1769015"/>
                  </a:lnTo>
                  <a:cubicBezTo>
                    <a:pt x="22559" y="1769015"/>
                    <a:pt x="0" y="1746455"/>
                    <a:pt x="0" y="1718627"/>
                  </a:cubicBezTo>
                  <a:lnTo>
                    <a:pt x="0" y="50388"/>
                  </a:lnTo>
                  <a:cubicBezTo>
                    <a:pt x="0" y="22559"/>
                    <a:pt x="22559" y="0"/>
                    <a:pt x="50388" y="0"/>
                  </a:cubicBezTo>
                  <a:close/>
                </a:path>
              </a:pathLst>
            </a:custGeom>
            <a:solidFill>
              <a:srgbClr val="FFFFFF"/>
            </a:solidFill>
          </p:spPr>
          <p:txBody>
            <a:bodyPr/>
            <a:lstStyle/>
            <a:p/>
          </p:txBody>
        </p:sp>
        <p:sp>
          <p:nvSpPr>
            <p:cNvPr id="8" name="TextBox 8"/>
            <p:cNvSpPr txBox="1"/>
            <p:nvPr/>
          </p:nvSpPr>
          <p:spPr>
            <a:xfrm>
              <a:off x="0" y="-85725"/>
              <a:ext cx="2063791" cy="1854740"/>
            </a:xfrm>
            <a:prstGeom prst="rect">
              <a:avLst/>
            </a:prstGeom>
          </p:spPr>
          <p:txBody>
            <a:bodyPr lIns="50800" tIns="50800" rIns="50800" bIns="50800" rtlCol="0" anchor="ctr"/>
            <a:lstStyle/>
            <a:p>
              <a:pPr algn="ctr">
                <a:lnSpc>
                  <a:spcPts val="2679"/>
                </a:lnSpc>
              </a:pPr>
            </a:p>
          </p:txBody>
        </p:sp>
      </p:grpSp>
      <p:grpSp>
        <p:nvGrpSpPr>
          <p:cNvPr id="9" name="Group 9"/>
          <p:cNvGrpSpPr/>
          <p:nvPr/>
        </p:nvGrpSpPr>
        <p:grpSpPr>
          <a:xfrm>
            <a:off x="9464062" y="2225931"/>
            <a:ext cx="7815761" cy="7323808"/>
            <a:chExt cx="2058472" cy="1928904"/>
          </a:xfrm>
        </p:grpSpPr>
        <p:sp>
          <p:nvSpPr>
            <p:cNvPr id="10" name="Freeform 10"/>
            <p:cNvSpPr/>
            <p:nvPr/>
          </p:nvSpPr>
          <p:spPr>
            <a:xfrm>
              <a:off x="0" y="0"/>
              <a:ext cx="2058472" cy="1928904"/>
            </a:xfrm>
            <a:custGeom>
              <a:rect l="l" t="t" r="r" b="b"/>
              <a:pathLst>
                <a:path w="2058472" h="1928904">
                  <a:moveTo>
                    <a:pt x="50518" y="0"/>
                  </a:moveTo>
                  <a:lnTo>
                    <a:pt x="2007954" y="0"/>
                  </a:lnTo>
                  <a:cubicBezTo>
                    <a:pt x="2035854" y="0"/>
                    <a:pt x="2058472" y="22618"/>
                    <a:pt x="2058472" y="50518"/>
                  </a:cubicBezTo>
                  <a:lnTo>
                    <a:pt x="2058472" y="1878386"/>
                  </a:lnTo>
                  <a:cubicBezTo>
                    <a:pt x="2058472" y="1906286"/>
                    <a:pt x="2035854" y="1928904"/>
                    <a:pt x="2007954" y="1928904"/>
                  </a:cubicBezTo>
                  <a:lnTo>
                    <a:pt x="50518" y="1928904"/>
                  </a:lnTo>
                  <a:cubicBezTo>
                    <a:pt x="22618" y="1928904"/>
                    <a:pt x="0" y="1906286"/>
                    <a:pt x="0" y="1878386"/>
                  </a:cubicBezTo>
                  <a:lnTo>
                    <a:pt x="0" y="50518"/>
                  </a:lnTo>
                  <a:cubicBezTo>
                    <a:pt x="0" y="22618"/>
                    <a:pt x="22618" y="0"/>
                    <a:pt x="50518" y="0"/>
                  </a:cubicBezTo>
                  <a:close/>
                </a:path>
              </a:pathLst>
            </a:custGeom>
            <a:solidFill>
              <a:srgbClr val="FFFFFF"/>
            </a:solidFill>
          </p:spPr>
          <p:txBody>
            <a:bodyPr/>
            <a:lstStyle/>
            <a:p/>
          </p:txBody>
        </p:sp>
        <p:sp>
          <p:nvSpPr>
            <p:cNvPr id="11" name="TextBox 11"/>
            <p:cNvSpPr txBox="1"/>
            <p:nvPr/>
          </p:nvSpPr>
          <p:spPr>
            <a:xfrm>
              <a:off x="0" y="-85725"/>
              <a:ext cx="2058472" cy="2014629"/>
            </a:xfrm>
            <a:prstGeom prst="rect">
              <a:avLst/>
            </a:prstGeom>
          </p:spPr>
          <p:txBody>
            <a:bodyPr lIns="50800" tIns="50800" rIns="50800" bIns="50800" rtlCol="0" anchor="ctr"/>
            <a:lstStyle/>
            <a:p>
              <a:pPr algn="ctr">
                <a:lnSpc>
                  <a:spcPts val="2679"/>
                </a:lnSpc>
              </a:pPr>
            </a:p>
          </p:txBody>
        </p:sp>
      </p:grpSp>
      <p:sp>
        <p:nvSpPr>
          <p:cNvPr id="12" name="Freeform 12"/>
          <p:cNvSpPr/>
          <p:nvPr/>
        </p:nvSpPr>
        <p:spPr>
          <a:xfrm>
            <a:off x="1991526" y="3312078"/>
            <a:ext cx="6171814" cy="1184260"/>
          </a:xfrm>
          <a:custGeom>
            <a:rect l="l" t="t" r="r" b="b"/>
            <a:pathLst>
              <a:path w="6171814" h="1184260">
                <a:moveTo>
                  <a:pt x="0" y="0"/>
                </a:moveTo>
                <a:lnTo>
                  <a:pt x="6171814" y="0"/>
                </a:lnTo>
                <a:lnTo>
                  <a:pt x="6171814" y="1184259"/>
                </a:lnTo>
                <a:lnTo>
                  <a:pt x="0" y="1184259"/>
                </a:lnTo>
                <a:lnTo>
                  <a:pt x="0" y="0"/>
                </a:lnTo>
                <a:close/>
              </a:path>
            </a:pathLst>
          </a:custGeom>
          <a:blipFill>
            <a:blip r:embed="rId8"/>
            <a:stretch>
              <a:fillRect/>
            </a:stretch>
          </a:blipFill>
        </p:spPr>
        <p:txBody>
          <a:bodyPr/>
          <a:lstStyle/>
          <a:p/>
        </p:txBody>
      </p:sp>
      <p:sp>
        <p:nvSpPr>
          <p:cNvPr id="13" name="Freeform 13"/>
          <p:cNvSpPr/>
          <p:nvPr/>
        </p:nvSpPr>
        <p:spPr>
          <a:xfrm>
            <a:off x="10806604" y="2541572"/>
            <a:ext cx="5130679" cy="746281"/>
          </a:xfrm>
          <a:custGeom>
            <a:rect l="l" t="t" r="r" b="b"/>
            <a:pathLst>
              <a:path w="5130679" h="746281">
                <a:moveTo>
                  <a:pt x="0" y="0"/>
                </a:moveTo>
                <a:lnTo>
                  <a:pt x="5130678" y="0"/>
                </a:lnTo>
                <a:lnTo>
                  <a:pt x="5130678" y="746281"/>
                </a:lnTo>
                <a:lnTo>
                  <a:pt x="0" y="746281"/>
                </a:lnTo>
                <a:lnTo>
                  <a:pt x="0" y="0"/>
                </a:lnTo>
                <a:close/>
              </a:path>
            </a:pathLst>
          </a:custGeom>
          <a:blipFill>
            <a:blip r:embed="rId9"/>
            <a:stretch>
              <a:fillRect/>
            </a:stretch>
          </a:blipFill>
        </p:spPr>
        <p:txBody>
          <a:bodyPr/>
          <a:lstStyle/>
          <a:p/>
        </p:txBody>
      </p:sp>
      <p:sp>
        <p:nvSpPr>
          <p:cNvPr id="14" name="TextBox 14"/>
          <p:cNvSpPr txBox="1"/>
          <p:nvPr/>
        </p:nvSpPr>
        <p:spPr>
          <a:xfrm>
            <a:off x="1510113" y="2596848"/>
            <a:ext cx="12138968" cy="715230"/>
          </a:xfrm>
          <a:prstGeom prst="rect">
            <a:avLst/>
          </a:prstGeom>
        </p:spPr>
        <p:txBody>
          <a:bodyPr lIns="0" tIns="0" rIns="0" bIns="0" rtlCol="0" anchor="t">
            <a:spAutoFit/>
          </a:bodyPr>
          <a:lstStyle/>
          <a:p>
            <a:pPr algn="l">
              <a:lnSpc>
                <a:spcPts val="4960"/>
              </a:lnSpc>
            </a:pPr>
            <a:r>
              <a:rPr lang="en-US" sz="3701" b="1">
                <a:solidFill>
                  <a:srgbClr val="E85041"/>
                </a:solidFill>
                <a:latin typeface="Agrandir Bold"/>
                <a:ea typeface="Agrandir Bold"/>
                <a:cs typeface="Agrandir Bold"/>
                <a:sym typeface="Agrandir Bold"/>
              </a:rPr>
              <a:t>Fungsi Objektif XGBoost:</a:t>
            </a:r>
          </a:p>
        </p:txBody>
      </p:sp>
      <p:sp>
        <p:nvSpPr>
          <p:cNvPr id="15" name="TextBox 15"/>
          <p:cNvSpPr txBox="1"/>
          <p:nvPr/>
        </p:nvSpPr>
        <p:spPr>
          <a:xfrm>
            <a:off x="2253106" y="942975"/>
            <a:ext cx="14240317" cy="91948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XGBoost (Extreme Gradient Boosting) </a:t>
            </a:r>
          </a:p>
        </p:txBody>
      </p:sp>
      <p:sp>
        <p:nvSpPr>
          <p:cNvPr id="16" name="TextBox 16"/>
          <p:cNvSpPr txBox="1"/>
          <p:nvPr/>
        </p:nvSpPr>
        <p:spPr>
          <a:xfrm>
            <a:off x="9689243" y="3173553"/>
            <a:ext cx="7590581" cy="6863687"/>
          </a:xfrm>
          <a:prstGeom prst="rect">
            <a:avLst/>
          </a:prstGeom>
        </p:spPr>
        <p:txBody>
          <a:bodyPr lIns="0" tIns="0" rIns="0" bIns="0" rtlCol="0" anchor="t">
            <a:spAutoFit/>
          </a:bodyPr>
          <a:lstStyle/>
          <a:p>
            <a:pPr algn="l">
              <a:lnSpc>
                <a:spcPts val="3878"/>
              </a:lnSpc>
            </a:pPr>
            <a:r>
              <a:rPr lang="en-US" sz="2894">
                <a:solidFill>
                  <a:srgbClr val="000000"/>
                </a:solidFill>
                <a:latin typeface="Agrandir"/>
                <a:ea typeface="Agrandir"/>
                <a:cs typeface="Agrandir"/>
                <a:sym typeface="Agrandir"/>
              </a:rPr>
              <a:t> Keterangan:</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T adalah jumlah daun dalam pohon.</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w adalah bobot setiap daun.</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γ adalah parameter regularisasi yang mengontrol kompleksitas pohon (semakin besar nilai γ, semakin sederhana pohon yang dibangun).</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λ adalah parameter regularisasi lainnya yang membantu menghindari overfitting dengan mengontrol besar bobot yang diberikan kepada daun pohon keputusan.</a:t>
            </a:r>
          </a:p>
          <a:p>
            <a:pPr algn="l">
              <a:lnSpc>
                <a:spcPts val="3878"/>
              </a:lnSpc>
            </a:pPr>
            <a:r>
              <a:rPr lang="en-US" sz="2894">
                <a:solidFill>
                  <a:srgbClr val="000000"/>
                </a:solidFill>
                <a:latin typeface="Agrandir"/>
                <a:ea typeface="Agrandir"/>
                <a:cs typeface="Agrandir"/>
                <a:sym typeface="Agrandir"/>
              </a:rPr>
              <a:t> </a:t>
            </a:r>
          </a:p>
          <a:p>
            <a:pPr algn="l">
              <a:lnSpc>
                <a:spcPts val="3878"/>
              </a:lnSpc>
            </a:pPr>
            <a:endParaRPr lang="en-US" sz="2894">
              <a:solidFill>
                <a:srgbClr val="000000"/>
              </a:solidFill>
              <a:latin typeface="Agrandir"/>
              <a:ea typeface="Agrandir"/>
              <a:cs typeface="Agrandir"/>
              <a:sym typeface="Agrandir"/>
            </a:endParaRPr>
          </a:p>
        </p:txBody>
      </p:sp>
      <p:sp>
        <p:nvSpPr>
          <p:cNvPr id="17" name="TextBox 17"/>
          <p:cNvSpPr txBox="1"/>
          <p:nvPr/>
        </p:nvSpPr>
        <p:spPr>
          <a:xfrm>
            <a:off x="1510113" y="4624925"/>
            <a:ext cx="7590581" cy="4920587"/>
          </a:xfrm>
          <a:prstGeom prst="rect">
            <a:avLst/>
          </a:prstGeom>
        </p:spPr>
        <p:txBody>
          <a:bodyPr lIns="0" tIns="0" rIns="0" bIns="0" rtlCol="0" anchor="t">
            <a:spAutoFit/>
          </a:bodyPr>
          <a:lstStyle/>
          <a:p>
            <a:pPr algn="l">
              <a:lnSpc>
                <a:spcPts val="3878"/>
              </a:lnSpc>
            </a:pPr>
            <a:r>
              <a:rPr lang="en-US" sz="2894">
                <a:solidFill>
                  <a:srgbClr val="000000"/>
                </a:solidFill>
                <a:latin typeface="Agrandir"/>
                <a:ea typeface="Agrandir"/>
                <a:cs typeface="Agrandir"/>
                <a:sym typeface="Agrandir"/>
              </a:rPr>
              <a:t>Keterangan:</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L(ϕ) adalah fungsi objektif keseluruhan.</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l(ŷi, yi) adalah loss function yang mengukur perbedaan antara nilai prediksi (ŷi) dan nilai aktual (yi), seperti squared error pada regresi.</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Ω(fk) adalah fungsi regularisasi untuk pohon ke-k, yang dapat dituliskan sebagai:</a:t>
            </a:r>
          </a:p>
          <a:p>
            <a:pPr algn="l">
              <a:lnSpc>
                <a:spcPts val="3878"/>
              </a:lnSpc>
            </a:pPr>
            <a:r>
              <a:rPr lang="en-US" sz="2894">
                <a:solidFill>
                  <a:srgbClr val="000000"/>
                </a:solidFill>
                <a:latin typeface="Agrandir"/>
                <a:ea typeface="Agrandir"/>
                <a:cs typeface="Agrandir"/>
                <a:sym typeface="Agrandir"/>
              </a:rPr>
              <a:t>\</a:t>
            </a:r>
          </a:p>
        </p:txBody>
      </p:sp>
    </p:spTree>
  </p:cSld>
  <p:clrMapOvr>
    <a:masterClrMapping/>
  </p:clrMapOvr>
  <p:transition/>
  <p:timing/>
</p:sld>
</file>

<file path=ppt/slides/slide2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4">
              <a:alphaModFix amt="38000"/>
            </a:blip>
            <a:stretch>
              <a:fillRect t="-16666" b="-16666"/>
            </a:stretch>
          </a:blipFill>
        </p:spPr>
        <p:txBody>
          <a:bodyPr/>
          <a:lstStyle/>
          <a:p/>
        </p:txBody>
      </p:sp>
      <p:sp>
        <p:nvSpPr>
          <p:cNvPr id="4" name="Freeform 4"/>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grpSp>
        <p:nvGrpSpPr>
          <p:cNvPr id="6" name="Group 6"/>
          <p:cNvGrpSpPr/>
          <p:nvPr/>
        </p:nvGrpSpPr>
        <p:grpSpPr>
          <a:xfrm>
            <a:off x="4662701" y="2466965"/>
            <a:ext cx="8619726" cy="6791335"/>
            <a:chExt cx="2270216" cy="1788664"/>
          </a:xfrm>
        </p:grpSpPr>
        <p:sp>
          <p:nvSpPr>
            <p:cNvPr id="7" name="Freeform 7"/>
            <p:cNvSpPr/>
            <p:nvPr/>
          </p:nvSpPr>
          <p:spPr>
            <a:xfrm>
              <a:off x="0" y="0"/>
              <a:ext cx="2270216" cy="1788664"/>
            </a:xfrm>
            <a:custGeom>
              <a:rect l="l" t="t" r="r" b="b"/>
              <a:pathLst>
                <a:path w="2270216" h="1788663">
                  <a:moveTo>
                    <a:pt x="45806" y="0"/>
                  </a:moveTo>
                  <a:lnTo>
                    <a:pt x="2224410" y="0"/>
                  </a:lnTo>
                  <a:cubicBezTo>
                    <a:pt x="2236558" y="0"/>
                    <a:pt x="2248209" y="4826"/>
                    <a:pt x="2256799" y="13416"/>
                  </a:cubicBezTo>
                  <a:cubicBezTo>
                    <a:pt x="2265390" y="22007"/>
                    <a:pt x="2270216" y="33658"/>
                    <a:pt x="2270216" y="45806"/>
                  </a:cubicBezTo>
                  <a:lnTo>
                    <a:pt x="2270216" y="1742858"/>
                  </a:lnTo>
                  <a:cubicBezTo>
                    <a:pt x="2270216" y="1755007"/>
                    <a:pt x="2265390" y="1766657"/>
                    <a:pt x="2256799" y="1775248"/>
                  </a:cubicBezTo>
                  <a:cubicBezTo>
                    <a:pt x="2248209" y="1783838"/>
                    <a:pt x="2236558" y="1788664"/>
                    <a:pt x="2224410" y="1788664"/>
                  </a:cubicBezTo>
                  <a:lnTo>
                    <a:pt x="45806" y="1788664"/>
                  </a:lnTo>
                  <a:cubicBezTo>
                    <a:pt x="33658" y="1788664"/>
                    <a:pt x="22007" y="1783838"/>
                    <a:pt x="13416" y="1775248"/>
                  </a:cubicBezTo>
                  <a:cubicBezTo>
                    <a:pt x="4826" y="1766657"/>
                    <a:pt x="0" y="1755007"/>
                    <a:pt x="0" y="1742858"/>
                  </a:cubicBezTo>
                  <a:lnTo>
                    <a:pt x="0" y="45806"/>
                  </a:lnTo>
                  <a:cubicBezTo>
                    <a:pt x="0" y="33658"/>
                    <a:pt x="4826" y="22007"/>
                    <a:pt x="13416" y="13416"/>
                  </a:cubicBezTo>
                  <a:cubicBezTo>
                    <a:pt x="22007" y="4826"/>
                    <a:pt x="33658" y="0"/>
                    <a:pt x="45806" y="0"/>
                  </a:cubicBezTo>
                  <a:close/>
                </a:path>
              </a:pathLst>
            </a:custGeom>
            <a:solidFill>
              <a:srgbClr val="FFFFFF"/>
            </a:solidFill>
          </p:spPr>
          <p:txBody>
            <a:bodyPr/>
            <a:lstStyle/>
            <a:p/>
          </p:txBody>
        </p:sp>
        <p:sp>
          <p:nvSpPr>
            <p:cNvPr id="8" name="TextBox 8"/>
            <p:cNvSpPr txBox="1"/>
            <p:nvPr/>
          </p:nvSpPr>
          <p:spPr>
            <a:xfrm>
              <a:off x="0" y="-85725"/>
              <a:ext cx="2270216" cy="1874389"/>
            </a:xfrm>
            <a:prstGeom prst="rect">
              <a:avLst/>
            </a:prstGeom>
          </p:spPr>
          <p:txBody>
            <a:bodyPr lIns="50800" tIns="50800" rIns="50800" bIns="50800" rtlCol="0" anchor="ctr"/>
            <a:lstStyle/>
            <a:p>
              <a:pPr algn="ctr">
                <a:lnSpc>
                  <a:spcPts val="2679"/>
                </a:lnSpc>
              </a:pPr>
            </a:p>
          </p:txBody>
        </p:sp>
      </p:grpSp>
      <p:sp>
        <p:nvSpPr>
          <p:cNvPr id="9" name="Freeform 9"/>
          <p:cNvSpPr/>
          <p:nvPr/>
        </p:nvSpPr>
        <p:spPr>
          <a:xfrm>
            <a:off x="7062439" y="3599701"/>
            <a:ext cx="4163122" cy="1938005"/>
          </a:xfrm>
          <a:custGeom>
            <a:rect l="l" t="t" r="r" b="b"/>
            <a:pathLst>
              <a:path w="4163122" h="1938004">
                <a:moveTo>
                  <a:pt x="0" y="0"/>
                </a:moveTo>
                <a:lnTo>
                  <a:pt x="4163122" y="0"/>
                </a:lnTo>
                <a:lnTo>
                  <a:pt x="4163122" y="1938005"/>
                </a:lnTo>
                <a:lnTo>
                  <a:pt x="0" y="1938005"/>
                </a:lnTo>
                <a:lnTo>
                  <a:pt x="0" y="0"/>
                </a:lnTo>
                <a:close/>
              </a:path>
            </a:pathLst>
          </a:custGeom>
          <a:blipFill>
            <a:blip r:embed="rId8"/>
            <a:stretch>
              <a:fillRect/>
            </a:stretch>
          </a:blipFill>
        </p:spPr>
        <p:txBody>
          <a:bodyPr/>
          <a:lstStyle/>
          <a:p/>
        </p:txBody>
      </p:sp>
      <p:sp>
        <p:nvSpPr>
          <p:cNvPr id="10" name="TextBox 10"/>
          <p:cNvSpPr txBox="1"/>
          <p:nvPr/>
        </p:nvSpPr>
        <p:spPr>
          <a:xfrm>
            <a:off x="5516028" y="2598721"/>
            <a:ext cx="12138968" cy="715230"/>
          </a:xfrm>
          <a:prstGeom prst="rect">
            <a:avLst/>
          </a:prstGeom>
        </p:spPr>
        <p:txBody>
          <a:bodyPr lIns="0" tIns="0" rIns="0" bIns="0" rtlCol="0" anchor="t">
            <a:spAutoFit/>
          </a:bodyPr>
          <a:lstStyle/>
          <a:p>
            <a:pPr algn="l">
              <a:lnSpc>
                <a:spcPts val="4960"/>
              </a:lnSpc>
            </a:pPr>
            <a:r>
              <a:rPr lang="en-US" sz="3701" b="1">
                <a:solidFill>
                  <a:srgbClr val="E85041"/>
                </a:solidFill>
                <a:latin typeface="Agrandir Bold"/>
                <a:ea typeface="Agrandir Bold"/>
                <a:cs typeface="Agrandir Bold"/>
                <a:sym typeface="Agrandir Bold"/>
              </a:rPr>
              <a:t>Prediksi akhir dalam XGBoost </a:t>
            </a:r>
          </a:p>
        </p:txBody>
      </p:sp>
      <p:sp>
        <p:nvSpPr>
          <p:cNvPr id="11" name="TextBox 11"/>
          <p:cNvSpPr txBox="1"/>
          <p:nvPr/>
        </p:nvSpPr>
        <p:spPr>
          <a:xfrm>
            <a:off x="2253106" y="942975"/>
            <a:ext cx="14240317" cy="91948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XGBoost (Extreme Gradient Boosting) </a:t>
            </a:r>
          </a:p>
        </p:txBody>
      </p:sp>
      <p:sp>
        <p:nvSpPr>
          <p:cNvPr id="12" name="TextBox 12"/>
          <p:cNvSpPr txBox="1"/>
          <p:nvPr/>
        </p:nvSpPr>
        <p:spPr>
          <a:xfrm>
            <a:off x="5105442" y="5711029"/>
            <a:ext cx="7590581" cy="3949037"/>
          </a:xfrm>
          <a:prstGeom prst="rect">
            <a:avLst/>
          </a:prstGeom>
        </p:spPr>
        <p:txBody>
          <a:bodyPr lIns="0" tIns="0" rIns="0" bIns="0" rtlCol="0" anchor="t">
            <a:spAutoFit/>
          </a:bodyPr>
          <a:lstStyle/>
          <a:p>
            <a:pPr algn="l">
              <a:lnSpc>
                <a:spcPts val="3878"/>
              </a:lnSpc>
            </a:pPr>
            <a:r>
              <a:rPr lang="en-US" sz="2894">
                <a:solidFill>
                  <a:srgbClr val="000000"/>
                </a:solidFill>
                <a:latin typeface="Agrandir"/>
                <a:ea typeface="Agrandir"/>
                <a:cs typeface="Agrandir"/>
                <a:sym typeface="Agrandir"/>
              </a:rPr>
              <a:t>Keterangan:</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y^t​ adalah prediksi akhir dari model XGBoost.</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fk(x) adalah output dari pohon keputusan ke-k.</a:t>
            </a:r>
          </a:p>
          <a:p>
            <a:pPr marL="624909" lvl="1" indent="-312455" algn="l">
              <a:lnSpc>
                <a:spcPts val="3878"/>
              </a:lnSpc>
              <a:buFont typeface="Arial"/>
              <a:buChar char="•"/>
            </a:pPr>
            <a:r>
              <a:rPr lang="en-US" sz="2894">
                <a:solidFill>
                  <a:srgbClr val="000000"/>
                </a:solidFill>
                <a:latin typeface="Agrandir"/>
                <a:ea typeface="Agrandir"/>
                <a:cs typeface="Agrandir"/>
                <a:sym typeface="Agrandir"/>
              </a:rPr>
              <a:t>x adalah input atau fitur yang digunakan untuk prediksi.</a:t>
            </a:r>
          </a:p>
          <a:p>
            <a:pPr algn="l">
              <a:lnSpc>
                <a:spcPts val="3878"/>
              </a:lnSpc>
            </a:pPr>
            <a:endParaRPr lang="en-US" sz="2894">
              <a:solidFill>
                <a:srgbClr val="000000"/>
              </a:solidFill>
              <a:latin typeface="Agrandir"/>
              <a:ea typeface="Agrandir"/>
              <a:cs typeface="Agrandir"/>
              <a:sym typeface="Agrandir"/>
            </a:endParaRPr>
          </a:p>
        </p:txBody>
      </p:sp>
    </p:spTree>
  </p:cSld>
  <p:clrMapOvr>
    <a:masterClrMapping/>
  </p:clrMapOvr>
  <p:transition/>
  <p:timing/>
</p:sld>
</file>

<file path=ppt/slides/slide26.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52000"/>
            </a:blip>
            <a:stretch>
              <a:fillRect l="-4479" r="-4479"/>
            </a:stretch>
          </a:blipFill>
        </p:spPr>
        <p:txBody>
          <a:bodyPr/>
          <a:lstStyle/>
          <a:p/>
        </p:txBody>
      </p:sp>
      <p:sp>
        <p:nvSpPr>
          <p:cNvPr id="3" name="Freeform 3"/>
          <p:cNvSpPr/>
          <p:nvPr/>
        </p:nvSpPr>
        <p:spPr>
          <a:xfrm>
            <a:off x="-3850612" y="5709635"/>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3">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grpSp>
        <p:nvGrpSpPr>
          <p:cNvPr id="6" name="Group 6"/>
          <p:cNvGrpSpPr/>
          <p:nvPr/>
        </p:nvGrpSpPr>
        <p:grpSpPr>
          <a:xfrm>
            <a:off x="1028700" y="2374020"/>
            <a:ext cx="9730904" cy="2845098"/>
            <a:chExt cx="2562872" cy="749326"/>
          </a:xfrm>
        </p:grpSpPr>
        <p:sp>
          <p:nvSpPr>
            <p:cNvPr id="7" name="Freeform 7"/>
            <p:cNvSpPr/>
            <p:nvPr/>
          </p:nvSpPr>
          <p:spPr>
            <a:xfrm>
              <a:off x="0" y="0"/>
              <a:ext cx="2562872" cy="749326"/>
            </a:xfrm>
            <a:custGeom>
              <a:rect l="l" t="t" r="r" b="b"/>
              <a:pathLst>
                <a:path w="2562872" h="749326">
                  <a:moveTo>
                    <a:pt x="40576" y="0"/>
                  </a:moveTo>
                  <a:lnTo>
                    <a:pt x="2522296" y="0"/>
                  </a:lnTo>
                  <a:cubicBezTo>
                    <a:pt x="2533058" y="0"/>
                    <a:pt x="2543378" y="4275"/>
                    <a:pt x="2550988" y="11884"/>
                  </a:cubicBezTo>
                  <a:cubicBezTo>
                    <a:pt x="2558597" y="19494"/>
                    <a:pt x="2562872" y="29814"/>
                    <a:pt x="2562872" y="40576"/>
                  </a:cubicBezTo>
                  <a:lnTo>
                    <a:pt x="2562872" y="708750"/>
                  </a:lnTo>
                  <a:cubicBezTo>
                    <a:pt x="2562872" y="719512"/>
                    <a:pt x="2558597" y="729832"/>
                    <a:pt x="2550988" y="737442"/>
                  </a:cubicBezTo>
                  <a:cubicBezTo>
                    <a:pt x="2543378" y="745051"/>
                    <a:pt x="2533058" y="749326"/>
                    <a:pt x="2522296" y="749326"/>
                  </a:cubicBezTo>
                  <a:lnTo>
                    <a:pt x="40576" y="749326"/>
                  </a:lnTo>
                  <a:cubicBezTo>
                    <a:pt x="29814" y="749326"/>
                    <a:pt x="19494" y="745051"/>
                    <a:pt x="11884" y="737442"/>
                  </a:cubicBezTo>
                  <a:cubicBezTo>
                    <a:pt x="4275" y="729832"/>
                    <a:pt x="0" y="719512"/>
                    <a:pt x="0" y="708750"/>
                  </a:cubicBezTo>
                  <a:lnTo>
                    <a:pt x="0" y="40576"/>
                  </a:lnTo>
                  <a:cubicBezTo>
                    <a:pt x="0" y="29814"/>
                    <a:pt x="4275" y="19494"/>
                    <a:pt x="11884" y="11884"/>
                  </a:cubicBezTo>
                  <a:cubicBezTo>
                    <a:pt x="19494" y="4275"/>
                    <a:pt x="29814" y="0"/>
                    <a:pt x="40576" y="0"/>
                  </a:cubicBezTo>
                  <a:close/>
                </a:path>
              </a:pathLst>
            </a:custGeom>
            <a:solidFill>
              <a:srgbClr val="FFFFFF"/>
            </a:solidFill>
          </p:spPr>
          <p:txBody>
            <a:bodyPr/>
            <a:lstStyle/>
            <a:p/>
          </p:txBody>
        </p:sp>
        <p:sp>
          <p:nvSpPr>
            <p:cNvPr id="8" name="TextBox 8"/>
            <p:cNvSpPr txBox="1"/>
            <p:nvPr/>
          </p:nvSpPr>
          <p:spPr>
            <a:xfrm>
              <a:off x="0" y="-85725"/>
              <a:ext cx="2562872" cy="835051"/>
            </a:xfrm>
            <a:prstGeom prst="rect">
              <a:avLst/>
            </a:prstGeom>
          </p:spPr>
          <p:txBody>
            <a:bodyPr lIns="50800" tIns="50800" rIns="50800" bIns="50800" rtlCol="0" anchor="ctr"/>
            <a:lstStyle/>
            <a:p>
              <a:pPr algn="ctr">
                <a:lnSpc>
                  <a:spcPts val="2679"/>
                </a:lnSpc>
              </a:pPr>
            </a:p>
          </p:txBody>
        </p:sp>
      </p:grpSp>
      <p:grpSp>
        <p:nvGrpSpPr>
          <p:cNvPr id="9" name="Group 9"/>
          <p:cNvGrpSpPr/>
          <p:nvPr/>
        </p:nvGrpSpPr>
        <p:grpSpPr>
          <a:xfrm>
            <a:off x="6740573" y="4536476"/>
            <a:ext cx="11141383" cy="5429815"/>
            <a:chExt cx="2934356" cy="1430075"/>
          </a:xfrm>
        </p:grpSpPr>
        <p:sp>
          <p:nvSpPr>
            <p:cNvPr id="10" name="Freeform 10"/>
            <p:cNvSpPr/>
            <p:nvPr/>
          </p:nvSpPr>
          <p:spPr>
            <a:xfrm>
              <a:off x="0" y="0"/>
              <a:ext cx="2934356" cy="1430075"/>
            </a:xfrm>
            <a:custGeom>
              <a:rect l="l" t="t" r="r" b="b"/>
              <a:pathLst>
                <a:path w="2934356" h="1430075">
                  <a:moveTo>
                    <a:pt x="35439" y="0"/>
                  </a:moveTo>
                  <a:lnTo>
                    <a:pt x="2898917" y="0"/>
                  </a:lnTo>
                  <a:cubicBezTo>
                    <a:pt x="2918489" y="0"/>
                    <a:pt x="2934356" y="15867"/>
                    <a:pt x="2934356" y="35439"/>
                  </a:cubicBezTo>
                  <a:lnTo>
                    <a:pt x="2934356" y="1394636"/>
                  </a:lnTo>
                  <a:cubicBezTo>
                    <a:pt x="2934356" y="1414208"/>
                    <a:pt x="2918489" y="1430075"/>
                    <a:pt x="2898917" y="1430075"/>
                  </a:cubicBezTo>
                  <a:lnTo>
                    <a:pt x="35439" y="1430075"/>
                  </a:lnTo>
                  <a:cubicBezTo>
                    <a:pt x="15867" y="1430075"/>
                    <a:pt x="0" y="1414208"/>
                    <a:pt x="0" y="1394636"/>
                  </a:cubicBezTo>
                  <a:lnTo>
                    <a:pt x="0" y="35439"/>
                  </a:lnTo>
                  <a:cubicBezTo>
                    <a:pt x="0" y="15867"/>
                    <a:pt x="15867" y="0"/>
                    <a:pt x="35439" y="0"/>
                  </a:cubicBezTo>
                  <a:close/>
                </a:path>
              </a:pathLst>
            </a:custGeom>
            <a:solidFill>
              <a:srgbClr val="FFFFFF"/>
            </a:solidFill>
          </p:spPr>
          <p:txBody>
            <a:bodyPr/>
            <a:lstStyle/>
            <a:p/>
          </p:txBody>
        </p:sp>
        <p:sp>
          <p:nvSpPr>
            <p:cNvPr id="11" name="TextBox 11"/>
            <p:cNvSpPr txBox="1"/>
            <p:nvPr/>
          </p:nvSpPr>
          <p:spPr>
            <a:xfrm>
              <a:off x="0" y="-85725"/>
              <a:ext cx="2934356" cy="1515800"/>
            </a:xfrm>
            <a:prstGeom prst="rect">
              <a:avLst/>
            </a:prstGeom>
          </p:spPr>
          <p:txBody>
            <a:bodyPr lIns="50800" tIns="50800" rIns="50800" bIns="50800" rtlCol="0" anchor="ctr"/>
            <a:lstStyle/>
            <a:p>
              <a:pPr algn="ctr">
                <a:lnSpc>
                  <a:spcPts val="2679"/>
                </a:lnSpc>
              </a:pPr>
            </a:p>
          </p:txBody>
        </p:sp>
      </p:grpSp>
      <p:sp>
        <p:nvSpPr>
          <p:cNvPr id="12" name="TextBox 12"/>
          <p:cNvSpPr txBox="1"/>
          <p:nvPr/>
        </p:nvSpPr>
        <p:spPr>
          <a:xfrm>
            <a:off x="1510113" y="2701667"/>
            <a:ext cx="8828581" cy="2075503"/>
          </a:xfrm>
          <a:prstGeom prst="rect">
            <a:avLst/>
          </a:prstGeom>
        </p:spPr>
        <p:txBody>
          <a:bodyPr lIns="0" tIns="0" rIns="0" bIns="0" rtlCol="0" anchor="t">
            <a:spAutoFit/>
          </a:bodyPr>
          <a:lstStyle/>
          <a:p>
            <a:pPr algn="just">
              <a:lnSpc>
                <a:spcPts val="3991"/>
              </a:lnSpc>
            </a:pPr>
            <a:r>
              <a:rPr lang="en-US" sz="2978">
                <a:solidFill>
                  <a:srgbClr val="000000"/>
                </a:solidFill>
                <a:latin typeface="Agrandir"/>
                <a:ea typeface="Agrandir"/>
                <a:cs typeface="Agrandir"/>
                <a:sym typeface="Agrandir"/>
              </a:rPr>
              <a:t>CRISP-DM (Cross-Industry Standard Process for Data Mining) adalah metodologi yang digunakan untuk melakukan data mining dan analisis data secara sistematis</a:t>
            </a:r>
          </a:p>
        </p:txBody>
      </p:sp>
      <p:sp>
        <p:nvSpPr>
          <p:cNvPr id="13" name="TextBox 13"/>
          <p:cNvSpPr txBox="1"/>
          <p:nvPr/>
        </p:nvSpPr>
        <p:spPr>
          <a:xfrm>
            <a:off x="7137587" y="4646504"/>
            <a:ext cx="10347355" cy="5095460"/>
          </a:xfrm>
          <a:prstGeom prst="rect">
            <a:avLst/>
          </a:prstGeom>
        </p:spPr>
        <p:txBody>
          <a:bodyPr lIns="0" tIns="0" rIns="0" bIns="0" rtlCol="0" anchor="t">
            <a:spAutoFit/>
          </a:bodyPr>
          <a:lstStyle/>
          <a:p>
            <a:pPr algn="just">
              <a:lnSpc>
                <a:spcPts val="3620"/>
              </a:lnSpc>
            </a:pPr>
            <a:r>
              <a:rPr lang="en-US" sz="2701">
                <a:solidFill>
                  <a:srgbClr val="000000"/>
                </a:solidFill>
                <a:latin typeface="Agrandir"/>
                <a:ea typeface="Agrandir"/>
                <a:cs typeface="Agrandir"/>
                <a:sym typeface="Agrandir"/>
              </a:rPr>
              <a:t>Penelitian ini menggunakan data historis harga saham PT Bank Central Asia Tbk (BBCA), yang mencakup harga saham harian, volume perdagangan, serta indikator teknikal lainnya. Tujuan utama dari penelitian ini adalah untuk memprediksi pergerakan harga saham BBCA menggunakan pendekatan machine learning dan time series forecasting. Beberapa model yang digunakan dalam penelitian ini meliputi SARIMA, Simple Exponential Smoothing (SES), Holt Linear, Holt Winter, dan XGBoost. Model-model ini diterapkan untuk menganalisis data dan menghasilkan prediksi yang akurat mengenai pergerakan harga saham di masa depan.</a:t>
            </a:r>
          </a:p>
        </p:txBody>
      </p:sp>
      <p:sp>
        <p:nvSpPr>
          <p:cNvPr id="14" name="TextBox 14"/>
          <p:cNvSpPr txBox="1"/>
          <p:nvPr/>
        </p:nvSpPr>
        <p:spPr>
          <a:xfrm>
            <a:off x="3435733" y="539418"/>
            <a:ext cx="11435584" cy="91948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Metodologi Penelitian</a:t>
            </a:r>
          </a:p>
        </p:txBody>
      </p:sp>
      <p:sp>
        <p:nvSpPr>
          <p:cNvPr id="15" name="TextBox 15"/>
          <p:cNvSpPr txBox="1"/>
          <p:nvPr/>
        </p:nvSpPr>
        <p:spPr>
          <a:xfrm>
            <a:off x="5361689" y="1460846"/>
            <a:ext cx="7473592" cy="835025"/>
          </a:xfrm>
          <a:prstGeom prst="rect">
            <a:avLst/>
          </a:prstGeom>
        </p:spPr>
        <p:txBody>
          <a:bodyPr lIns="0" tIns="0" rIns="0" bIns="0" rtlCol="0" anchor="t">
            <a:spAutoFit/>
          </a:bodyPr>
          <a:lstStyle/>
          <a:p>
            <a:pPr algn="ctr">
              <a:lnSpc>
                <a:spcPts val="5350"/>
              </a:lnSpc>
            </a:pPr>
            <a:r>
              <a:rPr lang="en-US" sz="5000" b="1">
                <a:solidFill>
                  <a:srgbClr val="E85041"/>
                </a:solidFill>
                <a:latin typeface="Agrandir Bold"/>
                <a:ea typeface="Agrandir Bold"/>
                <a:cs typeface="Agrandir Bold"/>
                <a:sym typeface="Agrandir Bold"/>
              </a:rPr>
              <a:t>(CRISP-DM)</a:t>
            </a:r>
          </a:p>
        </p:txBody>
      </p:sp>
    </p:spTree>
  </p:cSld>
  <p:clrMapOvr>
    <a:masterClrMapping/>
  </p:clrMapOvr>
  <p:transition/>
  <p:timing/>
</p:sld>
</file>

<file path=ppt/slides/slide27.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42000"/>
            </a:blip>
            <a:stretch>
              <a:fillRect l="-4479" r="-4479"/>
            </a:stretch>
          </a:blipFill>
        </p:spPr>
        <p:txBody>
          <a:bodyPr/>
          <a:lstStyle/>
          <a:p/>
        </p:txBody>
      </p:sp>
      <p:sp>
        <p:nvSpPr>
          <p:cNvPr id="3" name="Freeform 3"/>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p:txBody>
      </p:sp>
      <p:grpSp>
        <p:nvGrpSpPr>
          <p:cNvPr id="5" name="Group 5"/>
          <p:cNvGrpSpPr/>
          <p:nvPr/>
        </p:nvGrpSpPr>
        <p:grpSpPr>
          <a:xfrm>
            <a:off x="1038225" y="2295871"/>
            <a:ext cx="16230600" cy="7496358"/>
            <a:chExt cx="4274726" cy="1974350"/>
          </a:xfrm>
        </p:grpSpPr>
        <p:sp>
          <p:nvSpPr>
            <p:cNvPr id="6" name="Freeform 6"/>
            <p:cNvSpPr/>
            <p:nvPr/>
          </p:nvSpPr>
          <p:spPr>
            <a:xfrm>
              <a:off x="0" y="0"/>
              <a:ext cx="4274726" cy="1974349"/>
            </a:xfrm>
            <a:custGeom>
              <a:rect l="l" t="t" r="r" b="b"/>
              <a:pathLst>
                <a:path w="4274726" h="1974349">
                  <a:moveTo>
                    <a:pt x="24327" y="0"/>
                  </a:moveTo>
                  <a:lnTo>
                    <a:pt x="4250399" y="0"/>
                  </a:lnTo>
                  <a:cubicBezTo>
                    <a:pt x="4263834" y="0"/>
                    <a:pt x="4274726" y="10891"/>
                    <a:pt x="4274726" y="24327"/>
                  </a:cubicBezTo>
                  <a:lnTo>
                    <a:pt x="4274726" y="1950023"/>
                  </a:lnTo>
                  <a:cubicBezTo>
                    <a:pt x="4274726" y="1956475"/>
                    <a:pt x="4272163" y="1962662"/>
                    <a:pt x="4267601" y="1967224"/>
                  </a:cubicBezTo>
                  <a:cubicBezTo>
                    <a:pt x="4263039" y="1971786"/>
                    <a:pt x="4256851" y="1974349"/>
                    <a:pt x="4250399" y="1974349"/>
                  </a:cubicBezTo>
                  <a:lnTo>
                    <a:pt x="24327" y="1974349"/>
                  </a:lnTo>
                  <a:cubicBezTo>
                    <a:pt x="10891" y="1974349"/>
                    <a:pt x="0" y="1963458"/>
                    <a:pt x="0" y="1950023"/>
                  </a:cubicBezTo>
                  <a:lnTo>
                    <a:pt x="0" y="24327"/>
                  </a:lnTo>
                  <a:cubicBezTo>
                    <a:pt x="0" y="10891"/>
                    <a:pt x="10891" y="0"/>
                    <a:pt x="24327" y="0"/>
                  </a:cubicBezTo>
                  <a:close/>
                </a:path>
              </a:pathLst>
            </a:custGeom>
            <a:solidFill>
              <a:srgbClr val="FFFFFF"/>
            </a:solidFill>
          </p:spPr>
          <p:txBody>
            <a:bodyPr/>
            <a:lstStyle/>
            <a:p/>
          </p:txBody>
        </p:sp>
        <p:sp>
          <p:nvSpPr>
            <p:cNvPr id="7" name="TextBox 7"/>
            <p:cNvSpPr txBox="1"/>
            <p:nvPr/>
          </p:nvSpPr>
          <p:spPr>
            <a:xfrm>
              <a:off x="0" y="-85725"/>
              <a:ext cx="4274726" cy="2060075"/>
            </a:xfrm>
            <a:prstGeom prst="rect">
              <a:avLst/>
            </a:prstGeom>
          </p:spPr>
          <p:txBody>
            <a:bodyPr lIns="50800" tIns="50800" rIns="50800" bIns="50800" rtlCol="0" anchor="ctr"/>
            <a:lstStyle/>
            <a:p>
              <a:pPr algn="ctr">
                <a:lnSpc>
                  <a:spcPts val="2679"/>
                </a:lnSpc>
              </a:pPr>
            </a:p>
          </p:txBody>
        </p:sp>
      </p:grpSp>
      <p:sp>
        <p:nvSpPr>
          <p:cNvPr id="8" name="TextBox 8"/>
          <p:cNvSpPr txBox="1"/>
          <p:nvPr/>
        </p:nvSpPr>
        <p:spPr>
          <a:xfrm>
            <a:off x="5931703" y="2251641"/>
            <a:ext cx="6443644" cy="718535"/>
          </a:xfrm>
          <a:prstGeom prst="rect">
            <a:avLst/>
          </a:prstGeom>
        </p:spPr>
        <p:txBody>
          <a:bodyPr lIns="0" tIns="0" rIns="0" bIns="0" rtlCol="0" anchor="t">
            <a:spAutoFit/>
          </a:bodyPr>
          <a:lstStyle/>
          <a:p>
            <a:pPr algn="l">
              <a:lnSpc>
                <a:spcPts val="5094"/>
              </a:lnSpc>
            </a:pPr>
            <a:r>
              <a:rPr lang="en-US" sz="3801" b="1">
                <a:solidFill>
                  <a:srgbClr val="E85041"/>
                </a:solidFill>
                <a:latin typeface="Agrandir Bold"/>
                <a:ea typeface="Agrandir Bold"/>
                <a:cs typeface="Agrandir Bold"/>
                <a:sym typeface="Agrandir Bold"/>
              </a:rPr>
              <a:t>Business Understanding</a:t>
            </a:r>
          </a:p>
        </p:txBody>
      </p:sp>
      <p:sp>
        <p:nvSpPr>
          <p:cNvPr id="9" name="TextBox 9"/>
          <p:cNvSpPr txBox="1"/>
          <p:nvPr/>
        </p:nvSpPr>
        <p:spPr>
          <a:xfrm>
            <a:off x="1301544" y="2563283"/>
            <a:ext cx="15593882" cy="8008465"/>
          </a:xfrm>
          <a:prstGeom prst="rect">
            <a:avLst/>
          </a:prstGeom>
        </p:spPr>
        <p:txBody>
          <a:bodyPr lIns="0" tIns="0" rIns="0" bIns="0" rtlCol="0" anchor="t">
            <a:spAutoFit/>
          </a:bodyPr>
          <a:lstStyle/>
          <a:p>
            <a:pPr algn="just">
              <a:lnSpc>
                <a:spcPts val="3744"/>
              </a:lnSpc>
            </a:pPr>
          </a:p>
          <a:p>
            <a:pPr marL="603320" lvl="1" indent="-301660" algn="just">
              <a:lnSpc>
                <a:spcPts val="3744"/>
              </a:lnSpc>
              <a:buFont typeface="Arial"/>
              <a:buChar char="•"/>
            </a:pPr>
            <a:r>
              <a:rPr lang="en-US" sz="2794">
                <a:solidFill>
                  <a:srgbClr val="000000"/>
                </a:solidFill>
                <a:latin typeface="Agrandir"/>
                <a:ea typeface="Agrandir"/>
                <a:cs typeface="Agrandir"/>
                <a:sym typeface="Agrandir"/>
              </a:rPr>
              <a:t>Pentingnya Peramalan Harga Saham BBCA</a:t>
            </a:r>
          </a:p>
          <a:p>
            <a:pPr algn="just">
              <a:lnSpc>
                <a:spcPts val="3744"/>
              </a:lnSpc>
            </a:pPr>
            <a:r>
              <a:rPr lang="en-US" sz="2794">
                <a:solidFill>
                  <a:srgbClr val="000000"/>
                </a:solidFill>
                <a:latin typeface="Agrandir"/>
                <a:ea typeface="Agrandir"/>
                <a:cs typeface="Agrandir"/>
                <a:sym typeface="Agrandir"/>
              </a:rPr>
              <a:t>         Peramalan harga saham BBCA sangat penting bagi investor dan analis pasar.</a:t>
            </a:r>
          </a:p>
          <a:p>
            <a:pPr marL="603320" lvl="1" indent="-301660" algn="just">
              <a:lnSpc>
                <a:spcPts val="3744"/>
              </a:lnSpc>
              <a:buFont typeface="Arial"/>
              <a:buChar char="•"/>
            </a:pPr>
            <a:r>
              <a:rPr lang="en-US" sz="2794">
                <a:solidFill>
                  <a:srgbClr val="000000"/>
                </a:solidFill>
                <a:latin typeface="Agrandir"/>
                <a:ea typeface="Agrandir"/>
                <a:cs typeface="Agrandir"/>
                <a:sym typeface="Agrandir"/>
              </a:rPr>
              <a:t>Volatilitas Pasar Saham</a:t>
            </a:r>
          </a:p>
          <a:p>
            <a:pPr algn="just">
              <a:lnSpc>
                <a:spcPts val="3744"/>
              </a:lnSpc>
            </a:pPr>
            <a:r>
              <a:rPr lang="en-US" sz="2794">
                <a:solidFill>
                  <a:srgbClr val="000000"/>
                </a:solidFill>
                <a:latin typeface="Agrandir"/>
                <a:ea typeface="Agrandir"/>
                <a:cs typeface="Agrandir"/>
                <a:sym typeface="Agrandir"/>
              </a:rPr>
              <a:t>       Pasar saham dapat dipengaruhi oleh berbagai faktor eksternal seperti kondisi ekonomi makro, kebijakan pemerintah, dan pergerakan pasar global.</a:t>
            </a:r>
          </a:p>
          <a:p>
            <a:pPr marL="603320" lvl="1" indent="-301660" algn="just">
              <a:lnSpc>
                <a:spcPts val="3744"/>
              </a:lnSpc>
              <a:buFont typeface="Arial"/>
              <a:buChar char="•"/>
            </a:pPr>
            <a:r>
              <a:rPr lang="en-US" sz="2794">
                <a:solidFill>
                  <a:srgbClr val="000000"/>
                </a:solidFill>
                <a:latin typeface="Agrandir"/>
                <a:ea typeface="Agrandir"/>
                <a:cs typeface="Agrandir"/>
                <a:sym typeface="Agrandir"/>
              </a:rPr>
              <a:t>Fluktuasi Harga Saham BBCA</a:t>
            </a:r>
          </a:p>
          <a:p>
            <a:pPr algn="just">
              <a:lnSpc>
                <a:spcPts val="3744"/>
              </a:lnSpc>
            </a:pPr>
            <a:r>
              <a:rPr lang="en-US" sz="2794">
                <a:solidFill>
                  <a:srgbClr val="000000"/>
                </a:solidFill>
                <a:latin typeface="Agrandir"/>
                <a:ea typeface="Agrandir"/>
                <a:cs typeface="Agrandir"/>
                <a:sym typeface="Agrandir"/>
              </a:rPr>
              <a:t>      Sebagai salah satu bank terbesar di Indonesia, harga saham BBCA sering mengalami perubahan signifikan.</a:t>
            </a:r>
          </a:p>
          <a:p>
            <a:pPr marL="603320" lvl="1" indent="-301660" algn="just">
              <a:lnSpc>
                <a:spcPts val="3744"/>
              </a:lnSpc>
              <a:buFont typeface="Arial"/>
              <a:buChar char="•"/>
            </a:pPr>
            <a:r>
              <a:rPr lang="en-US" sz="2794">
                <a:solidFill>
                  <a:srgbClr val="000000"/>
                </a:solidFill>
                <a:latin typeface="Agrandir"/>
                <a:ea typeface="Agrandir"/>
                <a:cs typeface="Agrandir"/>
                <a:sym typeface="Agrandir"/>
              </a:rPr>
              <a:t>Tantangan bagi Investor</a:t>
            </a:r>
          </a:p>
          <a:p>
            <a:pPr algn="just">
              <a:lnSpc>
                <a:spcPts val="3744"/>
              </a:lnSpc>
            </a:pPr>
            <a:r>
              <a:rPr lang="en-US" sz="2794">
                <a:solidFill>
                  <a:srgbClr val="000000"/>
                </a:solidFill>
                <a:latin typeface="Agrandir"/>
                <a:ea typeface="Agrandir"/>
                <a:cs typeface="Agrandir"/>
                <a:sym typeface="Agrandir"/>
              </a:rPr>
              <a:t>       Fluktuasi harga saham menciptakan tantangan bagi investor untuk memprediksi arah pergerakan harga saham di masa depan.</a:t>
            </a:r>
          </a:p>
          <a:p>
            <a:pPr marL="603320" lvl="1" indent="-301660" algn="just">
              <a:lnSpc>
                <a:spcPts val="3744"/>
              </a:lnSpc>
              <a:buFont typeface="Arial"/>
              <a:buChar char="•"/>
            </a:pPr>
            <a:r>
              <a:rPr lang="en-US" sz="2794">
                <a:solidFill>
                  <a:srgbClr val="000000"/>
                </a:solidFill>
                <a:latin typeface="Agrandir"/>
                <a:ea typeface="Agrandir"/>
                <a:cs typeface="Agrandir"/>
                <a:sym typeface="Agrandir"/>
              </a:rPr>
              <a:t>Kebutuhan untuk Ramalan yang Akurat</a:t>
            </a:r>
          </a:p>
          <a:p>
            <a:pPr algn="just">
              <a:lnSpc>
                <a:spcPts val="3744"/>
              </a:lnSpc>
            </a:pPr>
            <a:r>
              <a:rPr lang="en-US" sz="2794">
                <a:solidFill>
                  <a:srgbClr val="000000"/>
                </a:solidFill>
                <a:latin typeface="Agrandir"/>
                <a:ea typeface="Agrandir"/>
                <a:cs typeface="Agrandir"/>
                <a:sym typeface="Agrandir"/>
              </a:rPr>
              <a:t>      Kemampuan untuk meramalkan harga saham BBCA secara akurat sangat dibutuhkan untuk membuat keputusan investasi yang tepat dan terinformasi.</a:t>
            </a:r>
          </a:p>
          <a:p>
            <a:pPr algn="just">
              <a:lnSpc>
                <a:spcPts val="3744"/>
              </a:lnSpc>
            </a:pPr>
            <a:r>
              <a:rPr lang="en-US" sz="2794">
                <a:solidFill>
                  <a:srgbClr val="000000"/>
                </a:solidFill>
                <a:latin typeface="Agrandir"/>
                <a:ea typeface="Agrandir"/>
                <a:cs typeface="Agrandir"/>
                <a:sym typeface="Agrandir"/>
              </a:rPr>
              <a:t> </a:t>
            </a:r>
          </a:p>
          <a:p>
            <a:pPr algn="just">
              <a:lnSpc>
                <a:spcPts val="3744"/>
              </a:lnSpc>
            </a:pPr>
            <a:endParaRPr lang="en-US" sz="2794">
              <a:solidFill>
                <a:srgbClr val="000000"/>
              </a:solidFill>
              <a:latin typeface="Agrandir"/>
              <a:ea typeface="Agrandir"/>
              <a:cs typeface="Agrandir"/>
              <a:sym typeface="Agrandir"/>
            </a:endParaRPr>
          </a:p>
        </p:txBody>
      </p:sp>
      <p:sp>
        <p:nvSpPr>
          <p:cNvPr id="10" name="TextBox 10"/>
          <p:cNvSpPr txBox="1"/>
          <p:nvPr/>
        </p:nvSpPr>
        <p:spPr>
          <a:xfrm>
            <a:off x="3435733" y="539418"/>
            <a:ext cx="11435584" cy="91948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Metodologi Penelitian</a:t>
            </a:r>
          </a:p>
        </p:txBody>
      </p:sp>
      <p:sp>
        <p:nvSpPr>
          <p:cNvPr id="11" name="TextBox 11"/>
          <p:cNvSpPr txBox="1"/>
          <p:nvPr/>
        </p:nvSpPr>
        <p:spPr>
          <a:xfrm>
            <a:off x="5361689" y="1460846"/>
            <a:ext cx="7473592" cy="835025"/>
          </a:xfrm>
          <a:prstGeom prst="rect">
            <a:avLst/>
          </a:prstGeom>
        </p:spPr>
        <p:txBody>
          <a:bodyPr lIns="0" tIns="0" rIns="0" bIns="0" rtlCol="0" anchor="t">
            <a:spAutoFit/>
          </a:bodyPr>
          <a:lstStyle/>
          <a:p>
            <a:pPr algn="ctr">
              <a:lnSpc>
                <a:spcPts val="5350"/>
              </a:lnSpc>
            </a:pPr>
            <a:r>
              <a:rPr lang="en-US" sz="5000" b="1">
                <a:solidFill>
                  <a:srgbClr val="E85041"/>
                </a:solidFill>
                <a:latin typeface="Agrandir Bold"/>
                <a:ea typeface="Agrandir Bold"/>
                <a:cs typeface="Agrandir Bold"/>
                <a:sym typeface="Agrandir Bold"/>
              </a:rPr>
              <a:t>(CRISP-DM)</a:t>
            </a:r>
          </a:p>
        </p:txBody>
      </p:sp>
    </p:spTree>
  </p:cSld>
  <p:clrMapOvr>
    <a:masterClrMapping/>
  </p:clrMapOvr>
  <p:transition/>
  <p:timing/>
</p:sld>
</file>

<file path=ppt/slides/slide28.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49000"/>
            </a:blip>
            <a:stretch>
              <a:fillRect l="-4479" r="-4479"/>
            </a:stretch>
          </a:blipFill>
        </p:spPr>
        <p:txBody>
          <a:bodyPr/>
          <a:lstStyle/>
          <a:p/>
        </p:txBody>
      </p:sp>
      <p:sp>
        <p:nvSpPr>
          <p:cNvPr id="3" name="Freeform 3"/>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3">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sp>
        <p:nvSpPr>
          <p:cNvPr id="6" name="Freeform 6"/>
          <p:cNvSpPr/>
          <p:nvPr/>
        </p:nvSpPr>
        <p:spPr>
          <a:xfrm rot="5400000" flipH="1" flipV="1">
            <a:off x="16617708" y="8587367"/>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6">
              <a:extLst>
                <a:ext uri="{96DAC541-7B7A-43D3-8B79-37D633B846F1}">
                  <asvg:svgBlip xmlns:asvg="http://schemas.microsoft.com/office/drawing/2016/SVG/main" r:embed="rId8"/>
                </a:ext>
              </a:extLst>
            </a:blip>
            <a:stretch>
              <a:fillRect/>
            </a:stretch>
          </a:blipFill>
        </p:spPr>
        <p:txBody>
          <a:bodyPr/>
          <a:lstStyle/>
          <a:p/>
        </p:txBody>
      </p:sp>
      <p:sp>
        <p:nvSpPr>
          <p:cNvPr id="7" name="TextBox 7"/>
          <p:cNvSpPr txBox="1"/>
          <p:nvPr/>
        </p:nvSpPr>
        <p:spPr>
          <a:xfrm>
            <a:off x="12282440" y="5439142"/>
            <a:ext cx="6443644" cy="718535"/>
          </a:xfrm>
          <a:prstGeom prst="rect">
            <a:avLst/>
          </a:prstGeom>
        </p:spPr>
        <p:txBody>
          <a:bodyPr lIns="0" tIns="0" rIns="0" bIns="0" rtlCol="0" anchor="t">
            <a:spAutoFit/>
          </a:bodyPr>
          <a:lstStyle/>
          <a:p>
            <a:pPr algn="l">
              <a:lnSpc>
                <a:spcPts val="5094"/>
              </a:lnSpc>
            </a:pPr>
            <a:r>
              <a:rPr lang="en-US" sz="3801" b="1">
                <a:solidFill>
                  <a:srgbClr val="E85041"/>
                </a:solidFill>
                <a:latin typeface="Agrandir Bold"/>
                <a:ea typeface="Agrandir Bold"/>
                <a:cs typeface="Agrandir Bold"/>
                <a:sym typeface="Agrandir Bold"/>
              </a:rPr>
              <a:t>Modeling</a:t>
            </a:r>
          </a:p>
        </p:txBody>
      </p:sp>
      <p:sp>
        <p:nvSpPr>
          <p:cNvPr id="8" name="TextBox 8"/>
          <p:cNvSpPr txBox="1"/>
          <p:nvPr/>
        </p:nvSpPr>
        <p:spPr>
          <a:xfrm>
            <a:off x="12536862" y="6995876"/>
            <a:ext cx="6443644" cy="718535"/>
          </a:xfrm>
          <a:prstGeom prst="rect">
            <a:avLst/>
          </a:prstGeom>
        </p:spPr>
        <p:txBody>
          <a:bodyPr lIns="0" tIns="0" rIns="0" bIns="0" rtlCol="0" anchor="t">
            <a:spAutoFit/>
          </a:bodyPr>
          <a:lstStyle/>
          <a:p>
            <a:pPr algn="l">
              <a:lnSpc>
                <a:spcPts val="5094"/>
              </a:lnSpc>
            </a:pPr>
            <a:r>
              <a:rPr lang="en-US" sz="3801" b="1">
                <a:solidFill>
                  <a:srgbClr val="E85041"/>
                </a:solidFill>
                <a:latin typeface="Agrandir Bold"/>
                <a:ea typeface="Agrandir Bold"/>
                <a:cs typeface="Agrandir Bold"/>
                <a:sym typeface="Agrandir Bold"/>
              </a:rPr>
              <a:t>Evaluation</a:t>
            </a:r>
          </a:p>
        </p:txBody>
      </p:sp>
      <p:sp>
        <p:nvSpPr>
          <p:cNvPr id="9" name="TextBox 9"/>
          <p:cNvSpPr txBox="1"/>
          <p:nvPr/>
        </p:nvSpPr>
        <p:spPr>
          <a:xfrm>
            <a:off x="12536862" y="7666786"/>
            <a:ext cx="6443644" cy="718535"/>
          </a:xfrm>
          <a:prstGeom prst="rect">
            <a:avLst/>
          </a:prstGeom>
        </p:spPr>
        <p:txBody>
          <a:bodyPr lIns="0" tIns="0" rIns="0" bIns="0" rtlCol="0" anchor="t">
            <a:spAutoFit/>
          </a:bodyPr>
          <a:lstStyle/>
          <a:p>
            <a:pPr algn="l">
              <a:lnSpc>
                <a:spcPts val="5094"/>
              </a:lnSpc>
            </a:pPr>
            <a:r>
              <a:rPr lang="en-US" sz="3801" b="1">
                <a:solidFill>
                  <a:srgbClr val="E85041"/>
                </a:solidFill>
                <a:latin typeface="Agrandir Bold"/>
                <a:ea typeface="Agrandir Bold"/>
                <a:cs typeface="Agrandir Bold"/>
                <a:sym typeface="Agrandir Bold"/>
              </a:rPr>
              <a:t>Deployment</a:t>
            </a:r>
          </a:p>
        </p:txBody>
      </p:sp>
      <p:grpSp>
        <p:nvGrpSpPr>
          <p:cNvPr id="10" name="Group 10"/>
          <p:cNvGrpSpPr/>
          <p:nvPr/>
        </p:nvGrpSpPr>
        <p:grpSpPr>
          <a:xfrm>
            <a:off x="1028700" y="2295871"/>
            <a:ext cx="16637629" cy="7333299"/>
            <a:chExt cx="4381927" cy="1931404"/>
          </a:xfrm>
        </p:grpSpPr>
        <p:sp>
          <p:nvSpPr>
            <p:cNvPr id="11" name="Freeform 11"/>
            <p:cNvSpPr/>
            <p:nvPr/>
          </p:nvSpPr>
          <p:spPr>
            <a:xfrm>
              <a:off x="0" y="0"/>
              <a:ext cx="4381927" cy="1931404"/>
            </a:xfrm>
            <a:custGeom>
              <a:rect l="l" t="t" r="r" b="b"/>
              <a:pathLst>
                <a:path w="4381927" h="1931404">
                  <a:moveTo>
                    <a:pt x="23732" y="0"/>
                  </a:moveTo>
                  <a:lnTo>
                    <a:pt x="4358196" y="0"/>
                  </a:lnTo>
                  <a:cubicBezTo>
                    <a:pt x="4371302" y="0"/>
                    <a:pt x="4381927" y="10625"/>
                    <a:pt x="4381927" y="23732"/>
                  </a:cubicBezTo>
                  <a:lnTo>
                    <a:pt x="4381927" y="1907672"/>
                  </a:lnTo>
                  <a:cubicBezTo>
                    <a:pt x="4381927" y="1913966"/>
                    <a:pt x="4379427" y="1920002"/>
                    <a:pt x="4374976" y="1924453"/>
                  </a:cubicBezTo>
                  <a:cubicBezTo>
                    <a:pt x="4370526" y="1928904"/>
                    <a:pt x="4364489" y="1931404"/>
                    <a:pt x="4358196" y="1931404"/>
                  </a:cubicBezTo>
                  <a:lnTo>
                    <a:pt x="23732" y="1931404"/>
                  </a:lnTo>
                  <a:cubicBezTo>
                    <a:pt x="10625" y="1931404"/>
                    <a:pt x="0" y="1920779"/>
                    <a:pt x="0" y="1907672"/>
                  </a:cubicBezTo>
                  <a:lnTo>
                    <a:pt x="0" y="23732"/>
                  </a:lnTo>
                  <a:cubicBezTo>
                    <a:pt x="0" y="10625"/>
                    <a:pt x="10625" y="0"/>
                    <a:pt x="23732" y="0"/>
                  </a:cubicBezTo>
                  <a:close/>
                </a:path>
              </a:pathLst>
            </a:custGeom>
            <a:solidFill>
              <a:srgbClr val="FFFFFF"/>
            </a:solidFill>
          </p:spPr>
          <p:txBody>
            <a:bodyPr/>
            <a:lstStyle/>
            <a:p/>
          </p:txBody>
        </p:sp>
        <p:sp>
          <p:nvSpPr>
            <p:cNvPr id="12" name="TextBox 12"/>
            <p:cNvSpPr txBox="1"/>
            <p:nvPr/>
          </p:nvSpPr>
          <p:spPr>
            <a:xfrm>
              <a:off x="0" y="-85725"/>
              <a:ext cx="4381927" cy="2017129"/>
            </a:xfrm>
            <a:prstGeom prst="rect">
              <a:avLst/>
            </a:prstGeom>
          </p:spPr>
          <p:txBody>
            <a:bodyPr lIns="50800" tIns="50800" rIns="50800" bIns="50800" rtlCol="0" anchor="ctr"/>
            <a:lstStyle/>
            <a:p>
              <a:pPr algn="ctr">
                <a:lnSpc>
                  <a:spcPts val="2679"/>
                </a:lnSpc>
              </a:pPr>
            </a:p>
          </p:txBody>
        </p:sp>
      </p:grpSp>
      <p:sp>
        <p:nvSpPr>
          <p:cNvPr id="13" name="TextBox 13"/>
          <p:cNvSpPr txBox="1"/>
          <p:nvPr/>
        </p:nvSpPr>
        <p:spPr>
          <a:xfrm>
            <a:off x="3435733" y="539418"/>
            <a:ext cx="11435584" cy="91948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Metodologi Penelitian</a:t>
            </a:r>
          </a:p>
        </p:txBody>
      </p:sp>
      <p:sp>
        <p:nvSpPr>
          <p:cNvPr id="14" name="TextBox 14"/>
          <p:cNvSpPr txBox="1"/>
          <p:nvPr/>
        </p:nvSpPr>
        <p:spPr>
          <a:xfrm>
            <a:off x="5361689" y="1460846"/>
            <a:ext cx="7473592" cy="835025"/>
          </a:xfrm>
          <a:prstGeom prst="rect">
            <a:avLst/>
          </a:prstGeom>
        </p:spPr>
        <p:txBody>
          <a:bodyPr lIns="0" tIns="0" rIns="0" bIns="0" rtlCol="0" anchor="t">
            <a:spAutoFit/>
          </a:bodyPr>
          <a:lstStyle/>
          <a:p>
            <a:pPr algn="ctr">
              <a:lnSpc>
                <a:spcPts val="5350"/>
              </a:lnSpc>
            </a:pPr>
            <a:r>
              <a:rPr lang="en-US" sz="5000" b="1">
                <a:solidFill>
                  <a:srgbClr val="E85041"/>
                </a:solidFill>
                <a:latin typeface="Agrandir Bold"/>
                <a:ea typeface="Agrandir Bold"/>
                <a:cs typeface="Agrandir Bold"/>
                <a:sym typeface="Agrandir Bold"/>
              </a:rPr>
              <a:t>(CRISP-DM)</a:t>
            </a:r>
          </a:p>
        </p:txBody>
      </p:sp>
      <p:sp>
        <p:nvSpPr>
          <p:cNvPr id="15" name="TextBox 15"/>
          <p:cNvSpPr txBox="1"/>
          <p:nvPr/>
        </p:nvSpPr>
        <p:spPr>
          <a:xfrm>
            <a:off x="6618597" y="2317037"/>
            <a:ext cx="6443644" cy="718535"/>
          </a:xfrm>
          <a:prstGeom prst="rect">
            <a:avLst/>
          </a:prstGeom>
        </p:spPr>
        <p:txBody>
          <a:bodyPr lIns="0" tIns="0" rIns="0" bIns="0" rtlCol="0" anchor="t">
            <a:spAutoFit/>
          </a:bodyPr>
          <a:lstStyle/>
          <a:p>
            <a:pPr algn="l">
              <a:lnSpc>
                <a:spcPts val="5094"/>
              </a:lnSpc>
            </a:pPr>
            <a:r>
              <a:rPr lang="en-US" sz="3801" b="1">
                <a:solidFill>
                  <a:srgbClr val="E85041"/>
                </a:solidFill>
                <a:latin typeface="Agrandir Bold"/>
                <a:ea typeface="Agrandir Bold"/>
                <a:cs typeface="Agrandir Bold"/>
                <a:sym typeface="Agrandir Bold"/>
              </a:rPr>
              <a:t>Data Understanding </a:t>
            </a:r>
          </a:p>
        </p:txBody>
      </p:sp>
      <p:sp>
        <p:nvSpPr>
          <p:cNvPr id="16" name="TextBox 16"/>
          <p:cNvSpPr txBox="1"/>
          <p:nvPr/>
        </p:nvSpPr>
        <p:spPr>
          <a:xfrm>
            <a:off x="1253907" y="3129933"/>
            <a:ext cx="16204860" cy="6888706"/>
          </a:xfrm>
          <a:prstGeom prst="rect">
            <a:avLst/>
          </a:prstGeom>
        </p:spPr>
        <p:txBody>
          <a:bodyPr lIns="0" tIns="0" rIns="0" bIns="0" rtlCol="0" anchor="t">
            <a:spAutoFit/>
          </a:bodyPr>
          <a:lstStyle/>
          <a:p>
            <a:pPr marL="668088" lvl="1" indent="-334044" algn="just">
              <a:lnSpc>
                <a:spcPts val="4146"/>
              </a:lnSpc>
              <a:buFont typeface="Arial"/>
              <a:buChar char="•"/>
            </a:pPr>
            <a:r>
              <a:rPr lang="en-US" sz="3094">
                <a:solidFill>
                  <a:srgbClr val="000000"/>
                </a:solidFill>
                <a:latin typeface="Agrandir"/>
                <a:ea typeface="Agrandir"/>
                <a:cs typeface="Agrandir"/>
                <a:sym typeface="Agrandir"/>
              </a:rPr>
              <a:t>Jumlah Data</a:t>
            </a:r>
          </a:p>
          <a:p>
            <a:pPr algn="just">
              <a:lnSpc>
                <a:spcPts val="4146"/>
              </a:lnSpc>
            </a:pPr>
            <a:r>
              <a:rPr lang="en-US" sz="3094">
                <a:solidFill>
                  <a:srgbClr val="000000"/>
                </a:solidFill>
                <a:latin typeface="Agrandir"/>
                <a:ea typeface="Agrandir"/>
                <a:cs typeface="Agrandir"/>
                <a:sym typeface="Agrandir"/>
              </a:rPr>
              <a:t>          Terdapat sejumlah 3200 data.</a:t>
            </a:r>
          </a:p>
          <a:p>
            <a:pPr marL="668088" lvl="1" indent="-334044" algn="just">
              <a:lnSpc>
                <a:spcPts val="4146"/>
              </a:lnSpc>
              <a:buFont typeface="Arial"/>
              <a:buChar char="•"/>
            </a:pPr>
            <a:r>
              <a:rPr lang="en-US" sz="3094">
                <a:solidFill>
                  <a:srgbClr val="000000"/>
                </a:solidFill>
                <a:latin typeface="Agrandir"/>
                <a:ea typeface="Agrandir"/>
                <a:cs typeface="Agrandir"/>
                <a:sym typeface="Agrandir"/>
              </a:rPr>
              <a:t>Sumber Data</a:t>
            </a:r>
          </a:p>
          <a:p>
            <a:pPr algn="just">
              <a:lnSpc>
                <a:spcPts val="4146"/>
              </a:lnSpc>
            </a:pPr>
            <a:r>
              <a:rPr lang="en-US" sz="3094">
                <a:solidFill>
                  <a:srgbClr val="000000"/>
                </a:solidFill>
                <a:latin typeface="Agrandir"/>
                <a:ea typeface="Agrandir"/>
                <a:cs typeface="Agrandir"/>
                <a:sym typeface="Agrandir"/>
              </a:rPr>
              <a:t>      Dataset yang digunakan adalah data historis saham BBCA yang diperoleh dari Bursa Efek Indonesia (BEI).</a:t>
            </a:r>
          </a:p>
          <a:p>
            <a:pPr marL="668088" lvl="1" indent="-334044" algn="just">
              <a:lnSpc>
                <a:spcPts val="4146"/>
              </a:lnSpc>
              <a:buFont typeface="Arial"/>
              <a:buChar char="•"/>
            </a:pPr>
            <a:r>
              <a:rPr lang="en-US" sz="3094">
                <a:solidFill>
                  <a:srgbClr val="000000"/>
                </a:solidFill>
                <a:latin typeface="Agrandir"/>
                <a:ea typeface="Agrandir"/>
                <a:cs typeface="Agrandir"/>
                <a:sym typeface="Agrandir"/>
              </a:rPr>
              <a:t>Jenis Data yang Tersedia</a:t>
            </a:r>
          </a:p>
          <a:p>
            <a:pPr algn="just">
              <a:lnSpc>
                <a:spcPts val="4146"/>
              </a:lnSpc>
            </a:pPr>
            <a:r>
              <a:rPr lang="en-US" sz="3094">
                <a:solidFill>
                  <a:srgbClr val="000000"/>
                </a:solidFill>
                <a:latin typeface="Agrandir"/>
                <a:ea typeface="Agrandir"/>
                <a:cs typeface="Agrandir"/>
                <a:sym typeface="Agrandir"/>
              </a:rPr>
              <a:t>       Data ini mencakup harga saham harian, volume perdagangan, harga pembukaan, harga penutupan, harga tertinggi dan terendah, serta beberapa indikator teknikal lainnya.</a:t>
            </a:r>
          </a:p>
          <a:p>
            <a:pPr marL="668088" lvl="1" indent="-334044" algn="just">
              <a:lnSpc>
                <a:spcPts val="4146"/>
              </a:lnSpc>
              <a:buFont typeface="Arial"/>
              <a:buChar char="•"/>
            </a:pPr>
            <a:r>
              <a:rPr lang="en-US" sz="3094">
                <a:solidFill>
                  <a:srgbClr val="000000"/>
                </a:solidFill>
                <a:latin typeface="Agrandir"/>
                <a:ea typeface="Agrandir"/>
                <a:cs typeface="Agrandir"/>
                <a:sym typeface="Agrandir"/>
              </a:rPr>
              <a:t>Pemahaman terhadap Data</a:t>
            </a:r>
          </a:p>
          <a:p>
            <a:pPr algn="just">
              <a:lnSpc>
                <a:spcPts val="4146"/>
              </a:lnSpc>
            </a:pPr>
            <a:r>
              <a:rPr lang="en-US" sz="3094">
                <a:solidFill>
                  <a:srgbClr val="000000"/>
                </a:solidFill>
                <a:latin typeface="Agrandir"/>
                <a:ea typeface="Agrandir"/>
                <a:cs typeface="Agrandir"/>
                <a:sym typeface="Agrandir"/>
              </a:rPr>
              <a:t>      Pemahaman terhadap data dilakukan dengan mengeksplorasi data, visualisasi, serta mendeteksi anomali atau nilai yang hilang (missing values).</a:t>
            </a:r>
          </a:p>
          <a:p>
            <a:pPr algn="just">
              <a:lnSpc>
                <a:spcPts val="4146"/>
              </a:lnSpc>
            </a:pPr>
            <a:endParaRPr lang="en-US" sz="3094">
              <a:solidFill>
                <a:srgbClr val="000000"/>
              </a:solidFill>
              <a:latin typeface="Agrandir"/>
              <a:ea typeface="Agrandir"/>
              <a:cs typeface="Agrandir"/>
              <a:sym typeface="Agrandir"/>
            </a:endParaRPr>
          </a:p>
        </p:txBody>
      </p:sp>
    </p:spTree>
  </p:cSld>
  <p:clrMapOvr>
    <a:masterClrMapping/>
  </p:clrMapOvr>
  <p:transition/>
  <p:timing/>
</p:sld>
</file>

<file path=ppt/slides/slide29.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54570" y="-312386"/>
            <a:ext cx="18663304" cy="12434427"/>
          </a:xfrm>
          <a:custGeom>
            <a:rect l="l" t="t" r="r" b="b"/>
            <a:pathLst>
              <a:path w="18663304" h="12434427">
                <a:moveTo>
                  <a:pt x="0" y="0"/>
                </a:moveTo>
                <a:lnTo>
                  <a:pt x="18663304" y="0"/>
                </a:lnTo>
                <a:lnTo>
                  <a:pt x="18663304" y="12434427"/>
                </a:lnTo>
                <a:lnTo>
                  <a:pt x="0" y="12434427"/>
                </a:lnTo>
                <a:lnTo>
                  <a:pt x="0" y="0"/>
                </a:lnTo>
                <a:close/>
              </a:path>
            </a:pathLst>
          </a:custGeom>
          <a:blipFill>
            <a:blip r:embed="rId2">
              <a:alphaModFix amt="53000"/>
            </a:blip>
            <a:stretch>
              <a:fillRect/>
            </a:stretch>
          </a:blipFill>
        </p:spPr>
        <p:txBody>
          <a:bodyPr/>
          <a:lstStyle/>
          <a:p/>
        </p:txBody>
      </p:sp>
      <p:sp>
        <p:nvSpPr>
          <p:cNvPr id="3" name="Freeform 3"/>
          <p:cNvSpPr/>
          <p:nvPr/>
        </p:nvSpPr>
        <p:spPr>
          <a:xfrm>
            <a:off x="12939980" y="6484586"/>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3">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3165293" y="-4710899"/>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3">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flipH="1" flipV="1">
            <a:off x="16938941" y="1028700"/>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sp>
        <p:nvSpPr>
          <p:cNvPr id="6" name="TextBox 6"/>
          <p:cNvSpPr txBox="1"/>
          <p:nvPr/>
        </p:nvSpPr>
        <p:spPr>
          <a:xfrm>
            <a:off x="4508129" y="8633253"/>
            <a:ext cx="3445001" cy="707518"/>
          </a:xfrm>
          <a:prstGeom prst="rect">
            <a:avLst/>
          </a:prstGeom>
        </p:spPr>
        <p:txBody>
          <a:bodyPr lIns="0" tIns="0" rIns="0" bIns="0" rtlCol="0" anchor="t">
            <a:spAutoFit/>
          </a:bodyPr>
          <a:lstStyle/>
          <a:p>
            <a:pPr algn="ctr">
              <a:lnSpc>
                <a:spcPts val="4823"/>
              </a:lnSpc>
            </a:pPr>
            <a:r>
              <a:rPr lang="en-US" sz="3599" b="1">
                <a:solidFill>
                  <a:srgbClr val="000000"/>
                </a:solidFill>
                <a:latin typeface="Agrandir Bold"/>
                <a:ea typeface="Agrandir Bold"/>
                <a:cs typeface="Agrandir Bold"/>
                <a:sym typeface="Agrandir Bold"/>
              </a:rPr>
              <a:t>XGBoost</a:t>
            </a:r>
          </a:p>
        </p:txBody>
      </p:sp>
      <p:grpSp>
        <p:nvGrpSpPr>
          <p:cNvPr id="7" name="Group 7"/>
          <p:cNvGrpSpPr/>
          <p:nvPr/>
        </p:nvGrpSpPr>
        <p:grpSpPr>
          <a:xfrm>
            <a:off x="1888074" y="3078681"/>
            <a:ext cx="5240110" cy="5652293"/>
            <a:chExt cx="1380111" cy="1488670"/>
          </a:xfrm>
        </p:grpSpPr>
        <p:sp>
          <p:nvSpPr>
            <p:cNvPr id="8" name="Freeform 8"/>
            <p:cNvSpPr/>
            <p:nvPr/>
          </p:nvSpPr>
          <p:spPr>
            <a:xfrm>
              <a:off x="0" y="0"/>
              <a:ext cx="1380111" cy="1488670"/>
            </a:xfrm>
            <a:custGeom>
              <a:rect l="l" t="t" r="r" b="b"/>
              <a:pathLst>
                <a:path w="1380111" h="1488670">
                  <a:moveTo>
                    <a:pt x="0" y="0"/>
                  </a:moveTo>
                  <a:lnTo>
                    <a:pt x="1380111" y="0"/>
                  </a:lnTo>
                  <a:lnTo>
                    <a:pt x="1380111" y="1488670"/>
                  </a:lnTo>
                  <a:lnTo>
                    <a:pt x="0" y="1488670"/>
                  </a:lnTo>
                  <a:close/>
                </a:path>
              </a:pathLst>
            </a:custGeom>
            <a:solidFill>
              <a:srgbClr val="E85041"/>
            </a:solidFill>
          </p:spPr>
          <p:txBody>
            <a:bodyPr/>
            <a:lstStyle/>
            <a:p/>
          </p:txBody>
        </p:sp>
        <p:sp>
          <p:nvSpPr>
            <p:cNvPr id="9" name="TextBox 9"/>
            <p:cNvSpPr txBox="1"/>
            <p:nvPr/>
          </p:nvSpPr>
          <p:spPr>
            <a:xfrm>
              <a:off x="0" y="-85725"/>
              <a:ext cx="1380111" cy="1574395"/>
            </a:xfrm>
            <a:prstGeom prst="rect">
              <a:avLst/>
            </a:prstGeom>
          </p:spPr>
          <p:txBody>
            <a:bodyPr lIns="50800" tIns="50800" rIns="50800" bIns="50800" rtlCol="0" anchor="ctr"/>
            <a:lstStyle/>
            <a:p>
              <a:pPr algn="ctr">
                <a:lnSpc>
                  <a:spcPts val="2679"/>
                </a:lnSpc>
              </a:pPr>
            </a:p>
          </p:txBody>
        </p:sp>
      </p:grpSp>
      <p:sp>
        <p:nvSpPr>
          <p:cNvPr id="10" name="Freeform 10"/>
          <p:cNvSpPr/>
          <p:nvPr/>
        </p:nvSpPr>
        <p:spPr>
          <a:xfrm>
            <a:off x="8571112" y="2847120"/>
            <a:ext cx="8184247" cy="6115415"/>
          </a:xfrm>
          <a:custGeom>
            <a:rect l="l" t="t" r="r" b="b"/>
            <a:pathLst>
              <a:path w="8184247" h="6115415">
                <a:moveTo>
                  <a:pt x="0" y="0"/>
                </a:moveTo>
                <a:lnTo>
                  <a:pt x="8184248" y="0"/>
                </a:lnTo>
                <a:lnTo>
                  <a:pt x="8184248" y="6115415"/>
                </a:lnTo>
                <a:lnTo>
                  <a:pt x="0" y="6115415"/>
                </a:lnTo>
                <a:lnTo>
                  <a:pt x="0" y="0"/>
                </a:lnTo>
                <a:close/>
              </a:path>
            </a:pathLst>
          </a:custGeom>
          <a:blipFill>
            <a:blip r:embed="rId8"/>
            <a:stretch>
              <a:fillRect/>
            </a:stretch>
          </a:blipFill>
        </p:spPr>
        <p:txBody>
          <a:bodyPr/>
          <a:lstStyle/>
          <a:p/>
        </p:txBody>
      </p:sp>
      <p:sp>
        <p:nvSpPr>
          <p:cNvPr id="11" name="TextBox 11"/>
          <p:cNvSpPr txBox="1"/>
          <p:nvPr/>
        </p:nvSpPr>
        <p:spPr>
          <a:xfrm>
            <a:off x="4870859" y="675088"/>
            <a:ext cx="8175378" cy="835025"/>
          </a:xfrm>
          <a:prstGeom prst="rect">
            <a:avLst/>
          </a:prstGeom>
        </p:spPr>
        <p:txBody>
          <a:bodyPr lIns="0" tIns="0" rIns="0" bIns="0" rtlCol="0" anchor="t">
            <a:spAutoFit/>
          </a:bodyPr>
          <a:lstStyle/>
          <a:p>
            <a:pPr algn="ctr">
              <a:lnSpc>
                <a:spcPts val="5350"/>
              </a:lnSpc>
            </a:pPr>
            <a:r>
              <a:rPr lang="en-US" sz="5000" b="1">
                <a:solidFill>
                  <a:srgbClr val="FFFFFF"/>
                </a:solidFill>
                <a:latin typeface="Agrandir Bold"/>
                <a:ea typeface="Agrandir Bold"/>
                <a:cs typeface="Agrandir Bold"/>
                <a:sym typeface="Agrandir Bold"/>
              </a:rPr>
              <a:t>Exploratory Data Analysis</a:t>
            </a:r>
          </a:p>
        </p:txBody>
      </p:sp>
      <p:sp>
        <p:nvSpPr>
          <p:cNvPr id="12" name="TextBox 12"/>
          <p:cNvSpPr txBox="1"/>
          <p:nvPr/>
        </p:nvSpPr>
        <p:spPr>
          <a:xfrm>
            <a:off x="2593204" y="3640489"/>
            <a:ext cx="3829851" cy="707518"/>
          </a:xfrm>
          <a:prstGeom prst="rect">
            <a:avLst/>
          </a:prstGeom>
        </p:spPr>
        <p:txBody>
          <a:bodyPr lIns="0" tIns="0" rIns="0" bIns="0" rtlCol="0" anchor="t">
            <a:spAutoFit/>
          </a:bodyPr>
          <a:lstStyle/>
          <a:p>
            <a:pPr algn="ctr">
              <a:lnSpc>
                <a:spcPts val="4823"/>
              </a:lnSpc>
            </a:pPr>
            <a:r>
              <a:rPr lang="en-US" sz="3599" b="1">
                <a:solidFill>
                  <a:srgbClr val="FFFFFF"/>
                </a:solidFill>
                <a:latin typeface="Agrandir Bold"/>
                <a:ea typeface="Agrandir Bold"/>
                <a:cs typeface="Agrandir Bold"/>
                <a:sym typeface="Agrandir Bold"/>
              </a:rPr>
              <a:t>Line Plot</a:t>
            </a:r>
          </a:p>
        </p:txBody>
      </p:sp>
      <p:sp>
        <p:nvSpPr>
          <p:cNvPr id="13" name="TextBox 13"/>
          <p:cNvSpPr txBox="1"/>
          <p:nvPr/>
        </p:nvSpPr>
        <p:spPr>
          <a:xfrm>
            <a:off x="2304165" y="5010150"/>
            <a:ext cx="4407929" cy="2133122"/>
          </a:xfrm>
          <a:prstGeom prst="rect">
            <a:avLst/>
          </a:prstGeom>
        </p:spPr>
        <p:txBody>
          <a:bodyPr lIns="0" tIns="0" rIns="0" bIns="0" rtlCol="0" anchor="t">
            <a:spAutoFit/>
          </a:bodyPr>
          <a:lstStyle/>
          <a:p>
            <a:pPr algn="ctr">
              <a:lnSpc>
                <a:spcPts val="4061"/>
              </a:lnSpc>
            </a:pPr>
            <a:r>
              <a:rPr lang="en-US" sz="3030">
                <a:solidFill>
                  <a:srgbClr val="FFFFFF"/>
                </a:solidFill>
                <a:latin typeface="Agrandir"/>
                <a:ea typeface="Agrandir"/>
                <a:cs typeface="Agrandir"/>
                <a:sym typeface="Agrandir"/>
              </a:rPr>
              <a:t>Menunjukkan pergerakkan saham BBCA dari tahun 2012 hingga 2025</a:t>
            </a:r>
          </a:p>
        </p:txBody>
      </p:sp>
    </p:spTree>
  </p:cSld>
  <p:clrMapOvr>
    <a:masterClrMapping/>
  </p:clrMapOvr>
  <p:transition/>
  <p:timing/>
</p:sld>
</file>

<file path=ppt/slides/slide30.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54570" y="-312386"/>
            <a:ext cx="18663304" cy="12434427"/>
          </a:xfrm>
          <a:custGeom>
            <a:rect l="l" t="t" r="r" b="b"/>
            <a:pathLst>
              <a:path w="18663304" h="12434427">
                <a:moveTo>
                  <a:pt x="0" y="0"/>
                </a:moveTo>
                <a:lnTo>
                  <a:pt x="18663304" y="0"/>
                </a:lnTo>
                <a:lnTo>
                  <a:pt x="18663304" y="12434427"/>
                </a:lnTo>
                <a:lnTo>
                  <a:pt x="0" y="12434427"/>
                </a:lnTo>
                <a:lnTo>
                  <a:pt x="0" y="0"/>
                </a:lnTo>
                <a:close/>
              </a:path>
            </a:pathLst>
          </a:custGeom>
          <a:blipFill>
            <a:blip r:embed="rId2">
              <a:alphaModFix amt="53000"/>
            </a:blip>
            <a:stretch>
              <a:fillRect/>
            </a:stretch>
          </a:blipFill>
        </p:spPr>
        <p:txBody>
          <a:bodyPr/>
          <a:lstStyle/>
          <a:p/>
        </p:txBody>
      </p:sp>
      <p:sp>
        <p:nvSpPr>
          <p:cNvPr id="3" name="Freeform 3"/>
          <p:cNvSpPr/>
          <p:nvPr/>
        </p:nvSpPr>
        <p:spPr>
          <a:xfrm>
            <a:off x="12939980" y="6484586"/>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3">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3165293" y="-4710899"/>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3">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flipH="1" flipV="1">
            <a:off x="16938941" y="1028700"/>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sp>
        <p:nvSpPr>
          <p:cNvPr id="6" name="Freeform 6"/>
          <p:cNvSpPr/>
          <p:nvPr/>
        </p:nvSpPr>
        <p:spPr>
          <a:xfrm>
            <a:off x="6230630" y="3338888"/>
            <a:ext cx="11561071" cy="5260288"/>
          </a:xfrm>
          <a:custGeom>
            <a:rect l="l" t="t" r="r" b="b"/>
            <a:pathLst>
              <a:path w="11561071" h="5260288">
                <a:moveTo>
                  <a:pt x="0" y="0"/>
                </a:moveTo>
                <a:lnTo>
                  <a:pt x="11561071" y="0"/>
                </a:lnTo>
                <a:lnTo>
                  <a:pt x="11561071" y="5260287"/>
                </a:lnTo>
                <a:lnTo>
                  <a:pt x="0" y="5260287"/>
                </a:lnTo>
                <a:lnTo>
                  <a:pt x="0" y="0"/>
                </a:lnTo>
                <a:close/>
              </a:path>
            </a:pathLst>
          </a:custGeom>
          <a:blipFill>
            <a:blip r:embed="rId8"/>
            <a:stretch>
              <a:fillRect/>
            </a:stretch>
          </a:blipFill>
        </p:spPr>
        <p:txBody>
          <a:bodyPr/>
          <a:lstStyle/>
          <a:p/>
        </p:txBody>
      </p:sp>
      <p:sp>
        <p:nvSpPr>
          <p:cNvPr id="7" name="TextBox 7"/>
          <p:cNvSpPr txBox="1"/>
          <p:nvPr/>
        </p:nvSpPr>
        <p:spPr>
          <a:xfrm>
            <a:off x="4508129" y="8633253"/>
            <a:ext cx="3445001" cy="707518"/>
          </a:xfrm>
          <a:prstGeom prst="rect">
            <a:avLst/>
          </a:prstGeom>
        </p:spPr>
        <p:txBody>
          <a:bodyPr lIns="0" tIns="0" rIns="0" bIns="0" rtlCol="0" anchor="t">
            <a:spAutoFit/>
          </a:bodyPr>
          <a:lstStyle/>
          <a:p>
            <a:pPr algn="ctr">
              <a:lnSpc>
                <a:spcPts val="4823"/>
              </a:lnSpc>
            </a:pPr>
            <a:r>
              <a:rPr lang="en-US" sz="3599" b="1">
                <a:solidFill>
                  <a:srgbClr val="000000"/>
                </a:solidFill>
                <a:latin typeface="Agrandir Bold"/>
                <a:ea typeface="Agrandir Bold"/>
                <a:cs typeface="Agrandir Bold"/>
                <a:sym typeface="Agrandir Bold"/>
              </a:rPr>
              <a:t>XGBoost</a:t>
            </a:r>
          </a:p>
        </p:txBody>
      </p:sp>
      <p:grpSp>
        <p:nvGrpSpPr>
          <p:cNvPr id="8" name="Group 8"/>
          <p:cNvGrpSpPr/>
          <p:nvPr/>
        </p:nvGrpSpPr>
        <p:grpSpPr>
          <a:xfrm>
            <a:off x="462930" y="3142885"/>
            <a:ext cx="5240110" cy="5652293"/>
            <a:chExt cx="1380111" cy="1488670"/>
          </a:xfrm>
        </p:grpSpPr>
        <p:sp>
          <p:nvSpPr>
            <p:cNvPr id="9" name="Freeform 9"/>
            <p:cNvSpPr/>
            <p:nvPr/>
          </p:nvSpPr>
          <p:spPr>
            <a:xfrm>
              <a:off x="0" y="0"/>
              <a:ext cx="1380111" cy="1488670"/>
            </a:xfrm>
            <a:custGeom>
              <a:rect l="l" t="t" r="r" b="b"/>
              <a:pathLst>
                <a:path w="1380111" h="1488670">
                  <a:moveTo>
                    <a:pt x="0" y="0"/>
                  </a:moveTo>
                  <a:lnTo>
                    <a:pt x="1380111" y="0"/>
                  </a:lnTo>
                  <a:lnTo>
                    <a:pt x="1380111" y="1488670"/>
                  </a:lnTo>
                  <a:lnTo>
                    <a:pt x="0" y="1488670"/>
                  </a:lnTo>
                  <a:close/>
                </a:path>
              </a:pathLst>
            </a:custGeom>
            <a:solidFill>
              <a:srgbClr val="E85041"/>
            </a:solidFill>
          </p:spPr>
          <p:txBody>
            <a:bodyPr/>
            <a:lstStyle/>
            <a:p/>
          </p:txBody>
        </p:sp>
        <p:sp>
          <p:nvSpPr>
            <p:cNvPr id="10" name="TextBox 10"/>
            <p:cNvSpPr txBox="1"/>
            <p:nvPr/>
          </p:nvSpPr>
          <p:spPr>
            <a:xfrm>
              <a:off x="0" y="-85725"/>
              <a:ext cx="1380111" cy="1574395"/>
            </a:xfrm>
            <a:prstGeom prst="rect">
              <a:avLst/>
            </a:prstGeom>
          </p:spPr>
          <p:txBody>
            <a:bodyPr lIns="50800" tIns="50800" rIns="50800" bIns="50800" rtlCol="0" anchor="ctr"/>
            <a:lstStyle/>
            <a:p>
              <a:pPr algn="ctr">
                <a:lnSpc>
                  <a:spcPts val="2679"/>
                </a:lnSpc>
              </a:pPr>
            </a:p>
          </p:txBody>
        </p:sp>
      </p:grpSp>
      <p:sp>
        <p:nvSpPr>
          <p:cNvPr id="11" name="TextBox 11"/>
          <p:cNvSpPr txBox="1"/>
          <p:nvPr/>
        </p:nvSpPr>
        <p:spPr>
          <a:xfrm>
            <a:off x="4870859" y="675088"/>
            <a:ext cx="8175378" cy="835025"/>
          </a:xfrm>
          <a:prstGeom prst="rect">
            <a:avLst/>
          </a:prstGeom>
        </p:spPr>
        <p:txBody>
          <a:bodyPr lIns="0" tIns="0" rIns="0" bIns="0" rtlCol="0" anchor="t">
            <a:spAutoFit/>
          </a:bodyPr>
          <a:lstStyle/>
          <a:p>
            <a:pPr algn="ctr">
              <a:lnSpc>
                <a:spcPts val="5350"/>
              </a:lnSpc>
            </a:pPr>
            <a:r>
              <a:rPr lang="en-US" sz="5000" b="1">
                <a:solidFill>
                  <a:srgbClr val="FFFFFF"/>
                </a:solidFill>
                <a:latin typeface="Agrandir Bold"/>
                <a:ea typeface="Agrandir Bold"/>
                <a:cs typeface="Agrandir Bold"/>
                <a:sym typeface="Agrandir Bold"/>
              </a:rPr>
              <a:t>Exploratory Data Analysis</a:t>
            </a:r>
          </a:p>
        </p:txBody>
      </p:sp>
      <p:sp>
        <p:nvSpPr>
          <p:cNvPr id="12" name="TextBox 12"/>
          <p:cNvSpPr txBox="1"/>
          <p:nvPr/>
        </p:nvSpPr>
        <p:spPr>
          <a:xfrm>
            <a:off x="1168060" y="3640489"/>
            <a:ext cx="3829851" cy="707518"/>
          </a:xfrm>
          <a:prstGeom prst="rect">
            <a:avLst/>
          </a:prstGeom>
        </p:spPr>
        <p:txBody>
          <a:bodyPr lIns="0" tIns="0" rIns="0" bIns="0" rtlCol="0" anchor="t">
            <a:spAutoFit/>
          </a:bodyPr>
          <a:lstStyle/>
          <a:p>
            <a:pPr algn="ctr">
              <a:lnSpc>
                <a:spcPts val="4823"/>
              </a:lnSpc>
            </a:pPr>
            <a:r>
              <a:rPr lang="en-US" sz="3599" b="1">
                <a:solidFill>
                  <a:srgbClr val="FFFFFF"/>
                </a:solidFill>
                <a:latin typeface="Agrandir Bold"/>
                <a:ea typeface="Agrandir Bold"/>
                <a:cs typeface="Agrandir Bold"/>
                <a:sym typeface="Agrandir Bold"/>
              </a:rPr>
              <a:t>Moving Average</a:t>
            </a:r>
          </a:p>
        </p:txBody>
      </p:sp>
      <p:sp>
        <p:nvSpPr>
          <p:cNvPr id="13" name="TextBox 13"/>
          <p:cNvSpPr txBox="1"/>
          <p:nvPr/>
        </p:nvSpPr>
        <p:spPr>
          <a:xfrm>
            <a:off x="879021" y="5094643"/>
            <a:ext cx="4407929" cy="2646536"/>
          </a:xfrm>
          <a:prstGeom prst="rect">
            <a:avLst/>
          </a:prstGeom>
        </p:spPr>
        <p:txBody>
          <a:bodyPr lIns="0" tIns="0" rIns="0" bIns="0" rtlCol="0" anchor="t">
            <a:spAutoFit/>
          </a:bodyPr>
          <a:lstStyle/>
          <a:p>
            <a:pPr algn="ctr">
              <a:lnSpc>
                <a:spcPts val="4061"/>
              </a:lnSpc>
            </a:pPr>
            <a:r>
              <a:rPr lang="en-US" sz="3030">
                <a:solidFill>
                  <a:srgbClr val="FFFFFF"/>
                </a:solidFill>
                <a:latin typeface="Agrandir"/>
                <a:ea typeface="Agrandir"/>
                <a:cs typeface="Agrandir"/>
                <a:sym typeface="Agrandir"/>
              </a:rPr>
              <a:t>Menyaring fluktuasi harga yang tajam dan melihat tren yang lebih jelas. </a:t>
            </a:r>
          </a:p>
          <a:p>
            <a:pPr algn="ctr">
              <a:lnSpc>
                <a:spcPts val="4061"/>
              </a:lnSpc>
            </a:pPr>
            <a:endParaRPr lang="en-US" sz="3030">
              <a:solidFill>
                <a:srgbClr val="FFFFFF"/>
              </a:solidFill>
              <a:latin typeface="Agrandir"/>
              <a:ea typeface="Agrandir"/>
              <a:cs typeface="Agrandir"/>
              <a:sym typeface="Agrandir"/>
            </a:endParaRPr>
          </a:p>
        </p:txBody>
      </p:sp>
    </p:spTree>
  </p:cSld>
  <p:clrMapOvr>
    <a:masterClrMapping/>
  </p:clrMapOvr>
  <p:transition/>
  <p:timing/>
</p:sld>
</file>

<file path=ppt/slides/slide3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12939980" y="6484586"/>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4">
              <a:alphaModFix amt="57000"/>
            </a:blip>
            <a:stretch>
              <a:fillRect t="-9222" b="-9222"/>
            </a:stretch>
          </a:blipFill>
        </p:spPr>
        <p:txBody>
          <a:bodyPr/>
          <a:lstStyle/>
          <a:p/>
        </p:txBody>
      </p:sp>
      <p:sp>
        <p:nvSpPr>
          <p:cNvPr id="4" name="Freeform 4"/>
          <p:cNvSpPr/>
          <p:nvPr/>
        </p:nvSpPr>
        <p:spPr>
          <a:xfrm>
            <a:off x="-3165293" y="-4710899"/>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flipH="1" flipV="1">
            <a:off x="16938941" y="1028700"/>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sp>
        <p:nvSpPr>
          <p:cNvPr id="6" name="Freeform 6"/>
          <p:cNvSpPr/>
          <p:nvPr/>
        </p:nvSpPr>
        <p:spPr>
          <a:xfrm>
            <a:off x="1028700" y="3151103"/>
            <a:ext cx="10308814" cy="5644075"/>
          </a:xfrm>
          <a:custGeom>
            <a:rect l="l" t="t" r="r" b="b"/>
            <a:pathLst>
              <a:path w="10308814" h="5644075">
                <a:moveTo>
                  <a:pt x="0" y="0"/>
                </a:moveTo>
                <a:lnTo>
                  <a:pt x="10308814" y="0"/>
                </a:lnTo>
                <a:lnTo>
                  <a:pt x="10308814" y="5644075"/>
                </a:lnTo>
                <a:lnTo>
                  <a:pt x="0" y="5644075"/>
                </a:lnTo>
                <a:lnTo>
                  <a:pt x="0" y="0"/>
                </a:lnTo>
                <a:close/>
              </a:path>
            </a:pathLst>
          </a:custGeom>
          <a:blipFill>
            <a:blip r:embed="rId8"/>
            <a:stretch>
              <a:fillRect/>
            </a:stretch>
          </a:blipFill>
        </p:spPr>
        <p:txBody>
          <a:bodyPr/>
          <a:lstStyle/>
          <a:p/>
        </p:txBody>
      </p:sp>
      <p:grpSp>
        <p:nvGrpSpPr>
          <p:cNvPr id="7" name="Group 7"/>
          <p:cNvGrpSpPr/>
          <p:nvPr/>
        </p:nvGrpSpPr>
        <p:grpSpPr>
          <a:xfrm>
            <a:off x="12358839" y="3514922"/>
            <a:ext cx="5122270" cy="5403068"/>
            <a:chExt cx="1349075" cy="1423030"/>
          </a:xfrm>
        </p:grpSpPr>
        <p:sp>
          <p:nvSpPr>
            <p:cNvPr id="8" name="Freeform 8"/>
            <p:cNvSpPr/>
            <p:nvPr/>
          </p:nvSpPr>
          <p:spPr>
            <a:xfrm>
              <a:off x="0" y="0"/>
              <a:ext cx="1349075" cy="1423030"/>
            </a:xfrm>
            <a:custGeom>
              <a:rect l="l" t="t" r="r" b="b"/>
              <a:pathLst>
                <a:path w="1349075" h="1423030">
                  <a:moveTo>
                    <a:pt x="0" y="0"/>
                  </a:moveTo>
                  <a:lnTo>
                    <a:pt x="1349075" y="0"/>
                  </a:lnTo>
                  <a:lnTo>
                    <a:pt x="1349075" y="1423030"/>
                  </a:lnTo>
                  <a:lnTo>
                    <a:pt x="0" y="1423030"/>
                  </a:lnTo>
                  <a:close/>
                </a:path>
              </a:pathLst>
            </a:custGeom>
            <a:solidFill>
              <a:srgbClr val="E85041"/>
            </a:solidFill>
          </p:spPr>
          <p:txBody>
            <a:bodyPr/>
            <a:lstStyle/>
            <a:p/>
          </p:txBody>
        </p:sp>
        <p:sp>
          <p:nvSpPr>
            <p:cNvPr id="9" name="TextBox 9"/>
            <p:cNvSpPr txBox="1"/>
            <p:nvPr/>
          </p:nvSpPr>
          <p:spPr>
            <a:xfrm>
              <a:off x="0" y="-85725"/>
              <a:ext cx="1349075" cy="1508755"/>
            </a:xfrm>
            <a:prstGeom prst="rect">
              <a:avLst/>
            </a:prstGeom>
          </p:spPr>
          <p:txBody>
            <a:bodyPr lIns="50800" tIns="50800" rIns="50800" bIns="50800" rtlCol="0" anchor="ctr"/>
            <a:lstStyle/>
            <a:p>
              <a:pPr algn="ctr">
                <a:lnSpc>
                  <a:spcPts val="2679"/>
                </a:lnSpc>
              </a:pPr>
            </a:p>
          </p:txBody>
        </p:sp>
      </p:grpSp>
      <p:sp>
        <p:nvSpPr>
          <p:cNvPr id="10" name="TextBox 10"/>
          <p:cNvSpPr txBox="1"/>
          <p:nvPr/>
        </p:nvSpPr>
        <p:spPr>
          <a:xfrm>
            <a:off x="4870859" y="675088"/>
            <a:ext cx="8175378" cy="835025"/>
          </a:xfrm>
          <a:prstGeom prst="rect">
            <a:avLst/>
          </a:prstGeom>
        </p:spPr>
        <p:txBody>
          <a:bodyPr lIns="0" tIns="0" rIns="0" bIns="0" rtlCol="0" anchor="t">
            <a:spAutoFit/>
          </a:bodyPr>
          <a:lstStyle/>
          <a:p>
            <a:pPr algn="ctr">
              <a:lnSpc>
                <a:spcPts val="5350"/>
              </a:lnSpc>
            </a:pPr>
            <a:r>
              <a:rPr lang="en-US" sz="5000" b="1">
                <a:solidFill>
                  <a:srgbClr val="FFFFFF"/>
                </a:solidFill>
                <a:latin typeface="Agrandir Bold"/>
                <a:ea typeface="Agrandir Bold"/>
                <a:cs typeface="Agrandir Bold"/>
                <a:sym typeface="Agrandir Bold"/>
              </a:rPr>
              <a:t>Exploratory Data Analysis</a:t>
            </a:r>
          </a:p>
        </p:txBody>
      </p:sp>
      <p:sp>
        <p:nvSpPr>
          <p:cNvPr id="11" name="TextBox 11"/>
          <p:cNvSpPr txBox="1"/>
          <p:nvPr/>
        </p:nvSpPr>
        <p:spPr>
          <a:xfrm>
            <a:off x="4508129" y="8633253"/>
            <a:ext cx="3445001" cy="707518"/>
          </a:xfrm>
          <a:prstGeom prst="rect">
            <a:avLst/>
          </a:prstGeom>
        </p:spPr>
        <p:txBody>
          <a:bodyPr lIns="0" tIns="0" rIns="0" bIns="0" rtlCol="0" anchor="t">
            <a:spAutoFit/>
          </a:bodyPr>
          <a:lstStyle/>
          <a:p>
            <a:pPr algn="ctr">
              <a:lnSpc>
                <a:spcPts val="4823"/>
              </a:lnSpc>
            </a:pPr>
            <a:r>
              <a:rPr lang="en-US" sz="3599" b="1">
                <a:solidFill>
                  <a:srgbClr val="000000"/>
                </a:solidFill>
                <a:latin typeface="Agrandir Bold"/>
                <a:ea typeface="Agrandir Bold"/>
                <a:cs typeface="Agrandir Bold"/>
                <a:sym typeface="Agrandir Bold"/>
              </a:rPr>
              <a:t>XGBoost</a:t>
            </a:r>
          </a:p>
        </p:txBody>
      </p:sp>
      <p:sp>
        <p:nvSpPr>
          <p:cNvPr id="12" name="TextBox 12"/>
          <p:cNvSpPr txBox="1"/>
          <p:nvPr/>
        </p:nvSpPr>
        <p:spPr>
          <a:xfrm>
            <a:off x="13099566" y="3516848"/>
            <a:ext cx="3829851" cy="707518"/>
          </a:xfrm>
          <a:prstGeom prst="rect">
            <a:avLst/>
          </a:prstGeom>
        </p:spPr>
        <p:txBody>
          <a:bodyPr lIns="0" tIns="0" rIns="0" bIns="0" rtlCol="0" anchor="t">
            <a:spAutoFit/>
          </a:bodyPr>
          <a:lstStyle/>
          <a:p>
            <a:pPr algn="ctr">
              <a:lnSpc>
                <a:spcPts val="4823"/>
              </a:lnSpc>
            </a:pPr>
            <a:r>
              <a:rPr lang="en-US" sz="3599" b="1">
                <a:solidFill>
                  <a:srgbClr val="FFFFFF"/>
                </a:solidFill>
                <a:latin typeface="Agrandir Bold"/>
                <a:ea typeface="Agrandir Bold"/>
                <a:cs typeface="Agrandir Bold"/>
                <a:sym typeface="Agrandir Bold"/>
              </a:rPr>
              <a:t>Daily Return</a:t>
            </a:r>
          </a:p>
        </p:txBody>
      </p:sp>
      <p:sp>
        <p:nvSpPr>
          <p:cNvPr id="13" name="TextBox 13"/>
          <p:cNvSpPr txBox="1"/>
          <p:nvPr/>
        </p:nvSpPr>
        <p:spPr>
          <a:xfrm>
            <a:off x="12716010" y="4608401"/>
            <a:ext cx="4407929" cy="4186778"/>
          </a:xfrm>
          <a:prstGeom prst="rect">
            <a:avLst/>
          </a:prstGeom>
        </p:spPr>
        <p:txBody>
          <a:bodyPr lIns="0" tIns="0" rIns="0" bIns="0" rtlCol="0" anchor="t">
            <a:spAutoFit/>
          </a:bodyPr>
          <a:lstStyle/>
          <a:p>
            <a:pPr algn="ctr">
              <a:lnSpc>
                <a:spcPts val="4061"/>
              </a:lnSpc>
            </a:pPr>
            <a:r>
              <a:rPr lang="en-US" sz="3030">
                <a:solidFill>
                  <a:srgbClr val="FFFFFF"/>
                </a:solidFill>
                <a:latin typeface="Agrandir"/>
                <a:ea typeface="Agrandir"/>
                <a:cs typeface="Agrandir"/>
                <a:sym typeface="Agrandir"/>
              </a:rPr>
              <a:t>Histogram daily returns ini memberikan wawasan penting dalam EDA tentang volatilitas, risiko, dan kestabilanpergerakan harga saham BBCA</a:t>
            </a:r>
          </a:p>
          <a:p>
            <a:pPr algn="ctr">
              <a:lnSpc>
                <a:spcPts val="4061"/>
              </a:lnSpc>
            </a:pPr>
            <a:endParaRPr lang="en-US" sz="3030">
              <a:solidFill>
                <a:srgbClr val="FFFFFF"/>
              </a:solidFill>
              <a:latin typeface="Agrandir"/>
              <a:ea typeface="Agrandir"/>
              <a:cs typeface="Agrandir"/>
              <a:sym typeface="Agrandir"/>
            </a:endParaRPr>
          </a:p>
        </p:txBody>
      </p:sp>
    </p:spTree>
  </p:cSld>
  <p:clrMapOvr>
    <a:masterClrMapping/>
  </p:clrMapOvr>
  <p:transition/>
  <p:timing/>
</p:sld>
</file>

<file path=ppt/slides/slide3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alphaModFix amt="48000"/>
            </a:blip>
            <a:stretch>
              <a:fillRect t="-9222" b="-9222"/>
            </a:stretch>
          </a:blipFill>
        </p:spPr>
        <p:txBody>
          <a:bodyPr/>
          <a:lstStyle/>
          <a:p/>
        </p:txBody>
      </p:sp>
      <p:sp>
        <p:nvSpPr>
          <p:cNvPr id="3" name="Freeform 3"/>
          <p:cNvSpPr/>
          <p:nvPr/>
        </p:nvSpPr>
        <p:spPr>
          <a:xfrm>
            <a:off x="12761764" y="6444367"/>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3">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3165293" y="-4710899"/>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3">
              <a:alphaModFix amt="38000"/>
              <a:extLst>
                <a:ext uri="{96DAC541-7B7A-43D3-8B79-37D633B846F1}">
                  <asvg:svgBlip xmlns:asvg="http://schemas.microsoft.com/office/drawing/2016/SVG/main" r:embed="rId5"/>
                </a:ext>
              </a:extLst>
            </a:blip>
            <a:stretch>
              <a:fillRect/>
            </a:stretch>
          </a:blipFill>
        </p:spPr>
        <p:txBody>
          <a:bodyPr/>
          <a:lstStyle/>
          <a:p/>
        </p:txBody>
      </p:sp>
      <p:sp>
        <p:nvSpPr>
          <p:cNvPr id="5" name="Freeform 5"/>
          <p:cNvSpPr/>
          <p:nvPr/>
        </p:nvSpPr>
        <p:spPr>
          <a:xfrm flipH="1" flipV="1">
            <a:off x="16938941" y="1028700"/>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sp>
        <p:nvSpPr>
          <p:cNvPr id="6" name="Freeform 6"/>
          <p:cNvSpPr/>
          <p:nvPr/>
        </p:nvSpPr>
        <p:spPr>
          <a:xfrm>
            <a:off x="339713" y="3377548"/>
            <a:ext cx="11938953" cy="6133637"/>
          </a:xfrm>
          <a:custGeom>
            <a:rect l="l" t="t" r="r" b="b"/>
            <a:pathLst>
              <a:path w="11938953" h="6133637">
                <a:moveTo>
                  <a:pt x="0" y="0"/>
                </a:moveTo>
                <a:lnTo>
                  <a:pt x="11938953" y="0"/>
                </a:lnTo>
                <a:lnTo>
                  <a:pt x="11938953" y="6133637"/>
                </a:lnTo>
                <a:lnTo>
                  <a:pt x="0" y="6133637"/>
                </a:lnTo>
                <a:lnTo>
                  <a:pt x="0" y="0"/>
                </a:lnTo>
                <a:close/>
              </a:path>
            </a:pathLst>
          </a:custGeom>
          <a:blipFill>
            <a:blip r:embed="rId8"/>
            <a:stretch>
              <a:fillRect/>
            </a:stretch>
          </a:blipFill>
        </p:spPr>
        <p:txBody>
          <a:bodyPr/>
          <a:lstStyle/>
          <a:p/>
        </p:txBody>
      </p:sp>
      <p:grpSp>
        <p:nvGrpSpPr>
          <p:cNvPr id="7" name="Group 7"/>
          <p:cNvGrpSpPr/>
          <p:nvPr/>
        </p:nvGrpSpPr>
        <p:grpSpPr>
          <a:xfrm>
            <a:off x="12761764" y="3802414"/>
            <a:ext cx="4984791" cy="4970989"/>
            <a:chExt cx="1312867" cy="1309232"/>
          </a:xfrm>
        </p:grpSpPr>
        <p:sp>
          <p:nvSpPr>
            <p:cNvPr id="8" name="Freeform 8"/>
            <p:cNvSpPr/>
            <p:nvPr/>
          </p:nvSpPr>
          <p:spPr>
            <a:xfrm>
              <a:off x="0" y="0"/>
              <a:ext cx="1312867" cy="1309232"/>
            </a:xfrm>
            <a:custGeom>
              <a:rect l="l" t="t" r="r" b="b"/>
              <a:pathLst>
                <a:path w="1312867" h="1309232">
                  <a:moveTo>
                    <a:pt x="0" y="0"/>
                  </a:moveTo>
                  <a:lnTo>
                    <a:pt x="1312867" y="0"/>
                  </a:lnTo>
                  <a:lnTo>
                    <a:pt x="1312867" y="1309232"/>
                  </a:lnTo>
                  <a:lnTo>
                    <a:pt x="0" y="1309232"/>
                  </a:lnTo>
                  <a:close/>
                </a:path>
              </a:pathLst>
            </a:custGeom>
            <a:solidFill>
              <a:srgbClr val="E85041"/>
            </a:solidFill>
          </p:spPr>
          <p:txBody>
            <a:bodyPr/>
            <a:lstStyle/>
            <a:p/>
          </p:txBody>
        </p:sp>
        <p:sp>
          <p:nvSpPr>
            <p:cNvPr id="9" name="TextBox 9"/>
            <p:cNvSpPr txBox="1"/>
            <p:nvPr/>
          </p:nvSpPr>
          <p:spPr>
            <a:xfrm>
              <a:off x="0" y="-85725"/>
              <a:ext cx="1312867" cy="1394957"/>
            </a:xfrm>
            <a:prstGeom prst="rect">
              <a:avLst/>
            </a:prstGeom>
          </p:spPr>
          <p:txBody>
            <a:bodyPr lIns="50800" tIns="50800" rIns="50800" bIns="50800" rtlCol="0" anchor="ctr"/>
            <a:lstStyle/>
            <a:p>
              <a:pPr algn="ctr">
                <a:lnSpc>
                  <a:spcPts val="2679"/>
                </a:lnSpc>
              </a:pPr>
            </a:p>
          </p:txBody>
        </p:sp>
      </p:grpSp>
      <p:sp>
        <p:nvSpPr>
          <p:cNvPr id="10" name="TextBox 10"/>
          <p:cNvSpPr txBox="1"/>
          <p:nvPr/>
        </p:nvSpPr>
        <p:spPr>
          <a:xfrm>
            <a:off x="4870859" y="675088"/>
            <a:ext cx="8175378" cy="835025"/>
          </a:xfrm>
          <a:prstGeom prst="rect">
            <a:avLst/>
          </a:prstGeom>
        </p:spPr>
        <p:txBody>
          <a:bodyPr lIns="0" tIns="0" rIns="0" bIns="0" rtlCol="0" anchor="t">
            <a:spAutoFit/>
          </a:bodyPr>
          <a:lstStyle/>
          <a:p>
            <a:pPr algn="ctr">
              <a:lnSpc>
                <a:spcPts val="5350"/>
              </a:lnSpc>
            </a:pPr>
            <a:r>
              <a:rPr lang="en-US" sz="5000" b="1">
                <a:solidFill>
                  <a:srgbClr val="FFFFFF"/>
                </a:solidFill>
                <a:latin typeface="Agrandir Bold"/>
                <a:ea typeface="Agrandir Bold"/>
                <a:cs typeface="Agrandir Bold"/>
                <a:sym typeface="Agrandir Bold"/>
              </a:rPr>
              <a:t>Exploratory Data Analysis</a:t>
            </a:r>
          </a:p>
        </p:txBody>
      </p:sp>
      <p:sp>
        <p:nvSpPr>
          <p:cNvPr id="11" name="TextBox 11"/>
          <p:cNvSpPr txBox="1"/>
          <p:nvPr/>
        </p:nvSpPr>
        <p:spPr>
          <a:xfrm>
            <a:off x="13297846" y="3951089"/>
            <a:ext cx="3829851" cy="707518"/>
          </a:xfrm>
          <a:prstGeom prst="rect">
            <a:avLst/>
          </a:prstGeom>
        </p:spPr>
        <p:txBody>
          <a:bodyPr lIns="0" tIns="0" rIns="0" bIns="0" rtlCol="0" anchor="t">
            <a:spAutoFit/>
          </a:bodyPr>
          <a:lstStyle/>
          <a:p>
            <a:pPr algn="ctr">
              <a:lnSpc>
                <a:spcPts val="4823"/>
              </a:lnSpc>
            </a:pPr>
            <a:r>
              <a:rPr lang="en-US" sz="3599" b="1">
                <a:solidFill>
                  <a:srgbClr val="FFFFFF"/>
                </a:solidFill>
                <a:latin typeface="Agrandir Bold"/>
                <a:ea typeface="Agrandir Bold"/>
                <a:cs typeface="Agrandir Bold"/>
                <a:sym typeface="Agrandir Bold"/>
              </a:rPr>
              <a:t>Trading Volume</a:t>
            </a:r>
          </a:p>
        </p:txBody>
      </p:sp>
      <p:sp>
        <p:nvSpPr>
          <p:cNvPr id="12" name="TextBox 12"/>
          <p:cNvSpPr txBox="1"/>
          <p:nvPr/>
        </p:nvSpPr>
        <p:spPr>
          <a:xfrm>
            <a:off x="12849024" y="4853999"/>
            <a:ext cx="4810271" cy="3538819"/>
          </a:xfrm>
          <a:prstGeom prst="rect">
            <a:avLst/>
          </a:prstGeom>
        </p:spPr>
        <p:txBody>
          <a:bodyPr lIns="0" tIns="0" rIns="0" bIns="0" rtlCol="0" anchor="t">
            <a:spAutoFit/>
          </a:bodyPr>
          <a:lstStyle/>
          <a:p>
            <a:pPr algn="ctr">
              <a:lnSpc>
                <a:spcPts val="3927"/>
              </a:lnSpc>
            </a:pPr>
            <a:r>
              <a:rPr lang="en-US" sz="2930">
                <a:solidFill>
                  <a:srgbClr val="FFFFFF"/>
                </a:solidFill>
                <a:latin typeface="Agrandir"/>
                <a:ea typeface="Agrandir"/>
                <a:cs typeface="Agrandir"/>
                <a:sym typeface="Agrandir"/>
              </a:rPr>
              <a:t>Dalam EDA, volume perdagangan memberikan konteks untuk memahami dinamika pasar, membantu mengidentifikasi kapan pasar sangat aktif atau sebaliknya sangat tenang.</a:t>
            </a:r>
          </a:p>
        </p:txBody>
      </p:sp>
    </p:spTree>
  </p:cSld>
  <p:clrMapOvr>
    <a:masterClrMapping/>
  </p:clrMapOvr>
  <p:transition/>
  <p:timing/>
</p:sld>
</file>

<file path=ppt/slides/slide3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p:txBody>
      </p:sp>
      <p:grpSp>
        <p:nvGrpSpPr>
          <p:cNvPr id="3" name="Group 3"/>
          <p:cNvGrpSpPr/>
          <p:nvPr/>
        </p:nvGrpSpPr>
        <p:grpSpPr>
          <a:xfrm>
            <a:off x="760243" y="2354002"/>
            <a:ext cx="16473585" cy="7120379"/>
            <a:chExt cx="4338722" cy="1875326"/>
          </a:xfrm>
        </p:grpSpPr>
        <p:sp>
          <p:nvSpPr>
            <p:cNvPr id="4" name="Freeform 4"/>
            <p:cNvSpPr/>
            <p:nvPr/>
          </p:nvSpPr>
          <p:spPr>
            <a:xfrm>
              <a:off x="0" y="0"/>
              <a:ext cx="4338722" cy="1875326"/>
            </a:xfrm>
            <a:custGeom>
              <a:rect l="l" t="t" r="r" b="b"/>
              <a:pathLst>
                <a:path w="4338722" h="1875325">
                  <a:moveTo>
                    <a:pt x="6579" y="0"/>
                  </a:moveTo>
                  <a:lnTo>
                    <a:pt x="4332143" y="0"/>
                  </a:lnTo>
                  <a:cubicBezTo>
                    <a:pt x="4333887" y="0"/>
                    <a:pt x="4335561" y="693"/>
                    <a:pt x="4336795" y="1927"/>
                  </a:cubicBezTo>
                  <a:cubicBezTo>
                    <a:pt x="4338029" y="3161"/>
                    <a:pt x="4338722" y="4834"/>
                    <a:pt x="4338722" y="6579"/>
                  </a:cubicBezTo>
                  <a:lnTo>
                    <a:pt x="4338722" y="1868747"/>
                  </a:lnTo>
                  <a:cubicBezTo>
                    <a:pt x="4338722" y="1870492"/>
                    <a:pt x="4338029" y="1872165"/>
                    <a:pt x="4336795" y="1873399"/>
                  </a:cubicBezTo>
                  <a:cubicBezTo>
                    <a:pt x="4335561" y="1874633"/>
                    <a:pt x="4333887" y="1875326"/>
                    <a:pt x="4332143" y="1875326"/>
                  </a:cubicBezTo>
                  <a:lnTo>
                    <a:pt x="6579" y="1875326"/>
                  </a:lnTo>
                  <a:cubicBezTo>
                    <a:pt x="4834" y="1875326"/>
                    <a:pt x="3161" y="1874633"/>
                    <a:pt x="1927" y="1873399"/>
                  </a:cubicBezTo>
                  <a:cubicBezTo>
                    <a:pt x="693" y="1872165"/>
                    <a:pt x="0" y="1870492"/>
                    <a:pt x="0" y="1868747"/>
                  </a:cubicBezTo>
                  <a:lnTo>
                    <a:pt x="0" y="6579"/>
                  </a:lnTo>
                  <a:cubicBezTo>
                    <a:pt x="0" y="4834"/>
                    <a:pt x="693" y="3161"/>
                    <a:pt x="1927" y="1927"/>
                  </a:cubicBezTo>
                  <a:cubicBezTo>
                    <a:pt x="3161" y="693"/>
                    <a:pt x="4834" y="0"/>
                    <a:pt x="6579" y="0"/>
                  </a:cubicBezTo>
                  <a:close/>
                </a:path>
              </a:pathLst>
            </a:custGeom>
            <a:gradFill rotWithShape="1">
              <a:gsLst>
                <a:gs pos="0">
                  <a:srgbClr val="000000">
                    <a:alpha val="100000"/>
                  </a:srgbClr>
                </a:gs>
                <a:gs pos="100000">
                  <a:srgbClr val="740F0F">
                    <a:alpha val="100000"/>
                  </a:srgbClr>
                </a:gs>
              </a:gsLst>
              <a:lin ang="5400000"/>
            </a:gradFill>
          </p:spPr>
          <p:txBody>
            <a:bodyPr/>
            <a:lstStyle/>
            <a:p/>
          </p:txBody>
        </p:sp>
        <p:sp>
          <p:nvSpPr>
            <p:cNvPr id="5" name="TextBox 5"/>
            <p:cNvSpPr txBox="1"/>
            <p:nvPr/>
          </p:nvSpPr>
          <p:spPr>
            <a:xfrm>
              <a:off x="0" y="38100"/>
              <a:ext cx="4338722" cy="1837226"/>
            </a:xfrm>
            <a:prstGeom prst="rect">
              <a:avLst/>
            </a:prstGeom>
          </p:spPr>
          <p:txBody>
            <a:bodyPr lIns="50800" tIns="50800" rIns="50800" bIns="50800" rtlCol="0" anchor="ctr"/>
            <a:lstStyle/>
            <a:p>
              <a:pPr algn="ctr">
                <a:lnSpc>
                  <a:spcPts val="2199"/>
                </a:lnSpc>
              </a:pPr>
            </a:p>
          </p:txBody>
        </p:sp>
      </p:grpSp>
      <p:sp>
        <p:nvSpPr>
          <p:cNvPr id="6" name="Freeform 6"/>
          <p:cNvSpPr/>
          <p:nvPr/>
        </p:nvSpPr>
        <p:spPr>
          <a:xfrm>
            <a:off x="16510053" y="1028700"/>
            <a:ext cx="723775" cy="723775"/>
          </a:xfrm>
          <a:custGeom>
            <a:rect l="l" t="t" r="r" b="b"/>
            <a:pathLst>
              <a:path w="723775" h="723775">
                <a:moveTo>
                  <a:pt x="0" y="0"/>
                </a:moveTo>
                <a:lnTo>
                  <a:pt x="723776" y="0"/>
                </a:lnTo>
                <a:lnTo>
                  <a:pt x="723776" y="723775"/>
                </a:lnTo>
                <a:lnTo>
                  <a:pt x="0" y="7237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p:txBody>
      </p:sp>
      <p:sp>
        <p:nvSpPr>
          <p:cNvPr id="7" name="TextBox 7"/>
          <p:cNvSpPr txBox="1"/>
          <p:nvPr/>
        </p:nvSpPr>
        <p:spPr>
          <a:xfrm>
            <a:off x="2694253" y="967546"/>
            <a:ext cx="12852851" cy="2017966"/>
          </a:xfrm>
          <a:prstGeom prst="rect">
            <a:avLst/>
          </a:prstGeom>
        </p:spPr>
        <p:txBody>
          <a:bodyPr lIns="0" tIns="0" rIns="0" bIns="0" rtlCol="0" anchor="t">
            <a:spAutoFit/>
          </a:bodyPr>
          <a:lstStyle/>
          <a:p>
            <a:pPr algn="ctr">
              <a:lnSpc>
                <a:spcPts val="7488"/>
              </a:lnSpc>
            </a:pPr>
            <a:r>
              <a:rPr lang="en-US" sz="7200" b="1">
                <a:solidFill>
                  <a:srgbClr val="F7F7F7"/>
                </a:solidFill>
                <a:latin typeface="Helvetica World Bold"/>
                <a:ea typeface="Helvetica World Bold"/>
                <a:cs typeface="Helvetica World Bold"/>
                <a:sym typeface="Helvetica World Bold"/>
              </a:rPr>
              <a:t>Dataset dan Proses EDA</a:t>
            </a:r>
          </a:p>
          <a:p>
            <a:pPr algn="ctr">
              <a:lnSpc>
                <a:spcPts val="7488"/>
              </a:lnSpc>
            </a:pPr>
            <a:endParaRPr lang="en-US" sz="7200" b="1">
              <a:solidFill>
                <a:srgbClr val="F7F7F7"/>
              </a:solidFill>
              <a:latin typeface="Helvetica World Bold"/>
              <a:ea typeface="Helvetica World Bold"/>
              <a:cs typeface="Helvetica World Bold"/>
              <a:sym typeface="Helvetica World Bold"/>
            </a:endParaRPr>
          </a:p>
        </p:txBody>
      </p:sp>
      <p:grpSp>
        <p:nvGrpSpPr>
          <p:cNvPr id="8" name="Group 8"/>
          <p:cNvGrpSpPr/>
          <p:nvPr/>
        </p:nvGrpSpPr>
        <p:grpSpPr>
          <a:xfrm>
            <a:off x="10433123" y="3893400"/>
            <a:ext cx="6438818" cy="3647012"/>
            <a:chExt cx="8585091" cy="4862683"/>
          </a:xfrm>
        </p:grpSpPr>
        <p:sp>
          <p:nvSpPr>
            <p:cNvPr id="9" name="Freeform 9"/>
            <p:cNvSpPr/>
            <p:nvPr/>
          </p:nvSpPr>
          <p:spPr>
            <a:xfrm>
              <a:off x="0" y="0"/>
              <a:ext cx="8585091" cy="2508500"/>
            </a:xfrm>
            <a:custGeom>
              <a:rect l="l" t="t" r="r" b="b"/>
              <a:pathLst>
                <a:path w="8585091" h="2508500">
                  <a:moveTo>
                    <a:pt x="0" y="0"/>
                  </a:moveTo>
                  <a:lnTo>
                    <a:pt x="8585091" y="0"/>
                  </a:lnTo>
                  <a:lnTo>
                    <a:pt x="8585091" y="2508500"/>
                  </a:lnTo>
                  <a:lnTo>
                    <a:pt x="0" y="2508500"/>
                  </a:lnTo>
                  <a:lnTo>
                    <a:pt x="0" y="0"/>
                  </a:lnTo>
                  <a:close/>
                </a:path>
              </a:pathLst>
            </a:custGeom>
            <a:blipFill>
              <a:blip r:embed="rId5"/>
              <a:stretch>
                <a:fillRect l="-10241" r="-2139"/>
              </a:stretch>
            </a:blipFill>
          </p:spPr>
          <p:txBody>
            <a:bodyPr/>
            <a:lstStyle/>
            <a:p/>
          </p:txBody>
        </p:sp>
        <p:sp>
          <p:nvSpPr>
            <p:cNvPr id="10" name="Freeform 10"/>
            <p:cNvSpPr/>
            <p:nvPr/>
          </p:nvSpPr>
          <p:spPr>
            <a:xfrm>
              <a:off x="0" y="2508500"/>
              <a:ext cx="8585091" cy="2354183"/>
            </a:xfrm>
            <a:custGeom>
              <a:rect l="l" t="t" r="r" b="b"/>
              <a:pathLst>
                <a:path w="8585091" h="2354183">
                  <a:moveTo>
                    <a:pt x="0" y="0"/>
                  </a:moveTo>
                  <a:lnTo>
                    <a:pt x="8585091" y="0"/>
                  </a:lnTo>
                  <a:lnTo>
                    <a:pt x="8585091" y="2354183"/>
                  </a:lnTo>
                  <a:lnTo>
                    <a:pt x="0" y="2354183"/>
                  </a:lnTo>
                  <a:lnTo>
                    <a:pt x="0" y="0"/>
                  </a:lnTo>
                  <a:close/>
                </a:path>
              </a:pathLst>
            </a:custGeom>
            <a:blipFill>
              <a:blip r:embed="rId6"/>
              <a:stretch>
                <a:fillRect l="-10238" r="0"/>
              </a:stretch>
            </a:blipFill>
          </p:spPr>
          <p:txBody>
            <a:bodyPr/>
            <a:lstStyle/>
            <a:p/>
          </p:txBody>
        </p:sp>
      </p:grpSp>
      <p:sp>
        <p:nvSpPr>
          <p:cNvPr id="11" name="TextBox 11"/>
          <p:cNvSpPr txBox="1"/>
          <p:nvPr/>
        </p:nvSpPr>
        <p:spPr>
          <a:xfrm>
            <a:off x="915214" y="2287327"/>
            <a:ext cx="9327128" cy="7360699"/>
          </a:xfrm>
          <a:prstGeom prst="rect">
            <a:avLst/>
          </a:prstGeom>
        </p:spPr>
        <p:txBody>
          <a:bodyPr lIns="0" tIns="0" rIns="0" bIns="0" rtlCol="0" anchor="t">
            <a:spAutoFit/>
          </a:bodyPr>
          <a:lstStyle/>
          <a:p>
            <a:pPr algn="just">
              <a:lnSpc>
                <a:spcPts val="4532"/>
              </a:lnSpc>
            </a:pPr>
            <a:r>
              <a:rPr lang="en-US" sz="3237">
                <a:solidFill>
                  <a:srgbClr val="FFFFFF"/>
                </a:solidFill>
                <a:latin typeface="Inter"/>
                <a:ea typeface="Inter"/>
                <a:cs typeface="Inter"/>
                <a:sym typeface="Inter"/>
              </a:rPr>
              <a:t>Dataset yang digunakan mencakup harga saham BBCA dari tahun 2012 hingga Mei 2025. Sumber data diperoleh dari Investing.com. Atribut yang digunakan meliputi: harga pembukaan, penutupan, tertinggi, terendah, volume perdagangan, dan persentase perubahan. Dilakukan EDA untuk mengidentifikasi tren jangka panjang, pola musiman, dan anomali seperti dampak pandemi COVID-19. Proses ini juga menyertakan dekomposisi data menjadi komponen tren, musiman, dan residual.</a:t>
            </a:r>
          </a:p>
          <a:p>
            <a:pPr algn="just">
              <a:lnSpc>
                <a:spcPts val="4101"/>
              </a:lnSpc>
            </a:pPr>
            <a:endParaRPr lang="en-US" sz="3237">
              <a:solidFill>
                <a:srgbClr val="FFFFFF"/>
              </a:solidFill>
              <a:latin typeface="Inter"/>
              <a:ea typeface="Inter"/>
              <a:cs typeface="Inter"/>
              <a:sym typeface="Inter"/>
            </a:endParaRPr>
          </a:p>
        </p:txBody>
      </p:sp>
    </p:spTree>
  </p:cSld>
  <p:clrMapOvr>
    <a:masterClrMapping/>
  </p:clrMapOvr>
  <p:transition/>
  <p:timing/>
</p:sld>
</file>

<file path=ppt/slides/slide3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p:txBody>
      </p:sp>
      <p:sp>
        <p:nvSpPr>
          <p:cNvPr id="5" name="Freeform 5"/>
          <p:cNvSpPr/>
          <p:nvPr/>
        </p:nvSpPr>
        <p:spPr>
          <a:xfrm rot="5400000" flipH="1" flipV="1">
            <a:off x="16617708" y="8587367"/>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5">
              <a:extLst>
                <a:ext uri="{96DAC541-7B7A-43D3-8B79-37D633B846F1}">
                  <asvg:svgBlip xmlns:asvg="http://schemas.microsoft.com/office/drawing/2016/SVG/main" r:embed="rId7"/>
                </a:ext>
              </a:extLst>
            </a:blip>
            <a:stretch>
              <a:fillRect/>
            </a:stretch>
          </a:blipFill>
        </p:spPr>
        <p:txBody>
          <a:bodyPr/>
          <a:lstStyle/>
          <a:p/>
        </p:txBody>
      </p:sp>
      <p:grpSp>
        <p:nvGrpSpPr>
          <p:cNvPr id="6" name="Group 6"/>
          <p:cNvGrpSpPr/>
          <p:nvPr/>
        </p:nvGrpSpPr>
        <p:grpSpPr>
          <a:xfrm>
            <a:off x="1028700" y="2427272"/>
            <a:ext cx="16230600" cy="2911015"/>
            <a:chExt cx="4274726" cy="766687"/>
          </a:xfrm>
        </p:grpSpPr>
        <p:sp>
          <p:nvSpPr>
            <p:cNvPr id="7" name="Freeform 7"/>
            <p:cNvSpPr/>
            <p:nvPr/>
          </p:nvSpPr>
          <p:spPr>
            <a:xfrm>
              <a:off x="0" y="0"/>
              <a:ext cx="4274726" cy="766687"/>
            </a:xfrm>
            <a:custGeom>
              <a:rect l="l" t="t" r="r" b="b"/>
              <a:pathLst>
                <a:path w="4274726" h="766687">
                  <a:moveTo>
                    <a:pt x="24327" y="0"/>
                  </a:moveTo>
                  <a:lnTo>
                    <a:pt x="4250399" y="0"/>
                  </a:lnTo>
                  <a:cubicBezTo>
                    <a:pt x="4263834" y="0"/>
                    <a:pt x="4274726" y="10891"/>
                    <a:pt x="4274726" y="24327"/>
                  </a:cubicBezTo>
                  <a:lnTo>
                    <a:pt x="4274726" y="742360"/>
                  </a:lnTo>
                  <a:cubicBezTo>
                    <a:pt x="4274726" y="748812"/>
                    <a:pt x="4272163" y="755000"/>
                    <a:pt x="4267601" y="759562"/>
                  </a:cubicBezTo>
                  <a:cubicBezTo>
                    <a:pt x="4263039" y="764124"/>
                    <a:pt x="4256851" y="766687"/>
                    <a:pt x="4250399" y="766687"/>
                  </a:cubicBezTo>
                  <a:lnTo>
                    <a:pt x="24327" y="766687"/>
                  </a:lnTo>
                  <a:cubicBezTo>
                    <a:pt x="10891" y="766687"/>
                    <a:pt x="0" y="755796"/>
                    <a:pt x="0" y="742360"/>
                  </a:cubicBezTo>
                  <a:lnTo>
                    <a:pt x="0" y="24327"/>
                  </a:lnTo>
                  <a:cubicBezTo>
                    <a:pt x="0" y="10891"/>
                    <a:pt x="10891" y="0"/>
                    <a:pt x="24327" y="0"/>
                  </a:cubicBezTo>
                  <a:close/>
                </a:path>
              </a:pathLst>
            </a:custGeom>
            <a:solidFill>
              <a:srgbClr val="FFFFFF"/>
            </a:solidFill>
          </p:spPr>
          <p:txBody>
            <a:bodyPr/>
            <a:lstStyle/>
            <a:p/>
          </p:txBody>
        </p:sp>
        <p:sp>
          <p:nvSpPr>
            <p:cNvPr id="8" name="TextBox 8"/>
            <p:cNvSpPr txBox="1"/>
            <p:nvPr/>
          </p:nvSpPr>
          <p:spPr>
            <a:xfrm>
              <a:off x="0" y="-85725"/>
              <a:ext cx="4274726" cy="852412"/>
            </a:xfrm>
            <a:prstGeom prst="rect">
              <a:avLst/>
            </a:prstGeom>
          </p:spPr>
          <p:txBody>
            <a:bodyPr lIns="50800" tIns="50800" rIns="50800" bIns="50800" rtlCol="0" anchor="ctr"/>
            <a:lstStyle/>
            <a:p>
              <a:pPr algn="ctr">
                <a:lnSpc>
                  <a:spcPts val="2679"/>
                </a:lnSpc>
              </a:pPr>
            </a:p>
          </p:txBody>
        </p:sp>
      </p:grpSp>
      <p:sp>
        <p:nvSpPr>
          <p:cNvPr id="9" name="TextBox 9"/>
          <p:cNvSpPr txBox="1"/>
          <p:nvPr/>
        </p:nvSpPr>
        <p:spPr>
          <a:xfrm>
            <a:off x="3426208" y="648812"/>
            <a:ext cx="11435584" cy="91948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Metodologi Penelitian</a:t>
            </a:r>
          </a:p>
        </p:txBody>
      </p:sp>
      <p:sp>
        <p:nvSpPr>
          <p:cNvPr id="10" name="TextBox 10"/>
          <p:cNvSpPr txBox="1"/>
          <p:nvPr/>
        </p:nvSpPr>
        <p:spPr>
          <a:xfrm>
            <a:off x="5380739" y="1592247"/>
            <a:ext cx="7473592" cy="835025"/>
          </a:xfrm>
          <a:prstGeom prst="rect">
            <a:avLst/>
          </a:prstGeom>
        </p:spPr>
        <p:txBody>
          <a:bodyPr lIns="0" tIns="0" rIns="0" bIns="0" rtlCol="0" anchor="t">
            <a:spAutoFit/>
          </a:bodyPr>
          <a:lstStyle/>
          <a:p>
            <a:pPr algn="ctr">
              <a:lnSpc>
                <a:spcPts val="5350"/>
              </a:lnSpc>
            </a:pPr>
            <a:r>
              <a:rPr lang="en-US" sz="5000" b="1">
                <a:solidFill>
                  <a:srgbClr val="E85041"/>
                </a:solidFill>
                <a:latin typeface="Agrandir Bold"/>
                <a:ea typeface="Agrandir Bold"/>
                <a:cs typeface="Agrandir Bold"/>
                <a:sym typeface="Agrandir Bold"/>
              </a:rPr>
              <a:t>(CRISP-DM)</a:t>
            </a:r>
          </a:p>
        </p:txBody>
      </p:sp>
      <p:sp>
        <p:nvSpPr>
          <p:cNvPr id="11" name="TextBox 11"/>
          <p:cNvSpPr txBox="1"/>
          <p:nvPr/>
        </p:nvSpPr>
        <p:spPr>
          <a:xfrm>
            <a:off x="1265000" y="2436797"/>
            <a:ext cx="6443644" cy="718535"/>
          </a:xfrm>
          <a:prstGeom prst="rect">
            <a:avLst/>
          </a:prstGeom>
        </p:spPr>
        <p:txBody>
          <a:bodyPr lIns="0" tIns="0" rIns="0" bIns="0" rtlCol="0" anchor="t">
            <a:spAutoFit/>
          </a:bodyPr>
          <a:lstStyle/>
          <a:p>
            <a:pPr algn="l">
              <a:lnSpc>
                <a:spcPts val="5094"/>
              </a:lnSpc>
            </a:pPr>
            <a:r>
              <a:rPr lang="en-US" sz="3801" b="1">
                <a:solidFill>
                  <a:srgbClr val="E85041"/>
                </a:solidFill>
                <a:latin typeface="Agrandir Bold"/>
                <a:ea typeface="Agrandir Bold"/>
                <a:cs typeface="Agrandir Bold"/>
                <a:sym typeface="Agrandir Bold"/>
              </a:rPr>
              <a:t>Data Preparation </a:t>
            </a:r>
          </a:p>
        </p:txBody>
      </p:sp>
      <p:sp>
        <p:nvSpPr>
          <p:cNvPr id="12" name="TextBox 12"/>
          <p:cNvSpPr txBox="1"/>
          <p:nvPr/>
        </p:nvSpPr>
        <p:spPr>
          <a:xfrm>
            <a:off x="12282440" y="5439142"/>
            <a:ext cx="6443644" cy="718535"/>
          </a:xfrm>
          <a:prstGeom prst="rect">
            <a:avLst/>
          </a:prstGeom>
        </p:spPr>
        <p:txBody>
          <a:bodyPr lIns="0" tIns="0" rIns="0" bIns="0" rtlCol="0" anchor="t">
            <a:spAutoFit/>
          </a:bodyPr>
          <a:lstStyle/>
          <a:p>
            <a:pPr algn="l">
              <a:lnSpc>
                <a:spcPts val="5094"/>
              </a:lnSpc>
            </a:pPr>
            <a:r>
              <a:rPr lang="en-US" sz="3801" b="1">
                <a:solidFill>
                  <a:srgbClr val="E85041"/>
                </a:solidFill>
                <a:latin typeface="Agrandir Bold"/>
                <a:ea typeface="Agrandir Bold"/>
                <a:cs typeface="Agrandir Bold"/>
                <a:sym typeface="Agrandir Bold"/>
              </a:rPr>
              <a:t>Modeling</a:t>
            </a:r>
          </a:p>
        </p:txBody>
      </p:sp>
      <p:sp>
        <p:nvSpPr>
          <p:cNvPr id="13" name="TextBox 13"/>
          <p:cNvSpPr txBox="1"/>
          <p:nvPr/>
        </p:nvSpPr>
        <p:spPr>
          <a:xfrm>
            <a:off x="12282440" y="8473134"/>
            <a:ext cx="6443644" cy="718535"/>
          </a:xfrm>
          <a:prstGeom prst="rect">
            <a:avLst/>
          </a:prstGeom>
        </p:spPr>
        <p:txBody>
          <a:bodyPr lIns="0" tIns="0" rIns="0" bIns="0" rtlCol="0" anchor="t">
            <a:spAutoFit/>
          </a:bodyPr>
          <a:lstStyle/>
          <a:p>
            <a:pPr algn="l">
              <a:lnSpc>
                <a:spcPts val="5094"/>
              </a:lnSpc>
            </a:pPr>
            <a:r>
              <a:rPr lang="en-US" sz="3801" b="1">
                <a:solidFill>
                  <a:srgbClr val="E85041"/>
                </a:solidFill>
                <a:latin typeface="Agrandir Bold"/>
                <a:ea typeface="Agrandir Bold"/>
                <a:cs typeface="Agrandir Bold"/>
                <a:sym typeface="Agrandir Bold"/>
              </a:rPr>
              <a:t>Deployment</a:t>
            </a:r>
          </a:p>
        </p:txBody>
      </p:sp>
      <p:grpSp>
        <p:nvGrpSpPr>
          <p:cNvPr id="14" name="Group 14"/>
          <p:cNvGrpSpPr/>
          <p:nvPr/>
        </p:nvGrpSpPr>
        <p:grpSpPr>
          <a:xfrm>
            <a:off x="1028700" y="5500213"/>
            <a:ext cx="14729985" cy="1413499"/>
            <a:chExt cx="3879502" cy="372280"/>
          </a:xfrm>
        </p:grpSpPr>
        <p:sp>
          <p:nvSpPr>
            <p:cNvPr id="15" name="Freeform 15"/>
            <p:cNvSpPr/>
            <p:nvPr/>
          </p:nvSpPr>
          <p:spPr>
            <a:xfrm>
              <a:off x="0" y="0"/>
              <a:ext cx="3879502" cy="372280"/>
            </a:xfrm>
            <a:custGeom>
              <a:rect l="l" t="t" r="r" b="b"/>
              <a:pathLst>
                <a:path w="3879502" h="372280">
                  <a:moveTo>
                    <a:pt x="26805" y="0"/>
                  </a:moveTo>
                  <a:lnTo>
                    <a:pt x="3852697" y="0"/>
                  </a:lnTo>
                  <a:cubicBezTo>
                    <a:pt x="3867501" y="0"/>
                    <a:pt x="3879502" y="12001"/>
                    <a:pt x="3879502" y="26805"/>
                  </a:cubicBezTo>
                  <a:lnTo>
                    <a:pt x="3879502" y="345475"/>
                  </a:lnTo>
                  <a:cubicBezTo>
                    <a:pt x="3879502" y="352584"/>
                    <a:pt x="3876678" y="359402"/>
                    <a:pt x="3871651" y="364429"/>
                  </a:cubicBezTo>
                  <a:cubicBezTo>
                    <a:pt x="3866624" y="369456"/>
                    <a:pt x="3859806" y="372280"/>
                    <a:pt x="3852697" y="372280"/>
                  </a:cubicBezTo>
                  <a:lnTo>
                    <a:pt x="26805" y="372280"/>
                  </a:lnTo>
                  <a:cubicBezTo>
                    <a:pt x="19696" y="372280"/>
                    <a:pt x="12878" y="369456"/>
                    <a:pt x="7851" y="364429"/>
                  </a:cubicBezTo>
                  <a:cubicBezTo>
                    <a:pt x="2824" y="359402"/>
                    <a:pt x="0" y="352584"/>
                    <a:pt x="0" y="345475"/>
                  </a:cubicBezTo>
                  <a:lnTo>
                    <a:pt x="0" y="26805"/>
                  </a:lnTo>
                  <a:cubicBezTo>
                    <a:pt x="0" y="19696"/>
                    <a:pt x="2824" y="12878"/>
                    <a:pt x="7851" y="7851"/>
                  </a:cubicBezTo>
                  <a:cubicBezTo>
                    <a:pt x="12878" y="2824"/>
                    <a:pt x="19696" y="0"/>
                    <a:pt x="26805" y="0"/>
                  </a:cubicBezTo>
                  <a:close/>
                </a:path>
              </a:pathLst>
            </a:custGeom>
            <a:solidFill>
              <a:srgbClr val="FFFFFF"/>
            </a:solidFill>
          </p:spPr>
          <p:txBody>
            <a:bodyPr/>
            <a:lstStyle/>
            <a:p/>
          </p:txBody>
        </p:sp>
        <p:sp>
          <p:nvSpPr>
            <p:cNvPr id="16" name="TextBox 16"/>
            <p:cNvSpPr txBox="1"/>
            <p:nvPr/>
          </p:nvSpPr>
          <p:spPr>
            <a:xfrm>
              <a:off x="0" y="-85725"/>
              <a:ext cx="3879502" cy="458005"/>
            </a:xfrm>
            <a:prstGeom prst="rect">
              <a:avLst/>
            </a:prstGeom>
          </p:spPr>
          <p:txBody>
            <a:bodyPr lIns="50800" tIns="50800" rIns="50800" bIns="50800" rtlCol="0" anchor="ctr"/>
            <a:lstStyle/>
            <a:p>
              <a:pPr algn="ctr">
                <a:lnSpc>
                  <a:spcPts val="2679"/>
                </a:lnSpc>
              </a:pPr>
            </a:p>
          </p:txBody>
        </p:sp>
      </p:grpSp>
      <p:sp>
        <p:nvSpPr>
          <p:cNvPr id="17" name="TextBox 17"/>
          <p:cNvSpPr txBox="1"/>
          <p:nvPr/>
        </p:nvSpPr>
        <p:spPr>
          <a:xfrm>
            <a:off x="1303941" y="5771495"/>
            <a:ext cx="6443644" cy="718535"/>
          </a:xfrm>
          <a:prstGeom prst="rect">
            <a:avLst/>
          </a:prstGeom>
        </p:spPr>
        <p:txBody>
          <a:bodyPr lIns="0" tIns="0" rIns="0" bIns="0" rtlCol="0" anchor="t">
            <a:spAutoFit/>
          </a:bodyPr>
          <a:lstStyle/>
          <a:p>
            <a:pPr algn="l">
              <a:lnSpc>
                <a:spcPts val="5094"/>
              </a:lnSpc>
            </a:pPr>
            <a:r>
              <a:rPr lang="en-US" sz="3801" b="1">
                <a:solidFill>
                  <a:srgbClr val="E85041"/>
                </a:solidFill>
                <a:latin typeface="Agrandir Bold"/>
                <a:ea typeface="Agrandir Bold"/>
                <a:cs typeface="Agrandir Bold"/>
                <a:sym typeface="Agrandir Bold"/>
              </a:rPr>
              <a:t>Modelling</a:t>
            </a:r>
          </a:p>
        </p:txBody>
      </p:sp>
      <p:sp>
        <p:nvSpPr>
          <p:cNvPr id="18" name="TextBox 18"/>
          <p:cNvSpPr txBox="1"/>
          <p:nvPr/>
        </p:nvSpPr>
        <p:spPr>
          <a:xfrm>
            <a:off x="4046059" y="5474559"/>
            <a:ext cx="11809652" cy="1315328"/>
          </a:xfrm>
          <a:prstGeom prst="rect">
            <a:avLst/>
          </a:prstGeom>
        </p:spPr>
        <p:txBody>
          <a:bodyPr lIns="0" tIns="0" rIns="0" bIns="0" rtlCol="0" anchor="t">
            <a:spAutoFit/>
          </a:bodyPr>
          <a:lstStyle/>
          <a:p>
            <a:pPr algn="l">
              <a:lnSpc>
                <a:spcPts val="4816"/>
              </a:lnSpc>
            </a:pPr>
            <a:r>
              <a:rPr lang="en-US" sz="3594">
                <a:solidFill>
                  <a:srgbClr val="000000"/>
                </a:solidFill>
                <a:latin typeface="Agrandir"/>
                <a:ea typeface="Agrandir"/>
                <a:cs typeface="Agrandir"/>
                <a:sym typeface="Agrandir"/>
              </a:rPr>
              <a:t>Menerapkan metode peramalan seperti SARIMA, SES, Holt, dan XGBoost.</a:t>
            </a:r>
          </a:p>
        </p:txBody>
      </p:sp>
      <p:sp>
        <p:nvSpPr>
          <p:cNvPr id="19" name="TextBox 19"/>
          <p:cNvSpPr txBox="1"/>
          <p:nvPr/>
        </p:nvSpPr>
        <p:spPr>
          <a:xfrm>
            <a:off x="1284891" y="3028820"/>
            <a:ext cx="15512887" cy="2220368"/>
          </a:xfrm>
          <a:prstGeom prst="rect">
            <a:avLst/>
          </a:prstGeom>
        </p:spPr>
        <p:txBody>
          <a:bodyPr lIns="0" tIns="0" rIns="0" bIns="0" rtlCol="0" anchor="t">
            <a:spAutoFit/>
          </a:bodyPr>
          <a:lstStyle/>
          <a:p>
            <a:pPr algn="l">
              <a:lnSpc>
                <a:spcPts val="4228"/>
              </a:lnSpc>
            </a:pPr>
            <a:r>
              <a:rPr lang="en-US" sz="3155">
                <a:solidFill>
                  <a:srgbClr val="000000"/>
                </a:solidFill>
                <a:latin typeface="Agrandir"/>
                <a:ea typeface="Agrandir"/>
                <a:cs typeface="Agrandir"/>
                <a:sym typeface="Agrandir"/>
              </a:rPr>
              <a:t>Melakukan pembersihan (Memeriksa kolom-kolom penting seperti harga saham dan volume perdagangan), Pembagian data (tujuan pelatihan dan pengujian), dan normalisasi data(penting karena banyak model pembelajaran mesin sensitif terhadap sakala data).</a:t>
            </a:r>
          </a:p>
        </p:txBody>
      </p:sp>
      <p:grpSp>
        <p:nvGrpSpPr>
          <p:cNvPr id="20" name="Group 20"/>
          <p:cNvGrpSpPr/>
          <p:nvPr/>
        </p:nvGrpSpPr>
        <p:grpSpPr>
          <a:xfrm>
            <a:off x="1028700" y="7075637"/>
            <a:ext cx="14729985" cy="1264148"/>
            <a:chExt cx="3879502" cy="332944"/>
          </a:xfrm>
        </p:grpSpPr>
        <p:sp>
          <p:nvSpPr>
            <p:cNvPr id="21" name="Freeform 21"/>
            <p:cNvSpPr/>
            <p:nvPr/>
          </p:nvSpPr>
          <p:spPr>
            <a:xfrm>
              <a:off x="0" y="0"/>
              <a:ext cx="3879502" cy="332944"/>
            </a:xfrm>
            <a:custGeom>
              <a:rect l="l" t="t" r="r" b="b"/>
              <a:pathLst>
                <a:path w="3879502" h="332944">
                  <a:moveTo>
                    <a:pt x="26805" y="0"/>
                  </a:moveTo>
                  <a:lnTo>
                    <a:pt x="3852697" y="0"/>
                  </a:lnTo>
                  <a:cubicBezTo>
                    <a:pt x="3867501" y="0"/>
                    <a:pt x="3879502" y="12001"/>
                    <a:pt x="3879502" y="26805"/>
                  </a:cubicBezTo>
                  <a:lnTo>
                    <a:pt x="3879502" y="306139"/>
                  </a:lnTo>
                  <a:cubicBezTo>
                    <a:pt x="3879502" y="313248"/>
                    <a:pt x="3876678" y="320066"/>
                    <a:pt x="3871651" y="325093"/>
                  </a:cubicBezTo>
                  <a:cubicBezTo>
                    <a:pt x="3866624" y="330120"/>
                    <a:pt x="3859806" y="332944"/>
                    <a:pt x="3852697" y="332944"/>
                  </a:cubicBezTo>
                  <a:lnTo>
                    <a:pt x="26805" y="332944"/>
                  </a:lnTo>
                  <a:cubicBezTo>
                    <a:pt x="19696" y="332944"/>
                    <a:pt x="12878" y="330120"/>
                    <a:pt x="7851" y="325093"/>
                  </a:cubicBezTo>
                  <a:cubicBezTo>
                    <a:pt x="2824" y="320066"/>
                    <a:pt x="0" y="313248"/>
                    <a:pt x="0" y="306139"/>
                  </a:cubicBezTo>
                  <a:lnTo>
                    <a:pt x="0" y="26805"/>
                  </a:lnTo>
                  <a:cubicBezTo>
                    <a:pt x="0" y="19696"/>
                    <a:pt x="2824" y="12878"/>
                    <a:pt x="7851" y="7851"/>
                  </a:cubicBezTo>
                  <a:cubicBezTo>
                    <a:pt x="12878" y="2824"/>
                    <a:pt x="19696" y="0"/>
                    <a:pt x="26805" y="0"/>
                  </a:cubicBezTo>
                  <a:close/>
                </a:path>
              </a:pathLst>
            </a:custGeom>
            <a:solidFill>
              <a:srgbClr val="FFFFFF"/>
            </a:solidFill>
          </p:spPr>
          <p:txBody>
            <a:bodyPr/>
            <a:lstStyle/>
            <a:p/>
          </p:txBody>
        </p:sp>
        <p:sp>
          <p:nvSpPr>
            <p:cNvPr id="22" name="TextBox 22"/>
            <p:cNvSpPr txBox="1"/>
            <p:nvPr/>
          </p:nvSpPr>
          <p:spPr>
            <a:xfrm>
              <a:off x="0" y="-85725"/>
              <a:ext cx="3879502" cy="418669"/>
            </a:xfrm>
            <a:prstGeom prst="rect">
              <a:avLst/>
            </a:prstGeom>
          </p:spPr>
          <p:txBody>
            <a:bodyPr lIns="50800" tIns="50800" rIns="50800" bIns="50800" rtlCol="0" anchor="ctr"/>
            <a:lstStyle/>
            <a:p>
              <a:pPr algn="ctr">
                <a:lnSpc>
                  <a:spcPts val="2679"/>
                </a:lnSpc>
              </a:pPr>
            </a:p>
          </p:txBody>
        </p:sp>
      </p:grpSp>
      <p:sp>
        <p:nvSpPr>
          <p:cNvPr id="23" name="TextBox 23"/>
          <p:cNvSpPr txBox="1"/>
          <p:nvPr/>
        </p:nvSpPr>
        <p:spPr>
          <a:xfrm>
            <a:off x="1284891" y="7300819"/>
            <a:ext cx="6443644" cy="718535"/>
          </a:xfrm>
          <a:prstGeom prst="rect">
            <a:avLst/>
          </a:prstGeom>
        </p:spPr>
        <p:txBody>
          <a:bodyPr lIns="0" tIns="0" rIns="0" bIns="0" rtlCol="0" anchor="t">
            <a:spAutoFit/>
          </a:bodyPr>
          <a:lstStyle/>
          <a:p>
            <a:pPr algn="l">
              <a:lnSpc>
                <a:spcPts val="5094"/>
              </a:lnSpc>
            </a:pPr>
            <a:r>
              <a:rPr lang="en-US" sz="3801" b="1">
                <a:solidFill>
                  <a:srgbClr val="E85041"/>
                </a:solidFill>
                <a:latin typeface="Agrandir Bold"/>
                <a:ea typeface="Agrandir Bold"/>
                <a:cs typeface="Agrandir Bold"/>
                <a:sym typeface="Agrandir Bold"/>
              </a:rPr>
              <a:t>Evaluation </a:t>
            </a:r>
          </a:p>
        </p:txBody>
      </p:sp>
      <p:sp>
        <p:nvSpPr>
          <p:cNvPr id="24" name="TextBox 24"/>
          <p:cNvSpPr txBox="1"/>
          <p:nvPr/>
        </p:nvSpPr>
        <p:spPr>
          <a:xfrm>
            <a:off x="4046059" y="6997659"/>
            <a:ext cx="11809652" cy="1315328"/>
          </a:xfrm>
          <a:prstGeom prst="rect">
            <a:avLst/>
          </a:prstGeom>
        </p:spPr>
        <p:txBody>
          <a:bodyPr lIns="0" tIns="0" rIns="0" bIns="0" rtlCol="0" anchor="t">
            <a:spAutoFit/>
          </a:bodyPr>
          <a:lstStyle/>
          <a:p>
            <a:pPr algn="l">
              <a:lnSpc>
                <a:spcPts val="4816"/>
              </a:lnSpc>
            </a:pPr>
            <a:r>
              <a:rPr lang="en-US" sz="3594">
                <a:solidFill>
                  <a:srgbClr val="000000"/>
                </a:solidFill>
                <a:latin typeface="Agrandir"/>
                <a:ea typeface="Agrandir"/>
                <a:cs typeface="Agrandir"/>
                <a:sym typeface="Agrandir"/>
              </a:rPr>
              <a:t>Mengevaluasi performa model menggunakan metrik akurasi seperti MAE, RMSE, dan MAPE.</a:t>
            </a:r>
          </a:p>
        </p:txBody>
      </p:sp>
      <p:grpSp>
        <p:nvGrpSpPr>
          <p:cNvPr id="25" name="Group 25"/>
          <p:cNvGrpSpPr/>
          <p:nvPr/>
        </p:nvGrpSpPr>
        <p:grpSpPr>
          <a:xfrm>
            <a:off x="1028700" y="8501710"/>
            <a:ext cx="14729985" cy="1416548"/>
            <a:chExt cx="3879502" cy="373082"/>
          </a:xfrm>
        </p:grpSpPr>
        <p:sp>
          <p:nvSpPr>
            <p:cNvPr id="26" name="Freeform 26"/>
            <p:cNvSpPr/>
            <p:nvPr/>
          </p:nvSpPr>
          <p:spPr>
            <a:xfrm>
              <a:off x="0" y="0"/>
              <a:ext cx="3879502" cy="373082"/>
            </a:xfrm>
            <a:custGeom>
              <a:rect l="l" t="t" r="r" b="b"/>
              <a:pathLst>
                <a:path w="3879502" h="373082">
                  <a:moveTo>
                    <a:pt x="26805" y="0"/>
                  </a:moveTo>
                  <a:lnTo>
                    <a:pt x="3852697" y="0"/>
                  </a:lnTo>
                  <a:cubicBezTo>
                    <a:pt x="3867501" y="0"/>
                    <a:pt x="3879502" y="12001"/>
                    <a:pt x="3879502" y="26805"/>
                  </a:cubicBezTo>
                  <a:lnTo>
                    <a:pt x="3879502" y="346277"/>
                  </a:lnTo>
                  <a:cubicBezTo>
                    <a:pt x="3879502" y="353387"/>
                    <a:pt x="3876678" y="360205"/>
                    <a:pt x="3871651" y="365231"/>
                  </a:cubicBezTo>
                  <a:cubicBezTo>
                    <a:pt x="3866624" y="370258"/>
                    <a:pt x="3859806" y="373082"/>
                    <a:pt x="3852697" y="373082"/>
                  </a:cubicBezTo>
                  <a:lnTo>
                    <a:pt x="26805" y="373082"/>
                  </a:lnTo>
                  <a:cubicBezTo>
                    <a:pt x="19696" y="373082"/>
                    <a:pt x="12878" y="370258"/>
                    <a:pt x="7851" y="365231"/>
                  </a:cubicBezTo>
                  <a:cubicBezTo>
                    <a:pt x="2824" y="360205"/>
                    <a:pt x="0" y="353387"/>
                    <a:pt x="0" y="346277"/>
                  </a:cubicBezTo>
                  <a:lnTo>
                    <a:pt x="0" y="26805"/>
                  </a:lnTo>
                  <a:cubicBezTo>
                    <a:pt x="0" y="19696"/>
                    <a:pt x="2824" y="12878"/>
                    <a:pt x="7851" y="7851"/>
                  </a:cubicBezTo>
                  <a:cubicBezTo>
                    <a:pt x="12878" y="2824"/>
                    <a:pt x="19696" y="0"/>
                    <a:pt x="26805" y="0"/>
                  </a:cubicBezTo>
                  <a:close/>
                </a:path>
              </a:pathLst>
            </a:custGeom>
            <a:solidFill>
              <a:srgbClr val="FFFFFF"/>
            </a:solidFill>
          </p:spPr>
          <p:txBody>
            <a:bodyPr/>
            <a:lstStyle/>
            <a:p/>
          </p:txBody>
        </p:sp>
        <p:sp>
          <p:nvSpPr>
            <p:cNvPr id="27" name="TextBox 27"/>
            <p:cNvSpPr txBox="1"/>
            <p:nvPr/>
          </p:nvSpPr>
          <p:spPr>
            <a:xfrm>
              <a:off x="0" y="-85725"/>
              <a:ext cx="3879502" cy="458807"/>
            </a:xfrm>
            <a:prstGeom prst="rect">
              <a:avLst/>
            </a:prstGeom>
          </p:spPr>
          <p:txBody>
            <a:bodyPr lIns="50800" tIns="50800" rIns="50800" bIns="50800" rtlCol="0" anchor="ctr"/>
            <a:lstStyle/>
            <a:p>
              <a:pPr algn="ctr">
                <a:lnSpc>
                  <a:spcPts val="2679"/>
                </a:lnSpc>
              </a:pPr>
            </a:p>
          </p:txBody>
        </p:sp>
      </p:grpSp>
      <p:sp>
        <p:nvSpPr>
          <p:cNvPr id="28" name="TextBox 28"/>
          <p:cNvSpPr txBox="1"/>
          <p:nvPr/>
        </p:nvSpPr>
        <p:spPr>
          <a:xfrm>
            <a:off x="4621013" y="8473135"/>
            <a:ext cx="15525600" cy="1923984"/>
          </a:xfrm>
          <a:prstGeom prst="rect">
            <a:avLst/>
          </a:prstGeom>
        </p:spPr>
        <p:txBody>
          <a:bodyPr lIns="0" tIns="0" rIns="0" bIns="0" rtlCol="0" anchor="t">
            <a:spAutoFit/>
          </a:bodyPr>
          <a:lstStyle/>
          <a:p>
            <a:pPr algn="l">
              <a:lnSpc>
                <a:spcPts val="4816"/>
              </a:lnSpc>
            </a:pPr>
            <a:r>
              <a:rPr lang="en-US" sz="3594">
                <a:solidFill>
                  <a:srgbClr val="000000"/>
                </a:solidFill>
                <a:latin typeface="Agrandir"/>
                <a:ea typeface="Agrandir"/>
                <a:cs typeface="Agrandir"/>
                <a:sym typeface="Agrandir"/>
              </a:rPr>
              <a:t>Menentukan model terbaik yang dapat digunakan</a:t>
            </a:r>
          </a:p>
          <a:p>
            <a:pPr algn="l">
              <a:lnSpc>
                <a:spcPts val="4816"/>
              </a:lnSpc>
            </a:pPr>
            <a:r>
              <a:rPr lang="en-US" sz="3594">
                <a:solidFill>
                  <a:srgbClr val="000000"/>
                </a:solidFill>
                <a:latin typeface="Agrandir"/>
                <a:ea typeface="Agrandir"/>
                <a:cs typeface="Agrandir"/>
                <a:sym typeface="Agrandir"/>
              </a:rPr>
              <a:t>oleh investor.</a:t>
            </a:r>
          </a:p>
          <a:p>
            <a:pPr algn="l">
              <a:lnSpc>
                <a:spcPts val="4816"/>
              </a:lnSpc>
            </a:pPr>
            <a:endParaRPr lang="en-US" sz="3594">
              <a:solidFill>
                <a:srgbClr val="000000"/>
              </a:solidFill>
              <a:latin typeface="Agrandir"/>
              <a:ea typeface="Agrandir"/>
              <a:cs typeface="Agrandir"/>
              <a:sym typeface="Agrandir"/>
            </a:endParaRPr>
          </a:p>
        </p:txBody>
      </p:sp>
      <p:sp>
        <p:nvSpPr>
          <p:cNvPr id="29" name="TextBox 29"/>
          <p:cNvSpPr txBox="1"/>
          <p:nvPr/>
        </p:nvSpPr>
        <p:spPr>
          <a:xfrm>
            <a:off x="1284891" y="8699988"/>
            <a:ext cx="6443644" cy="718535"/>
          </a:xfrm>
          <a:prstGeom prst="rect">
            <a:avLst/>
          </a:prstGeom>
        </p:spPr>
        <p:txBody>
          <a:bodyPr lIns="0" tIns="0" rIns="0" bIns="0" rtlCol="0" anchor="t">
            <a:spAutoFit/>
          </a:bodyPr>
          <a:lstStyle/>
          <a:p>
            <a:pPr algn="l">
              <a:lnSpc>
                <a:spcPts val="5094"/>
              </a:lnSpc>
            </a:pPr>
            <a:r>
              <a:rPr lang="en-US" sz="3801" b="1">
                <a:solidFill>
                  <a:srgbClr val="E85041"/>
                </a:solidFill>
                <a:latin typeface="Agrandir Bold"/>
                <a:ea typeface="Agrandir Bold"/>
                <a:cs typeface="Agrandir Bold"/>
                <a:sym typeface="Agrandir Bold"/>
              </a:rPr>
              <a:t>Deployment </a:t>
            </a:r>
          </a:p>
        </p:txBody>
      </p:sp>
    </p:spTree>
  </p:cSld>
  <p:clrMapOvr>
    <a:masterClrMapping/>
  </p:clrMapOvr>
  <p:transition/>
  <p:timing/>
</p:sld>
</file>

<file path=ppt/slides/slide3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p:txBody>
      </p:sp>
      <p:grpSp>
        <p:nvGrpSpPr>
          <p:cNvPr id="4" name="Group 4"/>
          <p:cNvGrpSpPr/>
          <p:nvPr/>
        </p:nvGrpSpPr>
        <p:grpSpPr>
          <a:xfrm>
            <a:off x="1028700" y="2774118"/>
            <a:ext cx="16230600" cy="5643787"/>
            <a:chExt cx="4274726" cy="1486430"/>
          </a:xfrm>
        </p:grpSpPr>
        <p:sp>
          <p:nvSpPr>
            <p:cNvPr id="5" name="Freeform 5"/>
            <p:cNvSpPr/>
            <p:nvPr/>
          </p:nvSpPr>
          <p:spPr>
            <a:xfrm>
              <a:off x="0" y="0"/>
              <a:ext cx="4274726" cy="1486430"/>
            </a:xfrm>
            <a:custGeom>
              <a:rect l="l" t="t" r="r" b="b"/>
              <a:pathLst>
                <a:path w="4274726" h="1486430">
                  <a:moveTo>
                    <a:pt x="24327" y="0"/>
                  </a:moveTo>
                  <a:lnTo>
                    <a:pt x="4250399" y="0"/>
                  </a:lnTo>
                  <a:cubicBezTo>
                    <a:pt x="4263834" y="0"/>
                    <a:pt x="4274726" y="10891"/>
                    <a:pt x="4274726" y="24327"/>
                  </a:cubicBezTo>
                  <a:lnTo>
                    <a:pt x="4274726" y="1462103"/>
                  </a:lnTo>
                  <a:cubicBezTo>
                    <a:pt x="4274726" y="1475538"/>
                    <a:pt x="4263834" y="1486430"/>
                    <a:pt x="4250399" y="1486430"/>
                  </a:cubicBezTo>
                  <a:lnTo>
                    <a:pt x="24327" y="1486430"/>
                  </a:lnTo>
                  <a:cubicBezTo>
                    <a:pt x="10891" y="1486430"/>
                    <a:pt x="0" y="1475538"/>
                    <a:pt x="0" y="1462103"/>
                  </a:cubicBezTo>
                  <a:lnTo>
                    <a:pt x="0" y="24327"/>
                  </a:lnTo>
                  <a:cubicBezTo>
                    <a:pt x="0" y="10891"/>
                    <a:pt x="10891" y="0"/>
                    <a:pt x="24327" y="0"/>
                  </a:cubicBezTo>
                  <a:close/>
                </a:path>
              </a:pathLst>
            </a:custGeom>
            <a:solidFill>
              <a:srgbClr val="FFFFFF"/>
            </a:solidFill>
          </p:spPr>
          <p:txBody>
            <a:bodyPr/>
            <a:lstStyle/>
            <a:p/>
          </p:txBody>
        </p:sp>
        <p:sp>
          <p:nvSpPr>
            <p:cNvPr id="6" name="TextBox 6"/>
            <p:cNvSpPr txBox="1"/>
            <p:nvPr/>
          </p:nvSpPr>
          <p:spPr>
            <a:xfrm>
              <a:off x="0" y="-85725"/>
              <a:ext cx="4274726" cy="1572155"/>
            </a:xfrm>
            <a:prstGeom prst="rect">
              <a:avLst/>
            </a:prstGeom>
          </p:spPr>
          <p:txBody>
            <a:bodyPr lIns="50800" tIns="50800" rIns="50800" bIns="50800" rtlCol="0" anchor="ctr"/>
            <a:lstStyle/>
            <a:p>
              <a:pPr algn="ctr">
                <a:lnSpc>
                  <a:spcPts val="2679"/>
                </a:lnSpc>
              </a:pPr>
            </a:p>
          </p:txBody>
        </p:sp>
      </p:grpSp>
      <p:sp>
        <p:nvSpPr>
          <p:cNvPr id="7" name="TextBox 7"/>
          <p:cNvSpPr txBox="1"/>
          <p:nvPr/>
        </p:nvSpPr>
        <p:spPr>
          <a:xfrm>
            <a:off x="1510113" y="2631243"/>
            <a:ext cx="15222089" cy="4919444"/>
          </a:xfrm>
          <a:prstGeom prst="rect">
            <a:avLst/>
          </a:prstGeom>
        </p:spPr>
        <p:txBody>
          <a:bodyPr lIns="0" tIns="0" rIns="0" bIns="0" rtlCol="0" anchor="t">
            <a:spAutoFit/>
          </a:bodyPr>
          <a:lstStyle/>
          <a:p>
            <a:pPr algn="ctr">
              <a:lnSpc>
                <a:spcPts val="4548"/>
              </a:lnSpc>
            </a:pPr>
          </a:p>
          <a:p>
            <a:pPr algn="just">
              <a:lnSpc>
                <a:spcPts val="4816"/>
              </a:lnSpc>
            </a:pPr>
            <a:r>
              <a:rPr lang="en-US" sz="3594">
                <a:solidFill>
                  <a:srgbClr val="000000"/>
                </a:solidFill>
                <a:latin typeface="Agrandir"/>
                <a:ea typeface="Agrandir"/>
                <a:cs typeface="Agrandir"/>
                <a:sym typeface="Agrandir"/>
              </a:rPr>
              <a:t>Dari hasil analisis, model SARIMA dan XGBoost menunjukkan kinerja yang cukup baik, dengan SARIMA efektif untuk data yang menunjukkan pola musiman. Sementara itu, XGBoost dapat menangani data yang lebih kompleks dan non-linear dengan hasil prediksi yang akurat. Namun, evaluasi lebih lanjut diperlukan untuk menentukan model yang paling optimal dalam peramalan harga saham yang dapat membantu investor dalam membuat keputusan investasi yang lebih terinformasi.</a:t>
            </a:r>
          </a:p>
        </p:txBody>
      </p:sp>
      <p:sp>
        <p:nvSpPr>
          <p:cNvPr id="8" name="TextBox 8"/>
          <p:cNvSpPr txBox="1"/>
          <p:nvPr/>
        </p:nvSpPr>
        <p:spPr>
          <a:xfrm>
            <a:off x="3426208" y="942975"/>
            <a:ext cx="11435584" cy="1662430"/>
          </a:xfrm>
          <a:prstGeom prst="rect">
            <a:avLst/>
          </a:prstGeom>
        </p:spPr>
        <p:txBody>
          <a:bodyPr lIns="0" tIns="0" rIns="0" bIns="0" rtlCol="0" anchor="t">
            <a:spAutoFit/>
          </a:bodyPr>
          <a:lstStyle/>
          <a:p>
            <a:pPr algn="ctr">
              <a:lnSpc>
                <a:spcPts val="5884"/>
              </a:lnSpc>
            </a:pPr>
            <a:r>
              <a:rPr lang="en-US" sz="5499" b="1">
                <a:solidFill>
                  <a:srgbClr val="FFFFFF"/>
                </a:solidFill>
                <a:latin typeface="Agrandir Bold"/>
                <a:ea typeface="Agrandir Bold"/>
                <a:cs typeface="Agrandir Bold"/>
                <a:sym typeface="Agrandir Bold"/>
              </a:rPr>
              <a:t>Hasil dan Pembahasan</a:t>
            </a:r>
          </a:p>
          <a:p>
            <a:pPr algn="ctr">
              <a:lnSpc>
                <a:spcPts val="5884"/>
              </a:lnSpc>
            </a:pPr>
            <a:endParaRPr lang="en-US" sz="5499" b="1">
              <a:solidFill>
                <a:srgbClr val="FFFFFF"/>
              </a:solidFill>
              <a:latin typeface="Agrandir Bold"/>
              <a:ea typeface="Agrandir Bold"/>
              <a:cs typeface="Agrandir Bold"/>
              <a:sym typeface="Agrandir Bold"/>
            </a:endParaRPr>
          </a:p>
        </p:txBody>
      </p:sp>
    </p:spTree>
  </p:cSld>
  <p:clrMapOvr>
    <a:masterClrMapping/>
  </p:clrMapOvr>
  <p:transition/>
  <p:timing/>
</p:sld>
</file>

<file path=ppt/slides/slide36.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12939980" y="6484586"/>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3165293" y="-4710899"/>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4"/>
                </a:ext>
              </a:extLst>
            </a:blip>
            <a:stretch>
              <a:fillRect/>
            </a:stretch>
          </a:blipFill>
        </p:spPr>
        <p:txBody>
          <a:bodyPr/>
          <a:lstStyle/>
          <a:p/>
        </p:txBody>
      </p:sp>
      <p:grpSp>
        <p:nvGrpSpPr>
          <p:cNvPr id="4" name="Group 4"/>
          <p:cNvGrpSpPr/>
          <p:nvPr/>
        </p:nvGrpSpPr>
        <p:grpSpPr>
          <a:xfrm>
            <a:off x="6553055" y="7629228"/>
            <a:ext cx="4434873" cy="709124"/>
            <a:chExt cx="1168032" cy="186765"/>
          </a:xfrm>
        </p:grpSpPr>
        <p:sp>
          <p:nvSpPr>
            <p:cNvPr id="5" name="Freeform 5"/>
            <p:cNvSpPr/>
            <p:nvPr/>
          </p:nvSpPr>
          <p:spPr>
            <a:xfrm>
              <a:off x="0" y="0"/>
              <a:ext cx="1168032" cy="186765"/>
            </a:xfrm>
            <a:custGeom>
              <a:rect l="l" t="t" r="r" b="b"/>
              <a:pathLst>
                <a:path w="1168032" h="186765">
                  <a:moveTo>
                    <a:pt x="0" y="0"/>
                  </a:moveTo>
                  <a:lnTo>
                    <a:pt x="1168032" y="0"/>
                  </a:lnTo>
                  <a:lnTo>
                    <a:pt x="1168032" y="186765"/>
                  </a:lnTo>
                  <a:lnTo>
                    <a:pt x="0" y="186765"/>
                  </a:lnTo>
                  <a:close/>
                </a:path>
              </a:pathLst>
            </a:custGeom>
            <a:solidFill>
              <a:srgbClr val="E85041"/>
            </a:solidFill>
          </p:spPr>
          <p:txBody>
            <a:bodyPr/>
            <a:lstStyle/>
            <a:p/>
          </p:txBody>
        </p:sp>
        <p:sp>
          <p:nvSpPr>
            <p:cNvPr id="6" name="TextBox 6"/>
            <p:cNvSpPr txBox="1"/>
            <p:nvPr/>
          </p:nvSpPr>
          <p:spPr>
            <a:xfrm>
              <a:off x="0" y="-85725"/>
              <a:ext cx="1168032" cy="272490"/>
            </a:xfrm>
            <a:prstGeom prst="rect">
              <a:avLst/>
            </a:prstGeom>
          </p:spPr>
          <p:txBody>
            <a:bodyPr lIns="50800" tIns="50800" rIns="50800" bIns="50800" rtlCol="0" anchor="ctr"/>
            <a:lstStyle/>
            <a:p>
              <a:pPr algn="ctr">
                <a:lnSpc>
                  <a:spcPts val="2679"/>
                </a:lnSpc>
              </a:pPr>
            </a:p>
          </p:txBody>
        </p:sp>
      </p:grpSp>
      <p:grpSp>
        <p:nvGrpSpPr>
          <p:cNvPr id="7" name="Group 7"/>
          <p:cNvGrpSpPr/>
          <p:nvPr/>
        </p:nvGrpSpPr>
        <p:grpSpPr>
          <a:xfrm>
            <a:off x="2062853" y="2045673"/>
            <a:ext cx="14162294" cy="5507355"/>
            <a:chExt cx="954762" cy="371282"/>
          </a:xfrm>
        </p:grpSpPr>
        <p:sp>
          <p:nvSpPr>
            <p:cNvPr id="8" name="Freeform 8"/>
            <p:cNvSpPr/>
            <p:nvPr/>
          </p:nvSpPr>
          <p:spPr>
            <a:xfrm>
              <a:off x="0" y="0"/>
              <a:ext cx="954762" cy="371282"/>
            </a:xfrm>
            <a:custGeom>
              <a:rect l="l" t="t" r="r" b="b"/>
              <a:pathLst>
                <a:path w="954762" h="371282">
                  <a:moveTo>
                    <a:pt x="0" y="0"/>
                  </a:moveTo>
                  <a:lnTo>
                    <a:pt x="954762" y="0"/>
                  </a:lnTo>
                  <a:lnTo>
                    <a:pt x="954762" y="371282"/>
                  </a:lnTo>
                  <a:lnTo>
                    <a:pt x="0" y="371282"/>
                  </a:lnTo>
                  <a:close/>
                </a:path>
              </a:pathLst>
            </a:custGeom>
            <a:blipFill>
              <a:blip r:embed="rId5"/>
              <a:stretch>
                <a:fillRect l="-4388" r="-4388"/>
              </a:stretch>
            </a:blipFill>
          </p:spPr>
          <p:txBody>
            <a:bodyPr/>
            <a:lstStyle/>
            <a:p/>
          </p:txBody>
        </p:sp>
      </p:grpSp>
      <p:sp>
        <p:nvSpPr>
          <p:cNvPr id="9" name="Freeform 9"/>
          <p:cNvSpPr/>
          <p:nvPr/>
        </p:nvSpPr>
        <p:spPr>
          <a:xfrm flipH="1" flipV="1">
            <a:off x="16938941" y="1028700"/>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sp>
        <p:nvSpPr>
          <p:cNvPr id="10" name="TextBox 10"/>
          <p:cNvSpPr txBox="1"/>
          <p:nvPr/>
        </p:nvSpPr>
        <p:spPr>
          <a:xfrm>
            <a:off x="5222599" y="8428037"/>
            <a:ext cx="7471898" cy="2646536"/>
          </a:xfrm>
          <a:prstGeom prst="rect">
            <a:avLst/>
          </a:prstGeom>
        </p:spPr>
        <p:txBody>
          <a:bodyPr lIns="0" tIns="0" rIns="0" bIns="0" rtlCol="0" anchor="t">
            <a:spAutoFit/>
          </a:bodyPr>
          <a:lstStyle/>
          <a:p>
            <a:pPr algn="ctr">
              <a:lnSpc>
                <a:spcPts val="4061"/>
              </a:lnSpc>
            </a:pPr>
            <a:r>
              <a:rPr lang="en-US" sz="3030">
                <a:solidFill>
                  <a:srgbClr val="FFFFFF"/>
                </a:solidFill>
                <a:latin typeface="Agrandir"/>
                <a:ea typeface="Agrandir"/>
                <a:cs typeface="Agrandir"/>
                <a:sym typeface="Agrandir"/>
              </a:rPr>
              <a:t> Cocok untuk data musiman. Menambahkan komponen musiman ke model ARIMA.</a:t>
            </a:r>
          </a:p>
          <a:p>
            <a:pPr algn="ctr">
              <a:lnSpc>
                <a:spcPts val="4061"/>
              </a:lnSpc>
            </a:pPr>
            <a:endParaRPr lang="en-US" sz="3030">
              <a:solidFill>
                <a:srgbClr val="FFFFFF"/>
              </a:solidFill>
              <a:latin typeface="Agrandir"/>
              <a:ea typeface="Agrandir"/>
              <a:cs typeface="Agrandir"/>
              <a:sym typeface="Agrandir"/>
            </a:endParaRPr>
          </a:p>
          <a:p>
            <a:pPr algn="ctr">
              <a:lnSpc>
                <a:spcPts val="4061"/>
              </a:lnSpc>
            </a:pPr>
            <a:endParaRPr lang="en-US" sz="3030">
              <a:solidFill>
                <a:srgbClr val="FFFFFF"/>
              </a:solidFill>
              <a:latin typeface="Agrandir"/>
              <a:ea typeface="Agrandir"/>
              <a:cs typeface="Agrandir"/>
              <a:sym typeface="Agrandir"/>
            </a:endParaRPr>
          </a:p>
        </p:txBody>
      </p:sp>
      <p:sp>
        <p:nvSpPr>
          <p:cNvPr id="11" name="TextBox 11"/>
          <p:cNvSpPr txBox="1"/>
          <p:nvPr/>
        </p:nvSpPr>
        <p:spPr>
          <a:xfrm>
            <a:off x="7236047" y="6706369"/>
            <a:ext cx="3445001" cy="383540"/>
          </a:xfrm>
          <a:prstGeom prst="rect">
            <a:avLst/>
          </a:prstGeom>
        </p:spPr>
        <p:txBody>
          <a:bodyPr lIns="0" tIns="0" rIns="0" bIns="0" rtlCol="0" anchor="t">
            <a:spAutoFit/>
          </a:bodyPr>
          <a:lstStyle/>
          <a:p>
            <a:pPr algn="l">
              <a:lnSpc>
                <a:spcPts val="2679"/>
              </a:lnSpc>
            </a:pPr>
            <a:r>
              <a:rPr lang="en-US" sz="1999" b="1">
                <a:solidFill>
                  <a:srgbClr val="000000"/>
                </a:solidFill>
                <a:latin typeface="Agrandir Bold"/>
                <a:ea typeface="Agrandir Bold"/>
                <a:cs typeface="Agrandir Bold"/>
                <a:sym typeface="Agrandir Bold"/>
              </a:rPr>
              <a:t>News, events</a:t>
            </a:r>
          </a:p>
        </p:txBody>
      </p:sp>
      <p:sp>
        <p:nvSpPr>
          <p:cNvPr id="12" name="TextBox 12"/>
          <p:cNvSpPr txBox="1"/>
          <p:nvPr/>
        </p:nvSpPr>
        <p:spPr>
          <a:xfrm>
            <a:off x="4870859" y="675088"/>
            <a:ext cx="8175378" cy="835025"/>
          </a:xfrm>
          <a:prstGeom prst="rect">
            <a:avLst/>
          </a:prstGeom>
        </p:spPr>
        <p:txBody>
          <a:bodyPr lIns="0" tIns="0" rIns="0" bIns="0" rtlCol="0" anchor="t">
            <a:spAutoFit/>
          </a:bodyPr>
          <a:lstStyle/>
          <a:p>
            <a:pPr algn="ctr">
              <a:lnSpc>
                <a:spcPts val="5350"/>
              </a:lnSpc>
            </a:pPr>
            <a:r>
              <a:rPr lang="en-US" sz="5000" b="1">
                <a:solidFill>
                  <a:srgbClr val="FFFFFF"/>
                </a:solidFill>
                <a:latin typeface="Agrandir Bold"/>
                <a:ea typeface="Agrandir Bold"/>
                <a:cs typeface="Agrandir Bold"/>
                <a:sym typeface="Agrandir Bold"/>
              </a:rPr>
              <a:t>Model Yang Digunakan </a:t>
            </a:r>
          </a:p>
        </p:txBody>
      </p:sp>
      <p:sp>
        <p:nvSpPr>
          <p:cNvPr id="13" name="TextBox 13"/>
          <p:cNvSpPr txBox="1"/>
          <p:nvPr/>
        </p:nvSpPr>
        <p:spPr>
          <a:xfrm>
            <a:off x="7236047" y="7549069"/>
            <a:ext cx="3445001" cy="707518"/>
          </a:xfrm>
          <a:prstGeom prst="rect">
            <a:avLst/>
          </a:prstGeom>
        </p:spPr>
        <p:txBody>
          <a:bodyPr lIns="0" tIns="0" rIns="0" bIns="0" rtlCol="0" anchor="t">
            <a:spAutoFit/>
          </a:bodyPr>
          <a:lstStyle/>
          <a:p>
            <a:pPr algn="ctr">
              <a:lnSpc>
                <a:spcPts val="4823"/>
              </a:lnSpc>
            </a:pPr>
            <a:r>
              <a:rPr lang="en-US" sz="3599" b="1">
                <a:solidFill>
                  <a:srgbClr val="000000"/>
                </a:solidFill>
                <a:latin typeface="Agrandir Bold"/>
                <a:ea typeface="Agrandir Bold"/>
                <a:cs typeface="Agrandir Bold"/>
                <a:sym typeface="Agrandir Bold"/>
              </a:rPr>
              <a:t>SARIMA</a:t>
            </a:r>
          </a:p>
        </p:txBody>
      </p:sp>
    </p:spTree>
  </p:cSld>
  <p:clrMapOvr>
    <a:masterClrMapping/>
  </p:clrMapOvr>
  <p:transition/>
  <p:timing/>
</p:sld>
</file>

<file path=ppt/slides/slide37.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12939980" y="6484586"/>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3165293" y="-4710899"/>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4"/>
                </a:ext>
              </a:extLst>
            </a:blip>
            <a:stretch>
              <a:fillRect/>
            </a:stretch>
          </a:blipFill>
        </p:spPr>
        <p:txBody>
          <a:bodyPr/>
          <a:lstStyle/>
          <a:p/>
        </p:txBody>
      </p:sp>
      <p:grpSp>
        <p:nvGrpSpPr>
          <p:cNvPr id="4" name="Group 4"/>
          <p:cNvGrpSpPr/>
          <p:nvPr/>
        </p:nvGrpSpPr>
        <p:grpSpPr>
          <a:xfrm>
            <a:off x="7026130" y="7755879"/>
            <a:ext cx="4434873" cy="709124"/>
            <a:chExt cx="1168032" cy="186765"/>
          </a:xfrm>
        </p:grpSpPr>
        <p:sp>
          <p:nvSpPr>
            <p:cNvPr id="5" name="Freeform 5"/>
            <p:cNvSpPr/>
            <p:nvPr/>
          </p:nvSpPr>
          <p:spPr>
            <a:xfrm>
              <a:off x="0" y="0"/>
              <a:ext cx="1168032" cy="186765"/>
            </a:xfrm>
            <a:custGeom>
              <a:rect l="l" t="t" r="r" b="b"/>
              <a:pathLst>
                <a:path w="1168032" h="186765">
                  <a:moveTo>
                    <a:pt x="0" y="0"/>
                  </a:moveTo>
                  <a:lnTo>
                    <a:pt x="1168032" y="0"/>
                  </a:lnTo>
                  <a:lnTo>
                    <a:pt x="1168032" y="186765"/>
                  </a:lnTo>
                  <a:lnTo>
                    <a:pt x="0" y="186765"/>
                  </a:lnTo>
                  <a:close/>
                </a:path>
              </a:pathLst>
            </a:custGeom>
            <a:solidFill>
              <a:srgbClr val="E85041"/>
            </a:solidFill>
          </p:spPr>
          <p:txBody>
            <a:bodyPr/>
            <a:lstStyle/>
            <a:p/>
          </p:txBody>
        </p:sp>
        <p:sp>
          <p:nvSpPr>
            <p:cNvPr id="6" name="TextBox 6"/>
            <p:cNvSpPr txBox="1"/>
            <p:nvPr/>
          </p:nvSpPr>
          <p:spPr>
            <a:xfrm>
              <a:off x="0" y="-85725"/>
              <a:ext cx="1168032" cy="272490"/>
            </a:xfrm>
            <a:prstGeom prst="rect">
              <a:avLst/>
            </a:prstGeom>
          </p:spPr>
          <p:txBody>
            <a:bodyPr lIns="50800" tIns="50800" rIns="50800" bIns="50800" rtlCol="0" anchor="ctr"/>
            <a:lstStyle/>
            <a:p>
              <a:pPr algn="ctr">
                <a:lnSpc>
                  <a:spcPts val="2679"/>
                </a:lnSpc>
              </a:pPr>
            </a:p>
          </p:txBody>
        </p:sp>
      </p:grpSp>
      <p:sp>
        <p:nvSpPr>
          <p:cNvPr id="7" name="Freeform 7"/>
          <p:cNvSpPr/>
          <p:nvPr/>
        </p:nvSpPr>
        <p:spPr>
          <a:xfrm flipH="1" flipV="1">
            <a:off x="16938941" y="1028700"/>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p:txBody>
      </p:sp>
      <p:sp>
        <p:nvSpPr>
          <p:cNvPr id="8" name="TextBox 8"/>
          <p:cNvSpPr txBox="1"/>
          <p:nvPr/>
        </p:nvSpPr>
        <p:spPr>
          <a:xfrm>
            <a:off x="7236047" y="6706369"/>
            <a:ext cx="3445001" cy="383540"/>
          </a:xfrm>
          <a:prstGeom prst="rect">
            <a:avLst/>
          </a:prstGeom>
        </p:spPr>
        <p:txBody>
          <a:bodyPr lIns="0" tIns="0" rIns="0" bIns="0" rtlCol="0" anchor="t">
            <a:spAutoFit/>
          </a:bodyPr>
          <a:lstStyle/>
          <a:p>
            <a:pPr algn="l">
              <a:lnSpc>
                <a:spcPts val="2679"/>
              </a:lnSpc>
            </a:pPr>
            <a:r>
              <a:rPr lang="en-US" sz="1999" b="1">
                <a:solidFill>
                  <a:srgbClr val="000000"/>
                </a:solidFill>
                <a:latin typeface="Agrandir Bold"/>
                <a:ea typeface="Agrandir Bold"/>
                <a:cs typeface="Agrandir Bold"/>
                <a:sym typeface="Agrandir Bold"/>
              </a:rPr>
              <a:t>News, events</a:t>
            </a:r>
          </a:p>
        </p:txBody>
      </p:sp>
      <p:grpSp>
        <p:nvGrpSpPr>
          <p:cNvPr id="9" name="Group 9"/>
          <p:cNvGrpSpPr/>
          <p:nvPr/>
        </p:nvGrpSpPr>
        <p:grpSpPr>
          <a:xfrm>
            <a:off x="4110927" y="1991526"/>
            <a:ext cx="9816258" cy="5691704"/>
            <a:chExt cx="954762" cy="553594"/>
          </a:xfrm>
        </p:grpSpPr>
        <p:sp>
          <p:nvSpPr>
            <p:cNvPr id="10" name="Freeform 10"/>
            <p:cNvSpPr/>
            <p:nvPr/>
          </p:nvSpPr>
          <p:spPr>
            <a:xfrm>
              <a:off x="0" y="0"/>
              <a:ext cx="954762" cy="553594"/>
            </a:xfrm>
            <a:custGeom>
              <a:rect l="l" t="t" r="r" b="b"/>
              <a:pathLst>
                <a:path w="954762" h="553594">
                  <a:moveTo>
                    <a:pt x="0" y="0"/>
                  </a:moveTo>
                  <a:lnTo>
                    <a:pt x="954762" y="0"/>
                  </a:lnTo>
                  <a:lnTo>
                    <a:pt x="954762" y="553594"/>
                  </a:lnTo>
                  <a:lnTo>
                    <a:pt x="0" y="553594"/>
                  </a:lnTo>
                  <a:close/>
                </a:path>
              </a:pathLst>
            </a:custGeom>
            <a:blipFill>
              <a:blip r:embed="rId7"/>
              <a:stretch>
                <a:fillRect t="-230" b="-230"/>
              </a:stretch>
            </a:blipFill>
          </p:spPr>
          <p:txBody>
            <a:bodyPr/>
            <a:lstStyle/>
            <a:p/>
          </p:txBody>
        </p:sp>
      </p:grpSp>
      <p:sp>
        <p:nvSpPr>
          <p:cNvPr id="11" name="TextBox 11"/>
          <p:cNvSpPr txBox="1"/>
          <p:nvPr/>
        </p:nvSpPr>
        <p:spPr>
          <a:xfrm>
            <a:off x="5213028" y="675088"/>
            <a:ext cx="8175378" cy="835025"/>
          </a:xfrm>
          <a:prstGeom prst="rect">
            <a:avLst/>
          </a:prstGeom>
        </p:spPr>
        <p:txBody>
          <a:bodyPr lIns="0" tIns="0" rIns="0" bIns="0" rtlCol="0" anchor="t">
            <a:spAutoFit/>
          </a:bodyPr>
          <a:lstStyle/>
          <a:p>
            <a:pPr algn="ctr">
              <a:lnSpc>
                <a:spcPts val="5350"/>
              </a:lnSpc>
            </a:pPr>
            <a:r>
              <a:rPr lang="en-US" sz="5000" b="1">
                <a:solidFill>
                  <a:srgbClr val="FFFFFF"/>
                </a:solidFill>
                <a:latin typeface="Agrandir Bold"/>
                <a:ea typeface="Agrandir Bold"/>
                <a:cs typeface="Agrandir Bold"/>
                <a:sym typeface="Agrandir Bold"/>
              </a:rPr>
              <a:t>Model Yang Digunakan </a:t>
            </a:r>
          </a:p>
        </p:txBody>
      </p:sp>
      <p:sp>
        <p:nvSpPr>
          <p:cNvPr id="12" name="TextBox 12"/>
          <p:cNvSpPr txBox="1"/>
          <p:nvPr/>
        </p:nvSpPr>
        <p:spPr>
          <a:xfrm>
            <a:off x="3617114" y="8407852"/>
            <a:ext cx="12622037" cy="1639968"/>
          </a:xfrm>
          <a:prstGeom prst="rect">
            <a:avLst/>
          </a:prstGeom>
        </p:spPr>
        <p:txBody>
          <a:bodyPr lIns="0" tIns="0" rIns="0" bIns="0" rtlCol="0" anchor="t">
            <a:spAutoFit/>
          </a:bodyPr>
          <a:lstStyle/>
          <a:p>
            <a:pPr algn="ctr">
              <a:lnSpc>
                <a:spcPts val="4130"/>
              </a:lnSpc>
            </a:pPr>
            <a:r>
              <a:rPr lang="en-US" sz="3082">
                <a:solidFill>
                  <a:srgbClr val="FFFFFF"/>
                </a:solidFill>
                <a:latin typeface="Agrandir"/>
                <a:ea typeface="Agrandir"/>
                <a:cs typeface="Agrandir"/>
                <a:sym typeface="Agrandir"/>
              </a:rPr>
              <a:t>Memberi bobot lebih pada data terbaru. Cocok untuk data yang tidak memiliki tren atau musiman.</a:t>
            </a:r>
          </a:p>
          <a:p>
            <a:pPr algn="ctr">
              <a:lnSpc>
                <a:spcPts val="4130"/>
              </a:lnSpc>
            </a:pPr>
            <a:endParaRPr lang="en-US" sz="3082">
              <a:solidFill>
                <a:srgbClr val="FFFFFF"/>
              </a:solidFill>
              <a:latin typeface="Agrandir"/>
              <a:ea typeface="Agrandir"/>
              <a:cs typeface="Agrandir"/>
              <a:sym typeface="Agrandir"/>
            </a:endParaRPr>
          </a:p>
        </p:txBody>
      </p:sp>
      <p:sp>
        <p:nvSpPr>
          <p:cNvPr id="13" name="TextBox 13"/>
          <p:cNvSpPr txBox="1"/>
          <p:nvPr/>
        </p:nvSpPr>
        <p:spPr>
          <a:xfrm>
            <a:off x="7511541" y="7696545"/>
            <a:ext cx="3445001" cy="707518"/>
          </a:xfrm>
          <a:prstGeom prst="rect">
            <a:avLst/>
          </a:prstGeom>
        </p:spPr>
        <p:txBody>
          <a:bodyPr lIns="0" tIns="0" rIns="0" bIns="0" rtlCol="0" anchor="t">
            <a:spAutoFit/>
          </a:bodyPr>
          <a:lstStyle/>
          <a:p>
            <a:pPr algn="ctr">
              <a:lnSpc>
                <a:spcPts val="4823"/>
              </a:lnSpc>
            </a:pPr>
            <a:r>
              <a:rPr lang="en-US" sz="3599" b="1">
                <a:solidFill>
                  <a:srgbClr val="000000"/>
                </a:solidFill>
                <a:latin typeface="Agrandir Bold"/>
                <a:ea typeface="Agrandir Bold"/>
                <a:cs typeface="Agrandir Bold"/>
                <a:sym typeface="Agrandir Bold"/>
              </a:rPr>
              <a:t>SES</a:t>
            </a:r>
          </a:p>
        </p:txBody>
      </p:sp>
    </p:spTree>
  </p:cSld>
  <p:clrMapOvr>
    <a:masterClrMapping/>
  </p:clrMapOvr>
  <p:transition/>
  <p:timing/>
</p:sld>
</file>

<file path=ppt/slides/slide38.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12939980" y="6484586"/>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3165293" y="-4710899"/>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4"/>
                </a:ext>
              </a:extLst>
            </a:blip>
            <a:stretch>
              <a:fillRect/>
            </a:stretch>
          </a:blipFill>
        </p:spPr>
        <p:txBody>
          <a:bodyPr/>
          <a:lstStyle/>
          <a:p/>
        </p:txBody>
      </p:sp>
      <p:grpSp>
        <p:nvGrpSpPr>
          <p:cNvPr id="4" name="Group 4"/>
          <p:cNvGrpSpPr/>
          <p:nvPr/>
        </p:nvGrpSpPr>
        <p:grpSpPr>
          <a:xfrm>
            <a:off x="12507416" y="2806706"/>
            <a:ext cx="4434873" cy="709124"/>
            <a:chExt cx="1168032" cy="186765"/>
          </a:xfrm>
        </p:grpSpPr>
        <p:sp>
          <p:nvSpPr>
            <p:cNvPr id="5" name="Freeform 5"/>
            <p:cNvSpPr/>
            <p:nvPr/>
          </p:nvSpPr>
          <p:spPr>
            <a:xfrm>
              <a:off x="0" y="0"/>
              <a:ext cx="1168032" cy="186765"/>
            </a:xfrm>
            <a:custGeom>
              <a:rect l="l" t="t" r="r" b="b"/>
              <a:pathLst>
                <a:path w="1168032" h="186765">
                  <a:moveTo>
                    <a:pt x="0" y="0"/>
                  </a:moveTo>
                  <a:lnTo>
                    <a:pt x="1168032" y="0"/>
                  </a:lnTo>
                  <a:lnTo>
                    <a:pt x="1168032" y="186765"/>
                  </a:lnTo>
                  <a:lnTo>
                    <a:pt x="0" y="186765"/>
                  </a:lnTo>
                  <a:close/>
                </a:path>
              </a:pathLst>
            </a:custGeom>
            <a:solidFill>
              <a:srgbClr val="E85041"/>
            </a:solidFill>
          </p:spPr>
          <p:txBody>
            <a:bodyPr/>
            <a:lstStyle/>
            <a:p/>
          </p:txBody>
        </p:sp>
        <p:sp>
          <p:nvSpPr>
            <p:cNvPr id="6" name="TextBox 6"/>
            <p:cNvSpPr txBox="1"/>
            <p:nvPr/>
          </p:nvSpPr>
          <p:spPr>
            <a:xfrm>
              <a:off x="0" y="-85725"/>
              <a:ext cx="1168032" cy="272490"/>
            </a:xfrm>
            <a:prstGeom prst="rect">
              <a:avLst/>
            </a:prstGeom>
          </p:spPr>
          <p:txBody>
            <a:bodyPr lIns="50800" tIns="50800" rIns="50800" bIns="50800" rtlCol="0" anchor="ctr"/>
            <a:lstStyle/>
            <a:p>
              <a:pPr algn="ctr">
                <a:lnSpc>
                  <a:spcPts val="2679"/>
                </a:lnSpc>
              </a:pPr>
            </a:p>
          </p:txBody>
        </p:sp>
      </p:grpSp>
      <p:grpSp>
        <p:nvGrpSpPr>
          <p:cNvPr id="7" name="Group 7"/>
          <p:cNvGrpSpPr/>
          <p:nvPr/>
        </p:nvGrpSpPr>
        <p:grpSpPr>
          <a:xfrm>
            <a:off x="410978" y="2452144"/>
            <a:ext cx="10739269" cy="5961062"/>
            <a:chExt cx="954762" cy="529961"/>
          </a:xfrm>
        </p:grpSpPr>
        <p:sp>
          <p:nvSpPr>
            <p:cNvPr id="8" name="Freeform 8"/>
            <p:cNvSpPr/>
            <p:nvPr/>
          </p:nvSpPr>
          <p:spPr>
            <a:xfrm>
              <a:off x="0" y="0"/>
              <a:ext cx="954762" cy="529961"/>
            </a:xfrm>
            <a:custGeom>
              <a:rect l="l" t="t" r="r" b="b"/>
              <a:pathLst>
                <a:path w="954762" h="529961">
                  <a:moveTo>
                    <a:pt x="0" y="0"/>
                  </a:moveTo>
                  <a:lnTo>
                    <a:pt x="954762" y="0"/>
                  </a:lnTo>
                  <a:lnTo>
                    <a:pt x="954762" y="529961"/>
                  </a:lnTo>
                  <a:lnTo>
                    <a:pt x="0" y="529961"/>
                  </a:lnTo>
                  <a:close/>
                </a:path>
              </a:pathLst>
            </a:custGeom>
            <a:blipFill>
              <a:blip r:embed="rId5"/>
              <a:stretch>
                <a:fillRect t="-781" b="-781"/>
              </a:stretch>
            </a:blipFill>
          </p:spPr>
          <p:txBody>
            <a:bodyPr/>
            <a:lstStyle/>
            <a:p/>
          </p:txBody>
        </p:sp>
      </p:grpSp>
      <p:grpSp>
        <p:nvGrpSpPr>
          <p:cNvPr id="9" name="Group 9"/>
          <p:cNvGrpSpPr/>
          <p:nvPr/>
        </p:nvGrpSpPr>
        <p:grpSpPr>
          <a:xfrm>
            <a:off x="11817079" y="3802414"/>
            <a:ext cx="6070427" cy="4610791"/>
            <a:chExt cx="1598796" cy="1214365"/>
          </a:xfrm>
        </p:grpSpPr>
        <p:sp>
          <p:nvSpPr>
            <p:cNvPr id="10" name="Freeform 10"/>
            <p:cNvSpPr/>
            <p:nvPr/>
          </p:nvSpPr>
          <p:spPr>
            <a:xfrm>
              <a:off x="0" y="0"/>
              <a:ext cx="1598796" cy="1214365"/>
            </a:xfrm>
            <a:custGeom>
              <a:rect l="l" t="t" r="r" b="b"/>
              <a:pathLst>
                <a:path w="1598796" h="1214365">
                  <a:moveTo>
                    <a:pt x="65043" y="0"/>
                  </a:moveTo>
                  <a:lnTo>
                    <a:pt x="1533753" y="0"/>
                  </a:lnTo>
                  <a:cubicBezTo>
                    <a:pt x="1551003" y="0"/>
                    <a:pt x="1567547" y="6853"/>
                    <a:pt x="1579745" y="19051"/>
                  </a:cubicBezTo>
                  <a:cubicBezTo>
                    <a:pt x="1591943" y="31249"/>
                    <a:pt x="1598796" y="47792"/>
                    <a:pt x="1598796" y="65043"/>
                  </a:cubicBezTo>
                  <a:lnTo>
                    <a:pt x="1598796" y="1149322"/>
                  </a:lnTo>
                  <a:cubicBezTo>
                    <a:pt x="1598796" y="1166572"/>
                    <a:pt x="1591943" y="1183116"/>
                    <a:pt x="1579745" y="1195314"/>
                  </a:cubicBezTo>
                  <a:cubicBezTo>
                    <a:pt x="1567547" y="1207512"/>
                    <a:pt x="1551003" y="1214365"/>
                    <a:pt x="1533753" y="1214365"/>
                  </a:cubicBezTo>
                  <a:lnTo>
                    <a:pt x="65043" y="1214365"/>
                  </a:lnTo>
                  <a:cubicBezTo>
                    <a:pt x="47792" y="1214365"/>
                    <a:pt x="31249" y="1207512"/>
                    <a:pt x="19051" y="1195314"/>
                  </a:cubicBezTo>
                  <a:cubicBezTo>
                    <a:pt x="6853" y="1183116"/>
                    <a:pt x="0" y="1166572"/>
                    <a:pt x="0" y="1149322"/>
                  </a:cubicBezTo>
                  <a:lnTo>
                    <a:pt x="0" y="65043"/>
                  </a:lnTo>
                  <a:cubicBezTo>
                    <a:pt x="0" y="47792"/>
                    <a:pt x="6853" y="31249"/>
                    <a:pt x="19051" y="19051"/>
                  </a:cubicBezTo>
                  <a:cubicBezTo>
                    <a:pt x="31249" y="6853"/>
                    <a:pt x="47792" y="0"/>
                    <a:pt x="65043" y="0"/>
                  </a:cubicBezTo>
                  <a:close/>
                </a:path>
              </a:pathLst>
            </a:custGeom>
            <a:solidFill>
              <a:srgbClr val="E85041">
                <a:alpha val="60000"/>
              </a:srgbClr>
            </a:solidFill>
          </p:spPr>
          <p:txBody>
            <a:bodyPr/>
            <a:lstStyle/>
            <a:p/>
          </p:txBody>
        </p:sp>
        <p:sp>
          <p:nvSpPr>
            <p:cNvPr id="11" name="TextBox 11"/>
            <p:cNvSpPr txBox="1"/>
            <p:nvPr/>
          </p:nvSpPr>
          <p:spPr>
            <a:xfrm>
              <a:off x="0" y="-85725"/>
              <a:ext cx="1598796" cy="1300090"/>
            </a:xfrm>
            <a:prstGeom prst="rect">
              <a:avLst/>
            </a:prstGeom>
          </p:spPr>
          <p:txBody>
            <a:bodyPr lIns="50800" tIns="50800" rIns="50800" bIns="50800" rtlCol="0" anchor="ctr"/>
            <a:lstStyle/>
            <a:p>
              <a:pPr algn="ctr">
                <a:lnSpc>
                  <a:spcPts val="2679"/>
                </a:lnSpc>
              </a:pPr>
            </a:p>
          </p:txBody>
        </p:sp>
      </p:grpSp>
      <p:sp>
        <p:nvSpPr>
          <p:cNvPr id="12" name="TextBox 12"/>
          <p:cNvSpPr txBox="1"/>
          <p:nvPr/>
        </p:nvSpPr>
        <p:spPr>
          <a:xfrm>
            <a:off x="12125712" y="4037206"/>
            <a:ext cx="5453159" cy="1106294"/>
          </a:xfrm>
          <a:prstGeom prst="rect">
            <a:avLst/>
          </a:prstGeom>
        </p:spPr>
        <p:txBody>
          <a:bodyPr lIns="0" tIns="0" rIns="0" bIns="0" rtlCol="0" anchor="t">
            <a:spAutoFit/>
          </a:bodyPr>
          <a:lstStyle/>
          <a:p>
            <a:pPr algn="ctr">
              <a:lnSpc>
                <a:spcPts val="4061"/>
              </a:lnSpc>
            </a:pPr>
            <a:r>
              <a:rPr lang="en-US" sz="3030">
                <a:solidFill>
                  <a:srgbClr val="FFFFFF"/>
                </a:solidFill>
                <a:latin typeface="Agrandir"/>
                <a:ea typeface="Agrandir"/>
                <a:cs typeface="Agrandir"/>
                <a:sym typeface="Agrandir"/>
              </a:rPr>
              <a:t> Menangani data dengan tren linier tanpa musiman.</a:t>
            </a:r>
          </a:p>
        </p:txBody>
      </p:sp>
      <p:sp>
        <p:nvSpPr>
          <p:cNvPr id="13" name="TextBox 13"/>
          <p:cNvSpPr txBox="1"/>
          <p:nvPr/>
        </p:nvSpPr>
        <p:spPr>
          <a:xfrm>
            <a:off x="4870859" y="675088"/>
            <a:ext cx="8175378" cy="835025"/>
          </a:xfrm>
          <a:prstGeom prst="rect">
            <a:avLst/>
          </a:prstGeom>
        </p:spPr>
        <p:txBody>
          <a:bodyPr lIns="0" tIns="0" rIns="0" bIns="0" rtlCol="0" anchor="t">
            <a:spAutoFit/>
          </a:bodyPr>
          <a:lstStyle/>
          <a:p>
            <a:pPr algn="ctr">
              <a:lnSpc>
                <a:spcPts val="5350"/>
              </a:lnSpc>
            </a:pPr>
            <a:r>
              <a:rPr lang="en-US" sz="5000" b="1">
                <a:solidFill>
                  <a:srgbClr val="FFFFFF"/>
                </a:solidFill>
                <a:latin typeface="Agrandir Bold"/>
                <a:ea typeface="Agrandir Bold"/>
                <a:cs typeface="Agrandir Bold"/>
                <a:sym typeface="Agrandir Bold"/>
              </a:rPr>
              <a:t>Model Yang Digunakan </a:t>
            </a:r>
          </a:p>
        </p:txBody>
      </p:sp>
      <p:sp>
        <p:nvSpPr>
          <p:cNvPr id="14" name="TextBox 14"/>
          <p:cNvSpPr txBox="1"/>
          <p:nvPr/>
        </p:nvSpPr>
        <p:spPr>
          <a:xfrm>
            <a:off x="13002352" y="2776308"/>
            <a:ext cx="3445001" cy="1317118"/>
          </a:xfrm>
          <a:prstGeom prst="rect">
            <a:avLst/>
          </a:prstGeom>
        </p:spPr>
        <p:txBody>
          <a:bodyPr lIns="0" tIns="0" rIns="0" bIns="0" rtlCol="0" anchor="t">
            <a:spAutoFit/>
          </a:bodyPr>
          <a:lstStyle/>
          <a:p>
            <a:pPr algn="ctr">
              <a:lnSpc>
                <a:spcPts val="4823"/>
              </a:lnSpc>
            </a:pPr>
            <a:r>
              <a:rPr lang="en-US" sz="3599" b="1">
                <a:solidFill>
                  <a:srgbClr val="000000"/>
                </a:solidFill>
                <a:latin typeface="Agrandir Bold"/>
                <a:ea typeface="Agrandir Bold"/>
                <a:cs typeface="Agrandir Bold"/>
                <a:sym typeface="Agrandir Bold"/>
              </a:rPr>
              <a:t>HOLT LINEAR</a:t>
            </a:r>
          </a:p>
          <a:p>
            <a:pPr algn="ctr">
              <a:lnSpc>
                <a:spcPts val="4823"/>
              </a:lnSpc>
            </a:pPr>
            <a:endParaRPr lang="en-US" sz="3599" b="1">
              <a:solidFill>
                <a:srgbClr val="000000"/>
              </a:solidFill>
              <a:latin typeface="Agrandir Bold"/>
              <a:ea typeface="Agrandir Bold"/>
              <a:cs typeface="Agrandir Bold"/>
              <a:sym typeface="Agrandir Bold"/>
            </a:endParaRPr>
          </a:p>
        </p:txBody>
      </p:sp>
    </p:spTree>
  </p:cSld>
  <p:clrMapOvr>
    <a:masterClrMapping/>
  </p:clrMapOvr>
  <p:transition/>
  <p:timing/>
</p:sld>
</file>

<file path=ppt/slides/slide39.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12939980" y="6484586"/>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3165293" y="-4710899"/>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4"/>
                </a:ext>
              </a:extLst>
            </a:blip>
            <a:stretch>
              <a:fillRect/>
            </a:stretch>
          </a:blipFill>
        </p:spPr>
        <p:txBody>
          <a:bodyPr/>
          <a:lstStyle/>
          <a:p/>
        </p:txBody>
      </p:sp>
      <p:grpSp>
        <p:nvGrpSpPr>
          <p:cNvPr id="4" name="Group 4"/>
          <p:cNvGrpSpPr/>
          <p:nvPr/>
        </p:nvGrpSpPr>
        <p:grpSpPr>
          <a:xfrm>
            <a:off x="12626141" y="2768452"/>
            <a:ext cx="4434873" cy="709124"/>
            <a:chExt cx="1168032" cy="186765"/>
          </a:xfrm>
        </p:grpSpPr>
        <p:sp>
          <p:nvSpPr>
            <p:cNvPr id="5" name="Freeform 5"/>
            <p:cNvSpPr/>
            <p:nvPr/>
          </p:nvSpPr>
          <p:spPr>
            <a:xfrm>
              <a:off x="0" y="0"/>
              <a:ext cx="1168032" cy="186765"/>
            </a:xfrm>
            <a:custGeom>
              <a:rect l="l" t="t" r="r" b="b"/>
              <a:pathLst>
                <a:path w="1168032" h="186765">
                  <a:moveTo>
                    <a:pt x="0" y="0"/>
                  </a:moveTo>
                  <a:lnTo>
                    <a:pt x="1168032" y="0"/>
                  </a:lnTo>
                  <a:lnTo>
                    <a:pt x="1168032" y="186765"/>
                  </a:lnTo>
                  <a:lnTo>
                    <a:pt x="0" y="186765"/>
                  </a:lnTo>
                  <a:close/>
                </a:path>
              </a:pathLst>
            </a:custGeom>
            <a:solidFill>
              <a:srgbClr val="E85041"/>
            </a:solidFill>
          </p:spPr>
          <p:txBody>
            <a:bodyPr/>
            <a:lstStyle/>
            <a:p/>
          </p:txBody>
        </p:sp>
        <p:sp>
          <p:nvSpPr>
            <p:cNvPr id="6" name="TextBox 6"/>
            <p:cNvSpPr txBox="1"/>
            <p:nvPr/>
          </p:nvSpPr>
          <p:spPr>
            <a:xfrm>
              <a:off x="0" y="-85725"/>
              <a:ext cx="1168032" cy="272490"/>
            </a:xfrm>
            <a:prstGeom prst="rect">
              <a:avLst/>
            </a:prstGeom>
          </p:spPr>
          <p:txBody>
            <a:bodyPr lIns="50800" tIns="50800" rIns="50800" bIns="50800" rtlCol="0" anchor="ctr"/>
            <a:lstStyle/>
            <a:p>
              <a:pPr algn="ctr">
                <a:lnSpc>
                  <a:spcPts val="2679"/>
                </a:lnSpc>
              </a:pPr>
            </a:p>
          </p:txBody>
        </p:sp>
      </p:grpSp>
      <p:grpSp>
        <p:nvGrpSpPr>
          <p:cNvPr id="7" name="Group 7"/>
          <p:cNvGrpSpPr/>
          <p:nvPr/>
        </p:nvGrpSpPr>
        <p:grpSpPr>
          <a:xfrm>
            <a:off x="572556" y="2768452"/>
            <a:ext cx="10729065" cy="6021933"/>
            <a:chExt cx="954762" cy="535882"/>
          </a:xfrm>
        </p:grpSpPr>
        <p:sp>
          <p:nvSpPr>
            <p:cNvPr id="8" name="Freeform 8"/>
            <p:cNvSpPr/>
            <p:nvPr/>
          </p:nvSpPr>
          <p:spPr>
            <a:xfrm>
              <a:off x="0" y="0"/>
              <a:ext cx="954762" cy="535882"/>
            </a:xfrm>
            <a:custGeom>
              <a:rect l="l" t="t" r="r" b="b"/>
              <a:pathLst>
                <a:path w="954762" h="535882">
                  <a:moveTo>
                    <a:pt x="0" y="0"/>
                  </a:moveTo>
                  <a:lnTo>
                    <a:pt x="954762" y="0"/>
                  </a:lnTo>
                  <a:lnTo>
                    <a:pt x="954762" y="535882"/>
                  </a:lnTo>
                  <a:lnTo>
                    <a:pt x="0" y="535882"/>
                  </a:lnTo>
                  <a:close/>
                </a:path>
              </a:pathLst>
            </a:custGeom>
            <a:blipFill>
              <a:blip r:embed="rId5"/>
              <a:stretch>
                <a:fillRect t="-220" b="-220"/>
              </a:stretch>
            </a:blipFill>
          </p:spPr>
          <p:txBody>
            <a:bodyPr/>
            <a:lstStyle/>
            <a:p/>
          </p:txBody>
        </p:sp>
      </p:grpSp>
      <p:grpSp>
        <p:nvGrpSpPr>
          <p:cNvPr id="9" name="Group 9"/>
          <p:cNvGrpSpPr/>
          <p:nvPr/>
        </p:nvGrpSpPr>
        <p:grpSpPr>
          <a:xfrm>
            <a:off x="11757477" y="3802414"/>
            <a:ext cx="6097321" cy="4740151"/>
            <a:chExt cx="1605879" cy="1248435"/>
          </a:xfrm>
        </p:grpSpPr>
        <p:sp>
          <p:nvSpPr>
            <p:cNvPr id="10" name="Freeform 10"/>
            <p:cNvSpPr/>
            <p:nvPr/>
          </p:nvSpPr>
          <p:spPr>
            <a:xfrm>
              <a:off x="0" y="0"/>
              <a:ext cx="1605879" cy="1248435"/>
            </a:xfrm>
            <a:custGeom>
              <a:rect l="l" t="t" r="r" b="b"/>
              <a:pathLst>
                <a:path w="1605879" h="1248435">
                  <a:moveTo>
                    <a:pt x="64756" y="0"/>
                  </a:moveTo>
                  <a:lnTo>
                    <a:pt x="1541123" y="0"/>
                  </a:lnTo>
                  <a:cubicBezTo>
                    <a:pt x="1576887" y="0"/>
                    <a:pt x="1605879" y="28992"/>
                    <a:pt x="1605879" y="64756"/>
                  </a:cubicBezTo>
                  <a:lnTo>
                    <a:pt x="1605879" y="1183679"/>
                  </a:lnTo>
                  <a:cubicBezTo>
                    <a:pt x="1605879" y="1219443"/>
                    <a:pt x="1576887" y="1248435"/>
                    <a:pt x="1541123" y="1248435"/>
                  </a:cubicBezTo>
                  <a:lnTo>
                    <a:pt x="64756" y="1248435"/>
                  </a:lnTo>
                  <a:cubicBezTo>
                    <a:pt x="28992" y="1248435"/>
                    <a:pt x="0" y="1219443"/>
                    <a:pt x="0" y="1183679"/>
                  </a:cubicBezTo>
                  <a:lnTo>
                    <a:pt x="0" y="64756"/>
                  </a:lnTo>
                  <a:cubicBezTo>
                    <a:pt x="0" y="28992"/>
                    <a:pt x="28992" y="0"/>
                    <a:pt x="64756" y="0"/>
                  </a:cubicBezTo>
                  <a:close/>
                </a:path>
              </a:pathLst>
            </a:custGeom>
            <a:solidFill>
              <a:srgbClr val="E85041">
                <a:alpha val="49804"/>
              </a:srgbClr>
            </a:solidFill>
          </p:spPr>
          <p:txBody>
            <a:bodyPr/>
            <a:lstStyle/>
            <a:p/>
          </p:txBody>
        </p:sp>
        <p:sp>
          <p:nvSpPr>
            <p:cNvPr id="11" name="TextBox 11"/>
            <p:cNvSpPr txBox="1"/>
            <p:nvPr/>
          </p:nvSpPr>
          <p:spPr>
            <a:xfrm>
              <a:off x="0" y="-85725"/>
              <a:ext cx="1605879" cy="1334160"/>
            </a:xfrm>
            <a:prstGeom prst="rect">
              <a:avLst/>
            </a:prstGeom>
          </p:spPr>
          <p:txBody>
            <a:bodyPr lIns="50800" tIns="50800" rIns="50800" bIns="50800" rtlCol="0" anchor="ctr"/>
            <a:lstStyle/>
            <a:p>
              <a:pPr algn="ctr">
                <a:lnSpc>
                  <a:spcPts val="2679"/>
                </a:lnSpc>
              </a:pPr>
            </a:p>
          </p:txBody>
        </p:sp>
      </p:grpSp>
      <p:sp>
        <p:nvSpPr>
          <p:cNvPr id="12" name="TextBox 12"/>
          <p:cNvSpPr txBox="1"/>
          <p:nvPr/>
        </p:nvSpPr>
        <p:spPr>
          <a:xfrm>
            <a:off x="4870859" y="675088"/>
            <a:ext cx="8175378" cy="835025"/>
          </a:xfrm>
          <a:prstGeom prst="rect">
            <a:avLst/>
          </a:prstGeom>
        </p:spPr>
        <p:txBody>
          <a:bodyPr lIns="0" tIns="0" rIns="0" bIns="0" rtlCol="0" anchor="t">
            <a:spAutoFit/>
          </a:bodyPr>
          <a:lstStyle/>
          <a:p>
            <a:pPr algn="ctr">
              <a:lnSpc>
                <a:spcPts val="5350"/>
              </a:lnSpc>
            </a:pPr>
            <a:r>
              <a:rPr lang="en-US" sz="5000" b="1">
                <a:solidFill>
                  <a:srgbClr val="FFFFFF"/>
                </a:solidFill>
                <a:latin typeface="Agrandir Bold"/>
                <a:ea typeface="Agrandir Bold"/>
                <a:cs typeface="Agrandir Bold"/>
                <a:sym typeface="Agrandir Bold"/>
              </a:rPr>
              <a:t>Model Yang Digunakan </a:t>
            </a:r>
          </a:p>
        </p:txBody>
      </p:sp>
      <p:sp>
        <p:nvSpPr>
          <p:cNvPr id="13" name="TextBox 13"/>
          <p:cNvSpPr txBox="1"/>
          <p:nvPr/>
        </p:nvSpPr>
        <p:spPr>
          <a:xfrm>
            <a:off x="12191802" y="4155534"/>
            <a:ext cx="5303549" cy="1119494"/>
          </a:xfrm>
          <a:prstGeom prst="rect">
            <a:avLst/>
          </a:prstGeom>
        </p:spPr>
        <p:txBody>
          <a:bodyPr lIns="0" tIns="0" rIns="0" bIns="0" rtlCol="0" anchor="t">
            <a:spAutoFit/>
          </a:bodyPr>
          <a:lstStyle/>
          <a:p>
            <a:pPr algn="ctr">
              <a:lnSpc>
                <a:spcPts val="4130"/>
              </a:lnSpc>
            </a:pPr>
            <a:r>
              <a:rPr lang="en-US" sz="3082">
                <a:solidFill>
                  <a:srgbClr val="FFFFFF"/>
                </a:solidFill>
                <a:latin typeface="Agrandir"/>
                <a:ea typeface="Agrandir"/>
                <a:cs typeface="Agrandir"/>
                <a:sym typeface="Agrandir"/>
              </a:rPr>
              <a:t>Menangani tren dan musiman secara bersamaan.</a:t>
            </a:r>
          </a:p>
        </p:txBody>
      </p:sp>
      <p:sp>
        <p:nvSpPr>
          <p:cNvPr id="14" name="TextBox 14"/>
          <p:cNvSpPr txBox="1"/>
          <p:nvPr/>
        </p:nvSpPr>
        <p:spPr>
          <a:xfrm>
            <a:off x="12427854" y="2738055"/>
            <a:ext cx="4831446" cy="1317118"/>
          </a:xfrm>
          <a:prstGeom prst="rect">
            <a:avLst/>
          </a:prstGeom>
        </p:spPr>
        <p:txBody>
          <a:bodyPr lIns="0" tIns="0" rIns="0" bIns="0" rtlCol="0" anchor="t">
            <a:spAutoFit/>
          </a:bodyPr>
          <a:lstStyle/>
          <a:p>
            <a:pPr algn="ctr">
              <a:lnSpc>
                <a:spcPts val="4823"/>
              </a:lnSpc>
            </a:pPr>
            <a:r>
              <a:rPr lang="en-US" sz="3599" b="1">
                <a:solidFill>
                  <a:srgbClr val="000000"/>
                </a:solidFill>
                <a:latin typeface="Agrandir Bold"/>
                <a:ea typeface="Agrandir Bold"/>
                <a:cs typeface="Agrandir Bold"/>
                <a:sym typeface="Agrandir Bold"/>
              </a:rPr>
              <a:t>HOLT WINTERS</a:t>
            </a:r>
          </a:p>
          <a:p>
            <a:pPr algn="ctr">
              <a:lnSpc>
                <a:spcPts val="4823"/>
              </a:lnSpc>
            </a:pPr>
            <a:endParaRPr lang="en-US" sz="3599" b="1">
              <a:solidFill>
                <a:srgbClr val="000000"/>
              </a:solidFill>
              <a:latin typeface="Agrandir Bold"/>
              <a:ea typeface="Agrandir Bold"/>
              <a:cs typeface="Agrandir Bold"/>
              <a:sym typeface="Agrandir Bold"/>
            </a:endParaRPr>
          </a:p>
        </p:txBody>
      </p:sp>
    </p:spTree>
  </p:cSld>
  <p:clrMapOvr>
    <a:masterClrMapping/>
  </p:clrMapOvr>
  <p:transition/>
  <p:timing/>
</p:sld>
</file>

<file path=ppt/slides/slide40.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12939980" y="6484586"/>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3165293" y="-4710899"/>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TextBox 4"/>
          <p:cNvSpPr txBox="1"/>
          <p:nvPr/>
        </p:nvSpPr>
        <p:spPr>
          <a:xfrm>
            <a:off x="7236047" y="6706369"/>
            <a:ext cx="3445001" cy="383540"/>
          </a:xfrm>
          <a:prstGeom prst="rect">
            <a:avLst/>
          </a:prstGeom>
        </p:spPr>
        <p:txBody>
          <a:bodyPr lIns="0" tIns="0" rIns="0" bIns="0" rtlCol="0" anchor="t">
            <a:spAutoFit/>
          </a:bodyPr>
          <a:lstStyle/>
          <a:p>
            <a:pPr algn="l">
              <a:lnSpc>
                <a:spcPts val="2679"/>
              </a:lnSpc>
            </a:pPr>
            <a:r>
              <a:rPr lang="en-US" sz="1999" b="1">
                <a:solidFill>
                  <a:srgbClr val="000000"/>
                </a:solidFill>
                <a:latin typeface="Agrandir Bold"/>
                <a:ea typeface="Agrandir Bold"/>
                <a:cs typeface="Agrandir Bold"/>
                <a:sym typeface="Agrandir Bold"/>
              </a:rPr>
              <a:t>News, events</a:t>
            </a:r>
          </a:p>
        </p:txBody>
      </p:sp>
      <p:grpSp>
        <p:nvGrpSpPr>
          <p:cNvPr id="5" name="Group 5"/>
          <p:cNvGrpSpPr/>
          <p:nvPr/>
        </p:nvGrpSpPr>
        <p:grpSpPr>
          <a:xfrm>
            <a:off x="791918" y="2540131"/>
            <a:ext cx="10918168" cy="6060364"/>
            <a:chExt cx="954762" cy="529961"/>
          </a:xfrm>
        </p:grpSpPr>
        <p:sp>
          <p:nvSpPr>
            <p:cNvPr id="6" name="Freeform 6"/>
            <p:cNvSpPr/>
            <p:nvPr/>
          </p:nvSpPr>
          <p:spPr>
            <a:xfrm>
              <a:off x="0" y="0"/>
              <a:ext cx="954762" cy="529961"/>
            </a:xfrm>
            <a:custGeom>
              <a:rect l="l" t="t" r="r" b="b"/>
              <a:pathLst>
                <a:path w="954762" h="529961">
                  <a:moveTo>
                    <a:pt x="0" y="0"/>
                  </a:moveTo>
                  <a:lnTo>
                    <a:pt x="954762" y="0"/>
                  </a:lnTo>
                  <a:lnTo>
                    <a:pt x="954762" y="529961"/>
                  </a:lnTo>
                  <a:lnTo>
                    <a:pt x="0" y="529961"/>
                  </a:lnTo>
                  <a:close/>
                </a:path>
              </a:pathLst>
            </a:custGeom>
            <a:blipFill>
              <a:blip r:embed="rId5"/>
              <a:stretch>
                <a:fillRect l="-7513" r="-6347"/>
              </a:stretch>
            </a:blipFill>
          </p:spPr>
          <p:txBody>
            <a:bodyPr/>
            <a:lstStyle/>
            <a:p/>
          </p:txBody>
        </p:sp>
      </p:grpSp>
      <p:grpSp>
        <p:nvGrpSpPr>
          <p:cNvPr id="7" name="Group 7"/>
          <p:cNvGrpSpPr/>
          <p:nvPr/>
        </p:nvGrpSpPr>
        <p:grpSpPr>
          <a:xfrm>
            <a:off x="12257447" y="3606106"/>
            <a:ext cx="5542573" cy="4866317"/>
            <a:chExt cx="1459772" cy="1281664"/>
          </a:xfrm>
        </p:grpSpPr>
        <p:sp>
          <p:nvSpPr>
            <p:cNvPr id="8" name="Freeform 8"/>
            <p:cNvSpPr/>
            <p:nvPr/>
          </p:nvSpPr>
          <p:spPr>
            <a:xfrm>
              <a:off x="0" y="0"/>
              <a:ext cx="1459772" cy="1281664"/>
            </a:xfrm>
            <a:custGeom>
              <a:rect l="l" t="t" r="r" b="b"/>
              <a:pathLst>
                <a:path w="1459772" h="1281664">
                  <a:moveTo>
                    <a:pt x="71237" y="0"/>
                  </a:moveTo>
                  <a:lnTo>
                    <a:pt x="1388535" y="0"/>
                  </a:lnTo>
                  <a:cubicBezTo>
                    <a:pt x="1407428" y="0"/>
                    <a:pt x="1425548" y="7505"/>
                    <a:pt x="1438907" y="20865"/>
                  </a:cubicBezTo>
                  <a:cubicBezTo>
                    <a:pt x="1452267" y="34225"/>
                    <a:pt x="1459772" y="52344"/>
                    <a:pt x="1459772" y="71237"/>
                  </a:cubicBezTo>
                  <a:lnTo>
                    <a:pt x="1459772" y="1210426"/>
                  </a:lnTo>
                  <a:cubicBezTo>
                    <a:pt x="1459772" y="1229320"/>
                    <a:pt x="1452267" y="1247439"/>
                    <a:pt x="1438907" y="1260799"/>
                  </a:cubicBezTo>
                  <a:cubicBezTo>
                    <a:pt x="1425548" y="1274158"/>
                    <a:pt x="1407428" y="1281664"/>
                    <a:pt x="1388535" y="1281664"/>
                  </a:cubicBezTo>
                  <a:lnTo>
                    <a:pt x="71237" y="1281664"/>
                  </a:lnTo>
                  <a:cubicBezTo>
                    <a:pt x="52344" y="1281664"/>
                    <a:pt x="34225" y="1274158"/>
                    <a:pt x="20865" y="1260799"/>
                  </a:cubicBezTo>
                  <a:cubicBezTo>
                    <a:pt x="7505" y="1247439"/>
                    <a:pt x="0" y="1229320"/>
                    <a:pt x="0" y="1210426"/>
                  </a:cubicBezTo>
                  <a:lnTo>
                    <a:pt x="0" y="71237"/>
                  </a:lnTo>
                  <a:cubicBezTo>
                    <a:pt x="0" y="52344"/>
                    <a:pt x="7505" y="34225"/>
                    <a:pt x="20865" y="20865"/>
                  </a:cubicBezTo>
                  <a:cubicBezTo>
                    <a:pt x="34225" y="7505"/>
                    <a:pt x="52344" y="0"/>
                    <a:pt x="71237" y="0"/>
                  </a:cubicBezTo>
                  <a:close/>
                </a:path>
              </a:pathLst>
            </a:custGeom>
            <a:solidFill>
              <a:srgbClr val="E85041">
                <a:alpha val="44706"/>
              </a:srgbClr>
            </a:solidFill>
          </p:spPr>
          <p:txBody>
            <a:bodyPr/>
            <a:lstStyle/>
            <a:p/>
          </p:txBody>
        </p:sp>
        <p:sp>
          <p:nvSpPr>
            <p:cNvPr id="9" name="TextBox 9"/>
            <p:cNvSpPr txBox="1"/>
            <p:nvPr/>
          </p:nvSpPr>
          <p:spPr>
            <a:xfrm>
              <a:off x="0" y="-85725"/>
              <a:ext cx="1459772" cy="1367389"/>
            </a:xfrm>
            <a:prstGeom prst="rect">
              <a:avLst/>
            </a:prstGeom>
          </p:spPr>
          <p:txBody>
            <a:bodyPr lIns="50800" tIns="50800" rIns="50800" bIns="50800" rtlCol="0" anchor="ctr"/>
            <a:lstStyle/>
            <a:p>
              <a:pPr algn="ctr">
                <a:lnSpc>
                  <a:spcPts val="2679"/>
                </a:lnSpc>
              </a:pPr>
            </a:p>
          </p:txBody>
        </p:sp>
      </p:grpSp>
      <p:grpSp>
        <p:nvGrpSpPr>
          <p:cNvPr id="10" name="Group 10"/>
          <p:cNvGrpSpPr/>
          <p:nvPr/>
        </p:nvGrpSpPr>
        <p:grpSpPr>
          <a:xfrm>
            <a:off x="13645538" y="2540131"/>
            <a:ext cx="2979593" cy="704339"/>
            <a:chExt cx="790080" cy="186765"/>
          </a:xfrm>
        </p:grpSpPr>
        <p:sp>
          <p:nvSpPr>
            <p:cNvPr id="11" name="Freeform 11"/>
            <p:cNvSpPr/>
            <p:nvPr/>
          </p:nvSpPr>
          <p:spPr>
            <a:xfrm>
              <a:off x="0" y="0"/>
              <a:ext cx="790080" cy="186765"/>
            </a:xfrm>
            <a:custGeom>
              <a:rect l="l" t="t" r="r" b="b"/>
              <a:pathLst>
                <a:path w="790080" h="186765">
                  <a:moveTo>
                    <a:pt x="0" y="0"/>
                  </a:moveTo>
                  <a:lnTo>
                    <a:pt x="790080" y="0"/>
                  </a:lnTo>
                  <a:lnTo>
                    <a:pt x="790080" y="186765"/>
                  </a:lnTo>
                  <a:lnTo>
                    <a:pt x="0" y="186765"/>
                  </a:lnTo>
                  <a:close/>
                </a:path>
              </a:pathLst>
            </a:custGeom>
            <a:solidFill>
              <a:srgbClr val="E85041"/>
            </a:solidFill>
          </p:spPr>
          <p:txBody>
            <a:bodyPr/>
            <a:lstStyle/>
            <a:p/>
          </p:txBody>
        </p:sp>
        <p:sp>
          <p:nvSpPr>
            <p:cNvPr id="12" name="TextBox 12"/>
            <p:cNvSpPr txBox="1"/>
            <p:nvPr/>
          </p:nvSpPr>
          <p:spPr>
            <a:xfrm>
              <a:off x="0" y="-85725"/>
              <a:ext cx="790080" cy="272490"/>
            </a:xfrm>
            <a:prstGeom prst="rect">
              <a:avLst/>
            </a:prstGeom>
          </p:spPr>
          <p:txBody>
            <a:bodyPr lIns="50457" tIns="50457" rIns="50457" bIns="50457" rtlCol="0" anchor="ctr"/>
            <a:lstStyle/>
            <a:p>
              <a:pPr algn="ctr">
                <a:lnSpc>
                  <a:spcPts val="2679"/>
                </a:lnSpc>
              </a:pPr>
            </a:p>
          </p:txBody>
        </p:sp>
      </p:grpSp>
      <p:sp>
        <p:nvSpPr>
          <p:cNvPr id="13" name="TextBox 13"/>
          <p:cNvSpPr txBox="1"/>
          <p:nvPr/>
        </p:nvSpPr>
        <p:spPr>
          <a:xfrm>
            <a:off x="12625316" y="3482281"/>
            <a:ext cx="5020035" cy="2620052"/>
          </a:xfrm>
          <a:prstGeom prst="rect">
            <a:avLst/>
          </a:prstGeom>
        </p:spPr>
        <p:txBody>
          <a:bodyPr lIns="0" tIns="0" rIns="0" bIns="0" rtlCol="0" anchor="t">
            <a:spAutoFit/>
          </a:bodyPr>
          <a:lstStyle/>
          <a:p>
            <a:pPr algn="ctr">
              <a:lnSpc>
                <a:spcPts val="4033"/>
              </a:lnSpc>
            </a:pPr>
          </a:p>
          <a:p>
            <a:pPr algn="ctr">
              <a:lnSpc>
                <a:spcPts val="4033"/>
              </a:lnSpc>
            </a:pPr>
            <a:r>
              <a:rPr lang="en-US" sz="3010">
                <a:solidFill>
                  <a:srgbClr val="FFFFFF"/>
                </a:solidFill>
                <a:latin typeface="Agrandir"/>
                <a:ea typeface="Agrandir"/>
                <a:cs typeface="Agrandir"/>
                <a:sym typeface="Agrandir"/>
              </a:rPr>
              <a:t>Model machine learning berbasis pohon keputusan. Mampu menangani data kompleks dan non-linear.</a:t>
            </a:r>
          </a:p>
        </p:txBody>
      </p:sp>
      <p:sp>
        <p:nvSpPr>
          <p:cNvPr id="14" name="TextBox 14"/>
          <p:cNvSpPr txBox="1"/>
          <p:nvPr/>
        </p:nvSpPr>
        <p:spPr>
          <a:xfrm>
            <a:off x="13512316" y="2550159"/>
            <a:ext cx="3246033" cy="694311"/>
          </a:xfrm>
          <a:prstGeom prst="rect">
            <a:avLst/>
          </a:prstGeom>
        </p:spPr>
        <p:txBody>
          <a:bodyPr lIns="0" tIns="0" rIns="0" bIns="0" rtlCol="0" anchor="t">
            <a:spAutoFit/>
          </a:bodyPr>
          <a:lstStyle/>
          <a:p>
            <a:pPr algn="ctr">
              <a:lnSpc>
                <a:spcPts val="4791"/>
              </a:lnSpc>
            </a:pPr>
            <a:r>
              <a:rPr lang="en-US" sz="3575" b="1">
                <a:solidFill>
                  <a:srgbClr val="000000"/>
                </a:solidFill>
                <a:latin typeface="Agrandir Bold"/>
                <a:ea typeface="Agrandir Bold"/>
                <a:cs typeface="Agrandir Bold"/>
                <a:sym typeface="Agrandir Bold"/>
              </a:rPr>
              <a:t>XGBoost</a:t>
            </a:r>
          </a:p>
        </p:txBody>
      </p:sp>
      <p:sp>
        <p:nvSpPr>
          <p:cNvPr id="15" name="TextBox 15"/>
          <p:cNvSpPr txBox="1"/>
          <p:nvPr/>
        </p:nvSpPr>
        <p:spPr>
          <a:xfrm>
            <a:off x="4870859" y="675088"/>
            <a:ext cx="8175378" cy="835025"/>
          </a:xfrm>
          <a:prstGeom prst="rect">
            <a:avLst/>
          </a:prstGeom>
        </p:spPr>
        <p:txBody>
          <a:bodyPr lIns="0" tIns="0" rIns="0" bIns="0" rtlCol="0" anchor="t">
            <a:spAutoFit/>
          </a:bodyPr>
          <a:lstStyle/>
          <a:p>
            <a:pPr algn="ctr">
              <a:lnSpc>
                <a:spcPts val="5350"/>
              </a:lnSpc>
            </a:pPr>
            <a:r>
              <a:rPr lang="en-US" sz="5000" b="1">
                <a:solidFill>
                  <a:srgbClr val="FFFFFF"/>
                </a:solidFill>
                <a:latin typeface="Agrandir Bold"/>
                <a:ea typeface="Agrandir Bold"/>
                <a:cs typeface="Agrandir Bold"/>
                <a:sym typeface="Agrandir Bold"/>
              </a:rPr>
              <a:t>Model Yang Digunakan </a:t>
            </a:r>
          </a:p>
        </p:txBody>
      </p:sp>
    </p:spTree>
  </p:cSld>
  <p:clrMapOvr>
    <a:masterClrMapping/>
  </p:clrMapOvr>
  <p:transition/>
  <p:timing/>
</p:sld>
</file>

<file path=ppt/slides/slide41.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12939980" y="6484586"/>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3165293" y="-4710899"/>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flipH="1" flipV="1">
            <a:off x="16938941" y="1028700"/>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p:txBody>
      </p:sp>
      <p:grpSp>
        <p:nvGrpSpPr>
          <p:cNvPr id="5" name="Group 5"/>
          <p:cNvGrpSpPr/>
          <p:nvPr/>
        </p:nvGrpSpPr>
        <p:grpSpPr>
          <a:xfrm>
            <a:off x="776626" y="1814238"/>
            <a:ext cx="11257439" cy="4519551"/>
            <a:chExt cx="1378909" cy="553594"/>
          </a:xfrm>
        </p:grpSpPr>
        <p:sp>
          <p:nvSpPr>
            <p:cNvPr id="6" name="Freeform 6"/>
            <p:cNvSpPr/>
            <p:nvPr/>
          </p:nvSpPr>
          <p:spPr>
            <a:xfrm>
              <a:off x="0" y="0"/>
              <a:ext cx="1378909" cy="553594"/>
            </a:xfrm>
            <a:custGeom>
              <a:rect l="l" t="t" r="r" b="b"/>
              <a:pathLst>
                <a:path w="1378909" h="553594">
                  <a:moveTo>
                    <a:pt x="0" y="0"/>
                  </a:moveTo>
                  <a:lnTo>
                    <a:pt x="1378909" y="0"/>
                  </a:lnTo>
                  <a:lnTo>
                    <a:pt x="1378909" y="553594"/>
                  </a:lnTo>
                  <a:lnTo>
                    <a:pt x="0" y="553594"/>
                  </a:lnTo>
                  <a:close/>
                </a:path>
              </a:pathLst>
            </a:custGeom>
            <a:blipFill>
              <a:blip r:embed="rId7"/>
              <a:stretch>
                <a:fillRect l="-1484" r="-1788"/>
              </a:stretch>
            </a:blipFill>
          </p:spPr>
          <p:txBody>
            <a:bodyPr/>
            <a:lstStyle/>
            <a:p/>
          </p:txBody>
        </p:sp>
      </p:grpSp>
      <p:grpSp>
        <p:nvGrpSpPr>
          <p:cNvPr id="7" name="Group 7"/>
          <p:cNvGrpSpPr/>
          <p:nvPr/>
        </p:nvGrpSpPr>
        <p:grpSpPr>
          <a:xfrm>
            <a:off x="618154" y="6484586"/>
            <a:ext cx="11415911" cy="3522379"/>
            <a:chExt cx="3006660" cy="927705"/>
          </a:xfrm>
        </p:grpSpPr>
        <p:sp>
          <p:nvSpPr>
            <p:cNvPr id="8" name="Freeform 8"/>
            <p:cNvSpPr/>
            <p:nvPr/>
          </p:nvSpPr>
          <p:spPr>
            <a:xfrm>
              <a:off x="0" y="0"/>
              <a:ext cx="3006660" cy="927705"/>
            </a:xfrm>
            <a:custGeom>
              <a:rect l="l" t="t" r="r" b="b"/>
              <a:pathLst>
                <a:path w="3006660" h="927705">
                  <a:moveTo>
                    <a:pt x="34587" y="0"/>
                  </a:moveTo>
                  <a:lnTo>
                    <a:pt x="2972073" y="0"/>
                  </a:lnTo>
                  <a:cubicBezTo>
                    <a:pt x="2981246" y="0"/>
                    <a:pt x="2990043" y="3644"/>
                    <a:pt x="2996529" y="10130"/>
                  </a:cubicBezTo>
                  <a:cubicBezTo>
                    <a:pt x="3003016" y="16616"/>
                    <a:pt x="3006660" y="25414"/>
                    <a:pt x="3006660" y="34587"/>
                  </a:cubicBezTo>
                  <a:lnTo>
                    <a:pt x="3006660" y="893118"/>
                  </a:lnTo>
                  <a:cubicBezTo>
                    <a:pt x="3006660" y="902291"/>
                    <a:pt x="3003016" y="911088"/>
                    <a:pt x="2996529" y="917575"/>
                  </a:cubicBezTo>
                  <a:cubicBezTo>
                    <a:pt x="2990043" y="924061"/>
                    <a:pt x="2981246" y="927705"/>
                    <a:pt x="2972073" y="927705"/>
                  </a:cubicBezTo>
                  <a:lnTo>
                    <a:pt x="34587" y="927705"/>
                  </a:lnTo>
                  <a:cubicBezTo>
                    <a:pt x="25414" y="927705"/>
                    <a:pt x="16616" y="924061"/>
                    <a:pt x="10130" y="917575"/>
                  </a:cubicBezTo>
                  <a:cubicBezTo>
                    <a:pt x="3644" y="911088"/>
                    <a:pt x="0" y="902291"/>
                    <a:pt x="0" y="893118"/>
                  </a:cubicBezTo>
                  <a:lnTo>
                    <a:pt x="0" y="34587"/>
                  </a:lnTo>
                  <a:cubicBezTo>
                    <a:pt x="0" y="25414"/>
                    <a:pt x="3644" y="16616"/>
                    <a:pt x="10130" y="10130"/>
                  </a:cubicBezTo>
                  <a:cubicBezTo>
                    <a:pt x="16616" y="3644"/>
                    <a:pt x="25414" y="0"/>
                    <a:pt x="34587" y="0"/>
                  </a:cubicBezTo>
                  <a:close/>
                </a:path>
              </a:pathLst>
            </a:custGeom>
            <a:gradFill rotWithShape="1">
              <a:gsLst>
                <a:gs pos="0">
                  <a:srgbClr val="000000">
                    <a:alpha val="100000"/>
                  </a:srgbClr>
                </a:gs>
                <a:gs pos="100000">
                  <a:srgbClr val="740F0F">
                    <a:alpha val="100000"/>
                  </a:srgbClr>
                </a:gs>
              </a:gsLst>
              <a:lin ang="5400000"/>
            </a:gradFill>
          </p:spPr>
          <p:txBody>
            <a:bodyPr/>
            <a:lstStyle/>
            <a:p/>
          </p:txBody>
        </p:sp>
        <p:sp>
          <p:nvSpPr>
            <p:cNvPr id="9" name="TextBox 9"/>
            <p:cNvSpPr txBox="1"/>
            <p:nvPr/>
          </p:nvSpPr>
          <p:spPr>
            <a:xfrm>
              <a:off x="0" y="-85725"/>
              <a:ext cx="3006660" cy="1013430"/>
            </a:xfrm>
            <a:prstGeom prst="rect">
              <a:avLst/>
            </a:prstGeom>
          </p:spPr>
          <p:txBody>
            <a:bodyPr lIns="50800" tIns="50800" rIns="50800" bIns="50800" rtlCol="0" anchor="ctr"/>
            <a:lstStyle/>
            <a:p>
              <a:pPr algn="ctr">
                <a:lnSpc>
                  <a:spcPts val="2679"/>
                </a:lnSpc>
              </a:pPr>
            </a:p>
          </p:txBody>
        </p:sp>
      </p:grpSp>
      <p:sp>
        <p:nvSpPr>
          <p:cNvPr id="10" name="TextBox 10"/>
          <p:cNvSpPr txBox="1"/>
          <p:nvPr/>
        </p:nvSpPr>
        <p:spPr>
          <a:xfrm>
            <a:off x="5213028" y="675088"/>
            <a:ext cx="8175378" cy="835025"/>
          </a:xfrm>
          <a:prstGeom prst="rect">
            <a:avLst/>
          </a:prstGeom>
        </p:spPr>
        <p:txBody>
          <a:bodyPr lIns="0" tIns="0" rIns="0" bIns="0" rtlCol="0" anchor="t">
            <a:spAutoFit/>
          </a:bodyPr>
          <a:lstStyle/>
          <a:p>
            <a:pPr algn="ctr">
              <a:lnSpc>
                <a:spcPts val="5350"/>
              </a:lnSpc>
            </a:pPr>
            <a:r>
              <a:rPr lang="en-US" sz="5000" b="1">
                <a:solidFill>
                  <a:srgbClr val="FFFFFF"/>
                </a:solidFill>
                <a:latin typeface="Agrandir Bold"/>
                <a:ea typeface="Agrandir Bold"/>
                <a:cs typeface="Agrandir Bold"/>
                <a:sym typeface="Agrandir Bold"/>
              </a:rPr>
              <a:t>Forecast Comparison</a:t>
            </a:r>
          </a:p>
        </p:txBody>
      </p:sp>
      <p:sp>
        <p:nvSpPr>
          <p:cNvPr id="11" name="TextBox 11"/>
          <p:cNvSpPr txBox="1"/>
          <p:nvPr/>
        </p:nvSpPr>
        <p:spPr>
          <a:xfrm>
            <a:off x="1028700" y="6539157"/>
            <a:ext cx="9384327" cy="3317986"/>
          </a:xfrm>
          <a:prstGeom prst="rect">
            <a:avLst/>
          </a:prstGeom>
        </p:spPr>
        <p:txBody>
          <a:bodyPr lIns="0" tIns="0" rIns="0" bIns="0" rtlCol="0" anchor="t">
            <a:spAutoFit/>
          </a:bodyPr>
          <a:lstStyle/>
          <a:p>
            <a:pPr algn="l">
              <a:lnSpc>
                <a:spcPts val="2938"/>
              </a:lnSpc>
            </a:pPr>
            <a:r>
              <a:rPr lang="en-US" sz="2193">
                <a:solidFill>
                  <a:srgbClr val="FFFFFF"/>
                </a:solidFill>
                <a:latin typeface="Agrandir"/>
                <a:ea typeface="Agrandir"/>
                <a:cs typeface="Agrandir"/>
                <a:sym typeface="Agrandir"/>
              </a:rPr>
              <a:t>Analisis Perbandingan Hasil Peramalan dengan Data Aktual</a:t>
            </a:r>
          </a:p>
          <a:p>
            <a:pPr algn="l">
              <a:lnSpc>
                <a:spcPts val="2938"/>
              </a:lnSpc>
            </a:pPr>
            <a:r>
              <a:rPr lang="en-US" sz="2193">
                <a:solidFill>
                  <a:srgbClr val="FFFFFF"/>
                </a:solidFill>
                <a:latin typeface="Agrandir"/>
                <a:ea typeface="Agrandir"/>
                <a:cs typeface="Agrandir"/>
                <a:sym typeface="Agrandir"/>
              </a:rPr>
              <a:t>Diagram berikut membandingkan hasil peramalan harga saham BBCA dari berbagai model dengan data aktual pada periode 2020–2025.</a:t>
            </a:r>
          </a:p>
          <a:p>
            <a:pPr marL="473484" lvl="1" indent="-236742" algn="l">
              <a:lnSpc>
                <a:spcPts val="2938"/>
              </a:lnSpc>
              <a:buFont typeface="Arial"/>
              <a:buChar char="•"/>
            </a:pPr>
            <a:r>
              <a:rPr lang="en-US" sz="2193">
                <a:solidFill>
                  <a:srgbClr val="FFFFFF"/>
                </a:solidFill>
                <a:latin typeface="Agrandir"/>
                <a:ea typeface="Agrandir"/>
                <a:cs typeface="Agrandir"/>
                <a:sym typeface="Agrandir"/>
              </a:rPr>
              <a:t>Garis biru menunjukkan data pelatihan sebelum tahun 2020,</a:t>
            </a:r>
          </a:p>
          <a:p>
            <a:pPr marL="473484" lvl="1" indent="-236742" algn="l">
              <a:lnSpc>
                <a:spcPts val="2938"/>
              </a:lnSpc>
              <a:buFont typeface="Arial"/>
              <a:buChar char="•"/>
            </a:pPr>
            <a:r>
              <a:rPr lang="en-US" sz="2193">
                <a:solidFill>
                  <a:srgbClr val="FFFFFF"/>
                </a:solidFill>
                <a:latin typeface="Agrandir"/>
                <a:ea typeface="Agrandir"/>
                <a:cs typeface="Agrandir"/>
                <a:sym typeface="Agrandir"/>
              </a:rPr>
              <a:t>Garis merah menunjukkan data pengujian (test data) dari tahun 2020 hingga 2025.</a:t>
            </a:r>
          </a:p>
          <a:p>
            <a:pPr marL="473484" lvl="1" indent="-236742" algn="l">
              <a:lnSpc>
                <a:spcPts val="2938"/>
              </a:lnSpc>
              <a:buFont typeface="Arial"/>
              <a:buChar char="•"/>
            </a:pPr>
            <a:r>
              <a:rPr lang="en-US" sz="2193">
                <a:solidFill>
                  <a:srgbClr val="FFFFFF"/>
                </a:solidFill>
                <a:latin typeface="Agrandir"/>
                <a:ea typeface="Agrandir"/>
                <a:cs typeface="Agrandir"/>
                <a:sym typeface="Agrandir"/>
              </a:rPr>
              <a:t>Hasil prediksi dari model ARIMA, SARIMA, SES, Holt Linear, Holt Winters, dan XGBoost ditampilkan dengan warna dan gaya garis yang berbeda.</a:t>
            </a:r>
          </a:p>
        </p:txBody>
      </p:sp>
      <p:grpSp>
        <p:nvGrpSpPr>
          <p:cNvPr id="12" name="Group 12"/>
          <p:cNvGrpSpPr/>
          <p:nvPr/>
        </p:nvGrpSpPr>
        <p:grpSpPr>
          <a:xfrm>
            <a:off x="12255221" y="1814238"/>
            <a:ext cx="5666214" cy="8192727"/>
            <a:chExt cx="1492336" cy="2157755"/>
          </a:xfrm>
        </p:grpSpPr>
        <p:sp>
          <p:nvSpPr>
            <p:cNvPr id="13" name="Freeform 13"/>
            <p:cNvSpPr/>
            <p:nvPr/>
          </p:nvSpPr>
          <p:spPr>
            <a:xfrm>
              <a:off x="0" y="0"/>
              <a:ext cx="1492336" cy="2157755"/>
            </a:xfrm>
            <a:custGeom>
              <a:rect l="l" t="t" r="r" b="b"/>
              <a:pathLst>
                <a:path w="1492336" h="2157755">
                  <a:moveTo>
                    <a:pt x="69683" y="0"/>
                  </a:moveTo>
                  <a:lnTo>
                    <a:pt x="1422653" y="0"/>
                  </a:lnTo>
                  <a:cubicBezTo>
                    <a:pt x="1441134" y="0"/>
                    <a:pt x="1458858" y="7342"/>
                    <a:pt x="1471927" y="20410"/>
                  </a:cubicBezTo>
                  <a:cubicBezTo>
                    <a:pt x="1484995" y="33478"/>
                    <a:pt x="1492336" y="51202"/>
                    <a:pt x="1492336" y="69683"/>
                  </a:cubicBezTo>
                  <a:lnTo>
                    <a:pt x="1492336" y="2088072"/>
                  </a:lnTo>
                  <a:cubicBezTo>
                    <a:pt x="1492336" y="2106553"/>
                    <a:pt x="1484995" y="2124278"/>
                    <a:pt x="1471927" y="2137346"/>
                  </a:cubicBezTo>
                  <a:cubicBezTo>
                    <a:pt x="1458858" y="2150414"/>
                    <a:pt x="1441134" y="2157755"/>
                    <a:pt x="1422653" y="2157755"/>
                  </a:cubicBezTo>
                  <a:lnTo>
                    <a:pt x="69683" y="2157755"/>
                  </a:lnTo>
                  <a:cubicBezTo>
                    <a:pt x="51202" y="2157755"/>
                    <a:pt x="33478" y="2150414"/>
                    <a:pt x="20410" y="2137346"/>
                  </a:cubicBezTo>
                  <a:cubicBezTo>
                    <a:pt x="7342" y="2124278"/>
                    <a:pt x="0" y="2106553"/>
                    <a:pt x="0" y="2088072"/>
                  </a:cubicBezTo>
                  <a:lnTo>
                    <a:pt x="0" y="69683"/>
                  </a:lnTo>
                  <a:cubicBezTo>
                    <a:pt x="0" y="51202"/>
                    <a:pt x="7342" y="33478"/>
                    <a:pt x="20410" y="20410"/>
                  </a:cubicBezTo>
                  <a:cubicBezTo>
                    <a:pt x="33478" y="7342"/>
                    <a:pt x="51202" y="0"/>
                    <a:pt x="69683" y="0"/>
                  </a:cubicBezTo>
                  <a:close/>
                </a:path>
              </a:pathLst>
            </a:custGeom>
            <a:gradFill rotWithShape="1">
              <a:gsLst>
                <a:gs pos="0">
                  <a:srgbClr val="000000">
                    <a:alpha val="100000"/>
                  </a:srgbClr>
                </a:gs>
                <a:gs pos="100000">
                  <a:srgbClr val="740F0F">
                    <a:alpha val="100000"/>
                  </a:srgbClr>
                </a:gs>
              </a:gsLst>
              <a:lin ang="2700000"/>
            </a:gradFill>
          </p:spPr>
          <p:txBody>
            <a:bodyPr/>
            <a:lstStyle/>
            <a:p/>
          </p:txBody>
        </p:sp>
        <p:sp>
          <p:nvSpPr>
            <p:cNvPr id="14" name="TextBox 14"/>
            <p:cNvSpPr txBox="1"/>
            <p:nvPr/>
          </p:nvSpPr>
          <p:spPr>
            <a:xfrm>
              <a:off x="0" y="-85725"/>
              <a:ext cx="1492336" cy="2243480"/>
            </a:xfrm>
            <a:prstGeom prst="rect">
              <a:avLst/>
            </a:prstGeom>
          </p:spPr>
          <p:txBody>
            <a:bodyPr lIns="50800" tIns="50800" rIns="50800" bIns="50800" rtlCol="0" anchor="ctr"/>
            <a:lstStyle/>
            <a:p>
              <a:pPr algn="ctr">
                <a:lnSpc>
                  <a:spcPts val="2679"/>
                </a:lnSpc>
              </a:pPr>
            </a:p>
          </p:txBody>
        </p:sp>
      </p:grpSp>
      <p:sp>
        <p:nvSpPr>
          <p:cNvPr id="15" name="TextBox 15"/>
          <p:cNvSpPr txBox="1"/>
          <p:nvPr/>
        </p:nvSpPr>
        <p:spPr>
          <a:xfrm>
            <a:off x="12379353" y="2357616"/>
            <a:ext cx="5513199" cy="6598807"/>
          </a:xfrm>
          <a:prstGeom prst="rect">
            <a:avLst/>
          </a:prstGeom>
        </p:spPr>
        <p:txBody>
          <a:bodyPr lIns="0" tIns="0" rIns="0" bIns="0" rtlCol="0" anchor="t">
            <a:spAutoFit/>
          </a:bodyPr>
          <a:lstStyle/>
          <a:p>
            <a:pPr algn="l">
              <a:lnSpc>
                <a:spcPts val="2795"/>
              </a:lnSpc>
            </a:pPr>
            <a:r>
              <a:rPr lang="en-US" sz="2086">
                <a:solidFill>
                  <a:srgbClr val="FFFFFF"/>
                </a:solidFill>
                <a:latin typeface="Agrandir"/>
                <a:ea typeface="Agrandir"/>
                <a:cs typeface="Agrandir"/>
                <a:sym typeface="Agrandir"/>
              </a:rPr>
              <a:t>Temuan Utama:</a:t>
            </a:r>
          </a:p>
          <a:p>
            <a:pPr marL="450401" lvl="1" indent="-225200" algn="l">
              <a:lnSpc>
                <a:spcPts val="2795"/>
              </a:lnSpc>
              <a:buFont typeface="Arial"/>
              <a:buChar char="•"/>
            </a:pPr>
            <a:r>
              <a:rPr lang="en-US" sz="2086">
                <a:solidFill>
                  <a:srgbClr val="FFFFFF"/>
                </a:solidFill>
                <a:latin typeface="Agrandir"/>
                <a:ea typeface="Agrandir"/>
                <a:cs typeface="Agrandir"/>
                <a:sym typeface="Agrandir"/>
              </a:rPr>
              <a:t>ARIMA dan SARIMA mampu mengikuti tren umum, namun kurang responsif terhadap fluktuasi tajam dalam data test, seperti lonjakan mendadak akibat pandemi COVID-19 pada tahun 2020.</a:t>
            </a:r>
          </a:p>
          <a:p>
            <a:pPr algn="l">
              <a:lnSpc>
                <a:spcPts val="2795"/>
              </a:lnSpc>
            </a:pPr>
            <a:endParaRPr lang="en-US" sz="2086">
              <a:solidFill>
                <a:srgbClr val="FFFFFF"/>
              </a:solidFill>
              <a:latin typeface="Agrandir"/>
              <a:ea typeface="Agrandir"/>
              <a:cs typeface="Agrandir"/>
              <a:sym typeface="Agrandir"/>
            </a:endParaRPr>
          </a:p>
          <a:p>
            <a:pPr marL="450401" lvl="1" indent="-225200" algn="l">
              <a:lnSpc>
                <a:spcPts val="2795"/>
              </a:lnSpc>
              <a:buFont typeface="Arial"/>
              <a:buChar char="•"/>
            </a:pPr>
            <a:r>
              <a:rPr lang="en-US" sz="2086">
                <a:solidFill>
                  <a:srgbClr val="FFFFFF"/>
                </a:solidFill>
                <a:latin typeface="Agrandir"/>
                <a:ea typeface="Agrandir"/>
                <a:cs typeface="Agrandir"/>
                <a:sym typeface="Agrandir"/>
              </a:rPr>
              <a:t>XGBoost menunjukkan performa lebih baik dalam menangkap pergerakan harga yang cepat dan non-linear, meskipun masih ada penyimpangan kecil di beberapa titik.</a:t>
            </a:r>
          </a:p>
          <a:p>
            <a:pPr algn="l">
              <a:lnSpc>
                <a:spcPts val="2795"/>
              </a:lnSpc>
            </a:pPr>
            <a:endParaRPr lang="en-US" sz="2086">
              <a:solidFill>
                <a:srgbClr val="FFFFFF"/>
              </a:solidFill>
              <a:latin typeface="Agrandir"/>
              <a:ea typeface="Agrandir"/>
              <a:cs typeface="Agrandir"/>
              <a:sym typeface="Agrandir"/>
            </a:endParaRPr>
          </a:p>
          <a:p>
            <a:pPr marL="450401" lvl="1" indent="-225200" algn="l">
              <a:lnSpc>
                <a:spcPts val="2795"/>
              </a:lnSpc>
              <a:buFont typeface="Arial"/>
              <a:buChar char="•"/>
            </a:pPr>
            <a:r>
              <a:rPr lang="en-US" sz="2086">
                <a:solidFill>
                  <a:srgbClr val="FFFFFF"/>
                </a:solidFill>
                <a:latin typeface="Agrandir"/>
                <a:ea typeface="Agrandir"/>
                <a:cs typeface="Agrandir"/>
                <a:sym typeface="Agrandir"/>
              </a:rPr>
              <a:t>SES dan Holt Winters menghasilkan prediksi yang lebih halus dan stabil, cocok untuk data musiman atau tren jangka panjang, tetapi kurang akurat saat terjadi perubahan mendadak.</a:t>
            </a:r>
          </a:p>
          <a:p>
            <a:pPr algn="l">
              <a:lnSpc>
                <a:spcPts val="2795"/>
              </a:lnSpc>
            </a:pPr>
            <a:endParaRPr lang="en-US" sz="2086">
              <a:solidFill>
                <a:srgbClr val="FFFFFF"/>
              </a:solidFill>
              <a:latin typeface="Agrandir"/>
              <a:ea typeface="Agrandir"/>
              <a:cs typeface="Agrandir"/>
              <a:sym typeface="Agrandir"/>
            </a:endParaRPr>
          </a:p>
        </p:txBody>
      </p:sp>
    </p:spTree>
  </p:cSld>
  <p:clrMapOvr>
    <a:masterClrMapping/>
  </p:clrMapOvr>
  <p:transition/>
  <p:timing/>
</p:sld>
</file>

<file path=ppt/slides/slide42.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13625299" y="-4051643"/>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2">
              <a:alphaModFix amt="38000"/>
              <a:extLst>
                <a:ext uri="{96DAC541-7B7A-43D3-8B79-37D633B846F1}">
                  <asvg:svgBlip xmlns:asvg="http://schemas.microsoft.com/office/drawing/2016/SVG/main" r:embed="rId4"/>
                </a:ext>
              </a:extLst>
            </a:blip>
            <a:stretch>
              <a:fillRect/>
            </a:stretch>
          </a:blipFill>
        </p:spPr>
        <p:txBody>
          <a:bodyPr/>
          <a:lstStyle/>
          <a:p/>
        </p:txBody>
      </p:sp>
      <p:grpSp>
        <p:nvGrpSpPr>
          <p:cNvPr id="4" name="Group 4"/>
          <p:cNvGrpSpPr/>
          <p:nvPr/>
        </p:nvGrpSpPr>
        <p:grpSpPr>
          <a:xfrm>
            <a:off x="0" y="0"/>
            <a:ext cx="18329580" cy="10287000"/>
            <a:chExt cx="1063705" cy="596977"/>
          </a:xfrm>
        </p:grpSpPr>
        <p:sp>
          <p:nvSpPr>
            <p:cNvPr id="5" name="Freeform 5"/>
            <p:cNvSpPr/>
            <p:nvPr/>
          </p:nvSpPr>
          <p:spPr>
            <a:xfrm>
              <a:off x="0" y="0"/>
              <a:ext cx="1063705" cy="596977"/>
            </a:xfrm>
            <a:custGeom>
              <a:rect l="l" t="t" r="r" b="b"/>
              <a:pathLst>
                <a:path w="1063705" h="596977">
                  <a:moveTo>
                    <a:pt x="0" y="0"/>
                  </a:moveTo>
                  <a:lnTo>
                    <a:pt x="1063705" y="0"/>
                  </a:lnTo>
                  <a:lnTo>
                    <a:pt x="1063705" y="596977"/>
                  </a:lnTo>
                  <a:lnTo>
                    <a:pt x="0" y="596977"/>
                  </a:lnTo>
                  <a:close/>
                </a:path>
              </a:pathLst>
            </a:custGeom>
            <a:blipFill>
              <a:blip r:embed="rId5"/>
              <a:stretch>
                <a:fillRect t="-83720" b="-83720"/>
              </a:stretch>
            </a:blipFill>
          </p:spPr>
          <p:txBody>
            <a:bodyPr/>
            <a:lstStyle/>
            <a:p/>
          </p:txBody>
        </p:sp>
      </p:grpSp>
      <p:grpSp>
        <p:nvGrpSpPr>
          <p:cNvPr id="6" name="Group 6"/>
          <p:cNvGrpSpPr/>
          <p:nvPr/>
        </p:nvGrpSpPr>
        <p:grpSpPr>
          <a:xfrm>
            <a:off x="1450457" y="1982691"/>
            <a:ext cx="6729930" cy="3053722"/>
            <a:chExt cx="1772492" cy="804273"/>
          </a:xfrm>
        </p:grpSpPr>
        <p:sp>
          <p:nvSpPr>
            <p:cNvPr id="7" name="Freeform 7"/>
            <p:cNvSpPr/>
            <p:nvPr/>
          </p:nvSpPr>
          <p:spPr>
            <a:xfrm>
              <a:off x="0" y="0"/>
              <a:ext cx="1772492" cy="804273"/>
            </a:xfrm>
            <a:custGeom>
              <a:rect l="l" t="t" r="r" b="b"/>
              <a:pathLst>
                <a:path w="1772492" h="804273">
                  <a:moveTo>
                    <a:pt x="0" y="0"/>
                  </a:moveTo>
                  <a:lnTo>
                    <a:pt x="1772492" y="0"/>
                  </a:lnTo>
                  <a:lnTo>
                    <a:pt x="1772492" y="804273"/>
                  </a:lnTo>
                  <a:lnTo>
                    <a:pt x="0" y="804273"/>
                  </a:lnTo>
                  <a:close/>
                </a:path>
              </a:pathLst>
            </a:custGeom>
            <a:solidFill>
              <a:srgbClr val="E85041">
                <a:alpha val="81961"/>
              </a:srgbClr>
            </a:solidFill>
          </p:spPr>
          <p:txBody>
            <a:bodyPr/>
            <a:lstStyle/>
            <a:p/>
          </p:txBody>
        </p:sp>
        <p:sp>
          <p:nvSpPr>
            <p:cNvPr id="8" name="TextBox 8"/>
            <p:cNvSpPr txBox="1"/>
            <p:nvPr/>
          </p:nvSpPr>
          <p:spPr>
            <a:xfrm>
              <a:off x="0" y="-85725"/>
              <a:ext cx="1772492" cy="889998"/>
            </a:xfrm>
            <a:prstGeom prst="rect">
              <a:avLst/>
            </a:prstGeom>
          </p:spPr>
          <p:txBody>
            <a:bodyPr lIns="50800" tIns="50800" rIns="50800" bIns="50800" rtlCol="0" anchor="ctr"/>
            <a:lstStyle/>
            <a:p>
              <a:pPr algn="ctr">
                <a:lnSpc>
                  <a:spcPts val="2679"/>
                </a:lnSpc>
              </a:pPr>
            </a:p>
          </p:txBody>
        </p:sp>
      </p:grpSp>
      <p:grpSp>
        <p:nvGrpSpPr>
          <p:cNvPr id="9" name="Group 9"/>
          <p:cNvGrpSpPr/>
          <p:nvPr/>
        </p:nvGrpSpPr>
        <p:grpSpPr>
          <a:xfrm>
            <a:off x="1510113" y="5733299"/>
            <a:ext cx="6670273" cy="3061263"/>
            <a:chExt cx="1756780" cy="806258"/>
          </a:xfrm>
        </p:grpSpPr>
        <p:sp>
          <p:nvSpPr>
            <p:cNvPr id="10" name="Freeform 10"/>
            <p:cNvSpPr/>
            <p:nvPr/>
          </p:nvSpPr>
          <p:spPr>
            <a:xfrm>
              <a:off x="0" y="0"/>
              <a:ext cx="1756780" cy="806258"/>
            </a:xfrm>
            <a:custGeom>
              <a:rect l="l" t="t" r="r" b="b"/>
              <a:pathLst>
                <a:path w="1756780" h="806258">
                  <a:moveTo>
                    <a:pt x="0" y="0"/>
                  </a:moveTo>
                  <a:lnTo>
                    <a:pt x="1756780" y="0"/>
                  </a:lnTo>
                  <a:lnTo>
                    <a:pt x="1756780" y="806258"/>
                  </a:lnTo>
                  <a:lnTo>
                    <a:pt x="0" y="806258"/>
                  </a:lnTo>
                  <a:close/>
                </a:path>
              </a:pathLst>
            </a:custGeom>
            <a:solidFill>
              <a:srgbClr val="E85041">
                <a:alpha val="86667"/>
              </a:srgbClr>
            </a:solidFill>
          </p:spPr>
          <p:txBody>
            <a:bodyPr/>
            <a:lstStyle/>
            <a:p/>
          </p:txBody>
        </p:sp>
        <p:sp>
          <p:nvSpPr>
            <p:cNvPr id="11" name="TextBox 11"/>
            <p:cNvSpPr txBox="1"/>
            <p:nvPr/>
          </p:nvSpPr>
          <p:spPr>
            <a:xfrm>
              <a:off x="0" y="-85725"/>
              <a:ext cx="1756780" cy="891983"/>
            </a:xfrm>
            <a:prstGeom prst="rect">
              <a:avLst/>
            </a:prstGeom>
          </p:spPr>
          <p:txBody>
            <a:bodyPr lIns="50800" tIns="50800" rIns="50800" bIns="50800" rtlCol="0" anchor="ctr"/>
            <a:lstStyle/>
            <a:p>
              <a:pPr algn="ctr">
                <a:lnSpc>
                  <a:spcPts val="2679"/>
                </a:lnSpc>
              </a:pPr>
            </a:p>
          </p:txBody>
        </p:sp>
      </p:grpSp>
      <p:grpSp>
        <p:nvGrpSpPr>
          <p:cNvPr id="12" name="Group 12"/>
          <p:cNvGrpSpPr/>
          <p:nvPr/>
        </p:nvGrpSpPr>
        <p:grpSpPr>
          <a:xfrm>
            <a:off x="8962503" y="1903592"/>
            <a:ext cx="7089394" cy="3113362"/>
            <a:chExt cx="1867166" cy="819980"/>
          </a:xfrm>
        </p:grpSpPr>
        <p:sp>
          <p:nvSpPr>
            <p:cNvPr id="13" name="Freeform 13"/>
            <p:cNvSpPr/>
            <p:nvPr/>
          </p:nvSpPr>
          <p:spPr>
            <a:xfrm>
              <a:off x="0" y="0"/>
              <a:ext cx="1867166" cy="819980"/>
            </a:xfrm>
            <a:custGeom>
              <a:rect l="l" t="t" r="r" b="b"/>
              <a:pathLst>
                <a:path w="1867166" h="819980">
                  <a:moveTo>
                    <a:pt x="0" y="0"/>
                  </a:moveTo>
                  <a:lnTo>
                    <a:pt x="1867166" y="0"/>
                  </a:lnTo>
                  <a:lnTo>
                    <a:pt x="1867166" y="819980"/>
                  </a:lnTo>
                  <a:lnTo>
                    <a:pt x="0" y="819980"/>
                  </a:lnTo>
                  <a:close/>
                </a:path>
              </a:pathLst>
            </a:custGeom>
            <a:solidFill>
              <a:srgbClr val="E85041">
                <a:alpha val="83922"/>
              </a:srgbClr>
            </a:solidFill>
          </p:spPr>
          <p:txBody>
            <a:bodyPr/>
            <a:lstStyle/>
            <a:p/>
          </p:txBody>
        </p:sp>
        <p:sp>
          <p:nvSpPr>
            <p:cNvPr id="14" name="TextBox 14"/>
            <p:cNvSpPr txBox="1"/>
            <p:nvPr/>
          </p:nvSpPr>
          <p:spPr>
            <a:xfrm>
              <a:off x="0" y="-85725"/>
              <a:ext cx="1867166" cy="905705"/>
            </a:xfrm>
            <a:prstGeom prst="rect">
              <a:avLst/>
            </a:prstGeom>
          </p:spPr>
          <p:txBody>
            <a:bodyPr lIns="50800" tIns="50800" rIns="50800" bIns="50800" rtlCol="0" anchor="ctr"/>
            <a:lstStyle/>
            <a:p>
              <a:pPr algn="ctr">
                <a:lnSpc>
                  <a:spcPts val="2679"/>
                </a:lnSpc>
              </a:pPr>
            </a:p>
          </p:txBody>
        </p:sp>
      </p:grpSp>
      <p:sp>
        <p:nvSpPr>
          <p:cNvPr id="15" name="Freeform 15"/>
          <p:cNvSpPr/>
          <p:nvPr/>
        </p:nvSpPr>
        <p:spPr>
          <a:xfrm>
            <a:off x="7465907" y="4047152"/>
            <a:ext cx="714479" cy="829037"/>
          </a:xfrm>
          <a:custGeom>
            <a:rect l="l" t="t" r="r" b="b"/>
            <a:pathLst>
              <a:path w="714479" h="829036">
                <a:moveTo>
                  <a:pt x="0" y="0"/>
                </a:moveTo>
                <a:lnTo>
                  <a:pt x="714479" y="0"/>
                </a:lnTo>
                <a:lnTo>
                  <a:pt x="714479" y="829038"/>
                </a:lnTo>
                <a:lnTo>
                  <a:pt x="0" y="82903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sp>
        <p:nvSpPr>
          <p:cNvPr id="16" name="TextBox 16"/>
          <p:cNvSpPr txBox="1"/>
          <p:nvPr/>
        </p:nvSpPr>
        <p:spPr>
          <a:xfrm>
            <a:off x="12139631" y="7051332"/>
            <a:ext cx="3252237" cy="348996"/>
          </a:xfrm>
          <a:prstGeom prst="rect">
            <a:avLst/>
          </a:prstGeom>
        </p:spPr>
        <p:txBody>
          <a:bodyPr lIns="0" tIns="0" rIns="0" bIns="0" rtlCol="0" anchor="t">
            <a:spAutoFit/>
          </a:bodyPr>
          <a:lstStyle/>
          <a:p>
            <a:pPr algn="l">
              <a:lnSpc>
                <a:spcPts val="2412"/>
              </a:lnSpc>
            </a:pPr>
            <a:r>
              <a:rPr lang="en-US" sz="1800">
                <a:solidFill>
                  <a:srgbClr val="000000"/>
                </a:solidFill>
                <a:latin typeface="Agrandir"/>
                <a:ea typeface="Agrandir"/>
                <a:cs typeface="Agrandir"/>
                <a:sym typeface="Agrandir"/>
              </a:rPr>
              <a:t>Follow news, study markets</a:t>
            </a:r>
          </a:p>
        </p:txBody>
      </p:sp>
      <p:sp>
        <p:nvSpPr>
          <p:cNvPr id="17" name="TextBox 17"/>
          <p:cNvSpPr txBox="1"/>
          <p:nvPr/>
        </p:nvSpPr>
        <p:spPr>
          <a:xfrm>
            <a:off x="12139631" y="6604735"/>
            <a:ext cx="2223983" cy="383540"/>
          </a:xfrm>
          <a:prstGeom prst="rect">
            <a:avLst/>
          </a:prstGeom>
        </p:spPr>
        <p:txBody>
          <a:bodyPr lIns="0" tIns="0" rIns="0" bIns="0" rtlCol="0" anchor="t">
            <a:spAutoFit/>
          </a:bodyPr>
          <a:lstStyle/>
          <a:p>
            <a:pPr algn="l">
              <a:lnSpc>
                <a:spcPts val="2679"/>
              </a:lnSpc>
            </a:pPr>
            <a:r>
              <a:rPr lang="en-US" sz="1999" b="1">
                <a:solidFill>
                  <a:srgbClr val="000000"/>
                </a:solidFill>
                <a:latin typeface="Agrandir Bold"/>
                <a:ea typeface="Agrandir Bold"/>
                <a:cs typeface="Agrandir Bold"/>
                <a:sym typeface="Agrandir Bold"/>
              </a:rPr>
              <a:t>Stay Informed</a:t>
            </a:r>
          </a:p>
        </p:txBody>
      </p:sp>
      <p:sp>
        <p:nvSpPr>
          <p:cNvPr id="18" name="Freeform 18"/>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p:txBody>
      </p:sp>
      <p:sp>
        <p:nvSpPr>
          <p:cNvPr id="19" name="Freeform 19"/>
          <p:cNvSpPr/>
          <p:nvPr/>
        </p:nvSpPr>
        <p:spPr>
          <a:xfrm rot="5400000" flipH="1" flipV="1">
            <a:off x="16617708" y="8587367"/>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8">
              <a:extLst>
                <a:ext uri="{96DAC541-7B7A-43D3-8B79-37D633B846F1}">
                  <asvg:svgBlip xmlns:asvg="http://schemas.microsoft.com/office/drawing/2016/SVG/main" r:embed="rId10"/>
                </a:ext>
              </a:extLst>
            </a:blip>
            <a:stretch>
              <a:fillRect/>
            </a:stretch>
          </a:blipFill>
        </p:spPr>
        <p:txBody>
          <a:bodyPr/>
          <a:lstStyle/>
          <a:p/>
        </p:txBody>
      </p:sp>
      <p:grpSp>
        <p:nvGrpSpPr>
          <p:cNvPr id="20" name="Group 20"/>
          <p:cNvGrpSpPr/>
          <p:nvPr/>
        </p:nvGrpSpPr>
        <p:grpSpPr>
          <a:xfrm>
            <a:off x="8962503" y="5733299"/>
            <a:ext cx="7333971" cy="3061263"/>
            <a:chExt cx="1931581" cy="806258"/>
          </a:xfrm>
        </p:grpSpPr>
        <p:sp>
          <p:nvSpPr>
            <p:cNvPr id="21" name="Freeform 21"/>
            <p:cNvSpPr/>
            <p:nvPr/>
          </p:nvSpPr>
          <p:spPr>
            <a:xfrm>
              <a:off x="0" y="0"/>
              <a:ext cx="1931581" cy="806258"/>
            </a:xfrm>
            <a:custGeom>
              <a:rect l="l" t="t" r="r" b="b"/>
              <a:pathLst>
                <a:path w="1931580" h="806258">
                  <a:moveTo>
                    <a:pt x="0" y="0"/>
                  </a:moveTo>
                  <a:lnTo>
                    <a:pt x="1931581" y="0"/>
                  </a:lnTo>
                  <a:lnTo>
                    <a:pt x="1931581" y="806258"/>
                  </a:lnTo>
                  <a:lnTo>
                    <a:pt x="0" y="806258"/>
                  </a:lnTo>
                  <a:close/>
                </a:path>
              </a:pathLst>
            </a:custGeom>
            <a:solidFill>
              <a:srgbClr val="E85041">
                <a:alpha val="68627"/>
              </a:srgbClr>
            </a:solidFill>
          </p:spPr>
          <p:txBody>
            <a:bodyPr/>
            <a:lstStyle/>
            <a:p/>
          </p:txBody>
        </p:sp>
        <p:sp>
          <p:nvSpPr>
            <p:cNvPr id="22" name="TextBox 22"/>
            <p:cNvSpPr txBox="1"/>
            <p:nvPr/>
          </p:nvSpPr>
          <p:spPr>
            <a:xfrm>
              <a:off x="0" y="-85725"/>
              <a:ext cx="1931581" cy="891983"/>
            </a:xfrm>
            <a:prstGeom prst="rect">
              <a:avLst/>
            </a:prstGeom>
          </p:spPr>
          <p:txBody>
            <a:bodyPr lIns="50800" tIns="50800" rIns="50800" bIns="50800" rtlCol="0" anchor="ctr"/>
            <a:lstStyle/>
            <a:p>
              <a:pPr algn="ctr">
                <a:lnSpc>
                  <a:spcPts val="2679"/>
                </a:lnSpc>
              </a:pPr>
            </a:p>
          </p:txBody>
        </p:sp>
      </p:grpSp>
      <p:sp>
        <p:nvSpPr>
          <p:cNvPr id="23" name="TextBox 23"/>
          <p:cNvSpPr txBox="1"/>
          <p:nvPr/>
        </p:nvSpPr>
        <p:spPr>
          <a:xfrm>
            <a:off x="4436621" y="705861"/>
            <a:ext cx="9414758" cy="835025"/>
          </a:xfrm>
          <a:prstGeom prst="rect">
            <a:avLst/>
          </a:prstGeom>
        </p:spPr>
        <p:txBody>
          <a:bodyPr lIns="0" tIns="0" rIns="0" bIns="0" rtlCol="0" anchor="t">
            <a:spAutoFit/>
          </a:bodyPr>
          <a:lstStyle/>
          <a:p>
            <a:pPr algn="ctr">
              <a:lnSpc>
                <a:spcPts val="5350"/>
              </a:lnSpc>
            </a:pPr>
            <a:r>
              <a:rPr lang="en-US" sz="5000" b="1">
                <a:solidFill>
                  <a:srgbClr val="FFFFFF"/>
                </a:solidFill>
                <a:latin typeface="Agrandir Bold"/>
                <a:ea typeface="Agrandir Bold"/>
                <a:cs typeface="Agrandir Bold"/>
                <a:sym typeface="Agrandir Bold"/>
              </a:rPr>
              <a:t>Visualisasi Hasil Prediksi</a:t>
            </a:r>
          </a:p>
        </p:txBody>
      </p:sp>
      <p:sp>
        <p:nvSpPr>
          <p:cNvPr id="24" name="TextBox 24"/>
          <p:cNvSpPr txBox="1"/>
          <p:nvPr/>
        </p:nvSpPr>
        <p:spPr>
          <a:xfrm>
            <a:off x="2524349" y="3310279"/>
            <a:ext cx="4543404" cy="1584961"/>
          </a:xfrm>
          <a:prstGeom prst="rect">
            <a:avLst/>
          </a:prstGeom>
        </p:spPr>
        <p:txBody>
          <a:bodyPr lIns="0" tIns="0" rIns="0" bIns="0" rtlCol="0" anchor="t">
            <a:spAutoFit/>
          </a:bodyPr>
          <a:lstStyle/>
          <a:p>
            <a:pPr algn="ctr">
              <a:lnSpc>
                <a:spcPts val="4019"/>
              </a:lnSpc>
            </a:pPr>
            <a:r>
              <a:rPr lang="en-US" sz="2999">
                <a:solidFill>
                  <a:srgbClr val="FFFFFF"/>
                </a:solidFill>
                <a:latin typeface="Agrandir"/>
                <a:ea typeface="Agrandir"/>
                <a:cs typeface="Agrandir"/>
                <a:sym typeface="Agrandir"/>
              </a:rPr>
              <a:t>sesuai tren historis, kurang akurat pasca 2024.</a:t>
            </a:r>
          </a:p>
        </p:txBody>
      </p:sp>
      <p:sp>
        <p:nvSpPr>
          <p:cNvPr id="25" name="TextBox 25"/>
          <p:cNvSpPr txBox="1"/>
          <p:nvPr/>
        </p:nvSpPr>
        <p:spPr>
          <a:xfrm>
            <a:off x="10469339" y="2089429"/>
            <a:ext cx="4075722" cy="698183"/>
          </a:xfrm>
          <a:prstGeom prst="rect">
            <a:avLst/>
          </a:prstGeom>
        </p:spPr>
        <p:txBody>
          <a:bodyPr lIns="0" tIns="0" rIns="0" bIns="0" rtlCol="0" anchor="t">
            <a:spAutoFit/>
          </a:bodyPr>
          <a:lstStyle/>
          <a:p>
            <a:pPr algn="l">
              <a:lnSpc>
                <a:spcPts val="4911"/>
              </a:lnSpc>
            </a:pPr>
            <a:r>
              <a:rPr lang="en-US" sz="3665" b="1">
                <a:solidFill>
                  <a:srgbClr val="FFFFFF"/>
                </a:solidFill>
                <a:latin typeface="Agrandir Bold"/>
                <a:ea typeface="Agrandir Bold"/>
                <a:cs typeface="Agrandir Bold"/>
                <a:sym typeface="Agrandir Bold"/>
              </a:rPr>
              <a:t>SES Alpha Variasi</a:t>
            </a:r>
          </a:p>
        </p:txBody>
      </p:sp>
      <p:sp>
        <p:nvSpPr>
          <p:cNvPr id="26" name="TextBox 26"/>
          <p:cNvSpPr txBox="1"/>
          <p:nvPr/>
        </p:nvSpPr>
        <p:spPr>
          <a:xfrm>
            <a:off x="1583130" y="2128031"/>
            <a:ext cx="6464582" cy="1189102"/>
          </a:xfrm>
          <a:prstGeom prst="rect">
            <a:avLst/>
          </a:prstGeom>
        </p:spPr>
        <p:txBody>
          <a:bodyPr lIns="0" tIns="0" rIns="0" bIns="0" rtlCol="0" anchor="t">
            <a:spAutoFit/>
          </a:bodyPr>
          <a:lstStyle/>
          <a:p>
            <a:pPr algn="ctr">
              <a:lnSpc>
                <a:spcPts val="4421"/>
              </a:lnSpc>
            </a:pPr>
            <a:r>
              <a:rPr lang="en-US" sz="3299" b="1">
                <a:solidFill>
                  <a:srgbClr val="FFFFFF"/>
                </a:solidFill>
                <a:latin typeface="Agrandir Bold"/>
                <a:ea typeface="Agrandir Bold"/>
                <a:cs typeface="Agrandir Bold"/>
                <a:sym typeface="Agrandir Bold"/>
              </a:rPr>
              <a:t>Forecast SARIMA vs Data Aktual:</a:t>
            </a:r>
          </a:p>
        </p:txBody>
      </p:sp>
      <p:sp>
        <p:nvSpPr>
          <p:cNvPr id="27" name="TextBox 27"/>
          <p:cNvSpPr txBox="1"/>
          <p:nvPr/>
        </p:nvSpPr>
        <p:spPr>
          <a:xfrm>
            <a:off x="9742978" y="2663787"/>
            <a:ext cx="5528444" cy="2089786"/>
          </a:xfrm>
          <a:prstGeom prst="rect">
            <a:avLst/>
          </a:prstGeom>
        </p:spPr>
        <p:txBody>
          <a:bodyPr lIns="0" tIns="0" rIns="0" bIns="0" rtlCol="0" anchor="t">
            <a:spAutoFit/>
          </a:bodyPr>
          <a:lstStyle/>
          <a:p>
            <a:pPr algn="ctr">
              <a:lnSpc>
                <a:spcPts val="4019"/>
              </a:lnSpc>
            </a:pPr>
            <a:r>
              <a:rPr lang="en-US" sz="2999">
                <a:solidFill>
                  <a:srgbClr val="FFFFFF"/>
                </a:solidFill>
                <a:latin typeface="Agrandir"/>
                <a:ea typeface="Agrandir"/>
                <a:cs typeface="Agrandir"/>
                <a:sym typeface="Agrandir"/>
              </a:rPr>
              <a:t>alpha tinggi lebih responsif terhadap voltalitas harga, alpha rendah lebih stabil(cocok untuk longterm.</a:t>
            </a:r>
          </a:p>
        </p:txBody>
      </p:sp>
      <p:sp>
        <p:nvSpPr>
          <p:cNvPr id="28" name="TextBox 28"/>
          <p:cNvSpPr txBox="1"/>
          <p:nvPr/>
        </p:nvSpPr>
        <p:spPr>
          <a:xfrm>
            <a:off x="3042154" y="5827535"/>
            <a:ext cx="4075722" cy="1325482"/>
          </a:xfrm>
          <a:prstGeom prst="rect">
            <a:avLst/>
          </a:prstGeom>
        </p:spPr>
        <p:txBody>
          <a:bodyPr lIns="0" tIns="0" rIns="0" bIns="0" rtlCol="0" anchor="t">
            <a:spAutoFit/>
          </a:bodyPr>
          <a:lstStyle/>
          <a:p>
            <a:pPr algn="ctr">
              <a:lnSpc>
                <a:spcPts val="4911"/>
              </a:lnSpc>
            </a:pPr>
            <a:r>
              <a:rPr lang="en-US" sz="3665" b="1">
                <a:solidFill>
                  <a:srgbClr val="FFFFFF"/>
                </a:solidFill>
                <a:latin typeface="Agrandir Bold"/>
                <a:ea typeface="Agrandir Bold"/>
                <a:cs typeface="Agrandir Bold"/>
                <a:sym typeface="Agrandir Bold"/>
              </a:rPr>
              <a:t>Holt Linear &amp; Holt Winters</a:t>
            </a:r>
          </a:p>
        </p:txBody>
      </p:sp>
      <p:sp>
        <p:nvSpPr>
          <p:cNvPr id="29" name="TextBox 29"/>
          <p:cNvSpPr txBox="1"/>
          <p:nvPr/>
        </p:nvSpPr>
        <p:spPr>
          <a:xfrm>
            <a:off x="2052809" y="7140105"/>
            <a:ext cx="5789387" cy="1584961"/>
          </a:xfrm>
          <a:prstGeom prst="rect">
            <a:avLst/>
          </a:prstGeom>
        </p:spPr>
        <p:txBody>
          <a:bodyPr lIns="0" tIns="0" rIns="0" bIns="0" rtlCol="0" anchor="t">
            <a:spAutoFit/>
          </a:bodyPr>
          <a:lstStyle/>
          <a:p>
            <a:pPr algn="ctr">
              <a:lnSpc>
                <a:spcPts val="4019"/>
              </a:lnSpc>
            </a:pPr>
            <a:r>
              <a:rPr lang="en-US" sz="2999">
                <a:solidFill>
                  <a:srgbClr val="FFFFFF"/>
                </a:solidFill>
                <a:latin typeface="Agrandir"/>
                <a:ea typeface="Agrandir"/>
                <a:cs typeface="Agrandir"/>
                <a:sym typeface="Agrandir"/>
              </a:rPr>
              <a:t>menangkap tren, namun tidak adaptif saat pandemi.</a:t>
            </a:r>
          </a:p>
          <a:p>
            <a:pPr algn="ctr">
              <a:lnSpc>
                <a:spcPts val="4019"/>
              </a:lnSpc>
            </a:pPr>
            <a:endParaRPr lang="en-US" sz="2999">
              <a:solidFill>
                <a:srgbClr val="FFFFFF"/>
              </a:solidFill>
              <a:latin typeface="Agrandir"/>
              <a:ea typeface="Agrandir"/>
              <a:cs typeface="Agrandir"/>
              <a:sym typeface="Agrandir"/>
            </a:endParaRPr>
          </a:p>
        </p:txBody>
      </p:sp>
      <p:sp>
        <p:nvSpPr>
          <p:cNvPr id="30" name="TextBox 30"/>
          <p:cNvSpPr txBox="1"/>
          <p:nvPr/>
        </p:nvSpPr>
        <p:spPr>
          <a:xfrm>
            <a:off x="10640627" y="5888694"/>
            <a:ext cx="4075722" cy="706357"/>
          </a:xfrm>
          <a:prstGeom prst="rect">
            <a:avLst/>
          </a:prstGeom>
        </p:spPr>
        <p:txBody>
          <a:bodyPr lIns="0" tIns="0" rIns="0" bIns="0" rtlCol="0" anchor="t">
            <a:spAutoFit/>
          </a:bodyPr>
          <a:lstStyle/>
          <a:p>
            <a:pPr algn="ctr">
              <a:lnSpc>
                <a:spcPts val="4911"/>
              </a:lnSpc>
            </a:pPr>
            <a:r>
              <a:rPr lang="en-US" sz="3665" b="1">
                <a:solidFill>
                  <a:srgbClr val="FFFFFF"/>
                </a:solidFill>
                <a:latin typeface="Agrandir Bold"/>
                <a:ea typeface="Agrandir Bold"/>
                <a:cs typeface="Agrandir Bold"/>
                <a:sym typeface="Agrandir Bold"/>
              </a:rPr>
              <a:t>XGBoost</a:t>
            </a:r>
          </a:p>
        </p:txBody>
      </p:sp>
      <p:sp>
        <p:nvSpPr>
          <p:cNvPr id="31" name="TextBox 31"/>
          <p:cNvSpPr txBox="1"/>
          <p:nvPr/>
        </p:nvSpPr>
        <p:spPr>
          <a:xfrm>
            <a:off x="10386361" y="6772017"/>
            <a:ext cx="4543404" cy="1584961"/>
          </a:xfrm>
          <a:prstGeom prst="rect">
            <a:avLst/>
          </a:prstGeom>
        </p:spPr>
        <p:txBody>
          <a:bodyPr lIns="0" tIns="0" rIns="0" bIns="0" rtlCol="0" anchor="t">
            <a:spAutoFit/>
          </a:bodyPr>
          <a:lstStyle/>
          <a:p>
            <a:pPr algn="ctr">
              <a:lnSpc>
                <a:spcPts val="4019"/>
              </a:lnSpc>
            </a:pPr>
            <a:r>
              <a:rPr lang="en-US" sz="2999">
                <a:solidFill>
                  <a:srgbClr val="FFFFFF"/>
                </a:solidFill>
                <a:latin typeface="Agrandir"/>
                <a:ea typeface="Agrandir"/>
                <a:cs typeface="Agrandir"/>
                <a:sym typeface="Agrandir"/>
              </a:rPr>
              <a:t>prediksi paling mendekati data aktual di semua periode.</a:t>
            </a:r>
          </a:p>
        </p:txBody>
      </p:sp>
    </p:spTree>
  </p:cSld>
  <p:clrMapOvr>
    <a:masterClrMapping/>
  </p:clrMapOvr>
  <p:transition/>
  <p:timing/>
</p:sld>
</file>

<file path=ppt/slides/slide43.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TextBox 2"/>
          <p:cNvSpPr txBox="1"/>
          <p:nvPr/>
        </p:nvSpPr>
        <p:spPr>
          <a:xfrm>
            <a:off x="10925759" y="4400009"/>
            <a:ext cx="2167509" cy="383540"/>
          </a:xfrm>
          <a:prstGeom prst="rect">
            <a:avLst/>
          </a:prstGeom>
        </p:spPr>
        <p:txBody>
          <a:bodyPr lIns="0" tIns="0" rIns="0" bIns="0" rtlCol="0" anchor="t">
            <a:spAutoFit/>
          </a:bodyPr>
          <a:lstStyle/>
          <a:p>
            <a:pPr algn="ctr">
              <a:lnSpc>
                <a:spcPts val="2679"/>
              </a:lnSpc>
            </a:pPr>
            <a:r>
              <a:rPr lang="en-US" sz="1999" b="1">
                <a:solidFill>
                  <a:srgbClr val="000000"/>
                </a:solidFill>
                <a:latin typeface="Agrandir Bold"/>
                <a:ea typeface="Agrandir Bold"/>
                <a:cs typeface="Agrandir Bold"/>
                <a:sym typeface="Agrandir Bold"/>
              </a:rPr>
              <a:t>Trading</a:t>
            </a:r>
          </a:p>
        </p:txBody>
      </p:sp>
      <p:sp>
        <p:nvSpPr>
          <p:cNvPr id="3" name="Freeform 3"/>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p:txBody>
      </p:sp>
      <p:grpSp>
        <p:nvGrpSpPr>
          <p:cNvPr id="4" name="Group 4"/>
          <p:cNvGrpSpPr/>
          <p:nvPr/>
        </p:nvGrpSpPr>
        <p:grpSpPr>
          <a:xfrm>
            <a:off x="-699280" y="-404104"/>
            <a:ext cx="19570219" cy="11095207"/>
            <a:chExt cx="3031939" cy="1718938"/>
          </a:xfrm>
        </p:grpSpPr>
        <p:sp>
          <p:nvSpPr>
            <p:cNvPr id="5" name="Freeform 5"/>
            <p:cNvSpPr/>
            <p:nvPr/>
          </p:nvSpPr>
          <p:spPr>
            <a:xfrm>
              <a:off x="0" y="0"/>
              <a:ext cx="3031939" cy="1718938"/>
            </a:xfrm>
            <a:custGeom>
              <a:rect l="l" t="t" r="r" b="b"/>
              <a:pathLst>
                <a:path w="3031939" h="1718937">
                  <a:moveTo>
                    <a:pt x="0" y="0"/>
                  </a:moveTo>
                  <a:lnTo>
                    <a:pt x="3031939" y="0"/>
                  </a:lnTo>
                  <a:lnTo>
                    <a:pt x="3031939" y="1718938"/>
                  </a:lnTo>
                  <a:lnTo>
                    <a:pt x="0" y="1718938"/>
                  </a:lnTo>
                  <a:close/>
                </a:path>
              </a:pathLst>
            </a:custGeom>
            <a:blipFill>
              <a:blip r:embed="rId4">
                <a:alphaModFix amt="48000"/>
              </a:blip>
              <a:stretch>
                <a:fillRect l="-18991" t="-19916" r="0" b="-19916"/>
              </a:stretch>
            </a:blipFill>
          </p:spPr>
          <p:txBody>
            <a:bodyPr/>
            <a:lstStyle/>
            <a:p/>
          </p:txBody>
        </p:sp>
      </p:grpSp>
      <p:sp>
        <p:nvSpPr>
          <p:cNvPr id="6" name="Freeform 6"/>
          <p:cNvSpPr/>
          <p:nvPr/>
        </p:nvSpPr>
        <p:spPr>
          <a:xfrm rot="5400000" flipH="1" flipV="1">
            <a:off x="16617708" y="8587367"/>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2">
              <a:extLst>
                <a:ext uri="{96DAC541-7B7A-43D3-8B79-37D633B846F1}">
                  <asvg:svgBlip xmlns:asvg="http://schemas.microsoft.com/office/drawing/2016/SVG/main" r:embed="rId5"/>
                </a:ext>
              </a:extLst>
            </a:blip>
            <a:stretch>
              <a:fillRect/>
            </a:stretch>
          </a:blipFill>
        </p:spPr>
        <p:txBody>
          <a:bodyPr/>
          <a:lstStyle/>
          <a:p/>
        </p:txBody>
      </p:sp>
      <p:sp>
        <p:nvSpPr>
          <p:cNvPr id="7" name="Freeform 7"/>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6">
              <a:alphaModFix amt="38000"/>
              <a:extLst>
                <a:ext uri="{96DAC541-7B7A-43D3-8B79-37D633B846F1}">
                  <asvg:svgBlip xmlns:asvg="http://schemas.microsoft.com/office/drawing/2016/SVG/main" r:embed="rId7"/>
                </a:ext>
              </a:extLst>
            </a:blip>
            <a:stretch>
              <a:fillRect/>
            </a:stretch>
          </a:blipFill>
        </p:spPr>
        <p:txBody>
          <a:bodyPr/>
          <a:lstStyle/>
          <a:p/>
        </p:txBody>
      </p:sp>
      <p:sp>
        <p:nvSpPr>
          <p:cNvPr id="8" name="Freeform 8"/>
          <p:cNvSpPr/>
          <p:nvPr/>
        </p:nvSpPr>
        <p:spPr>
          <a:xfrm>
            <a:off x="-3850612" y="-2435861"/>
            <a:ext cx="9446368" cy="9446368"/>
          </a:xfrm>
          <a:custGeom>
            <a:rect l="l" t="t" r="r" b="b"/>
            <a:pathLst>
              <a:path w="9446368" h="9446368">
                <a:moveTo>
                  <a:pt x="0" y="0"/>
                </a:moveTo>
                <a:lnTo>
                  <a:pt x="9446367" y="0"/>
                </a:lnTo>
                <a:lnTo>
                  <a:pt x="9446367" y="9446368"/>
                </a:lnTo>
                <a:lnTo>
                  <a:pt x="0" y="9446368"/>
                </a:lnTo>
                <a:lnTo>
                  <a:pt x="0" y="0"/>
                </a:lnTo>
                <a:close/>
              </a:path>
            </a:pathLst>
          </a:custGeom>
          <a:blipFill>
            <a:blip r:embed="rId6">
              <a:alphaModFix amt="38000"/>
              <a:extLst>
                <a:ext uri="{96DAC541-7B7A-43D3-8B79-37D633B846F1}">
                  <asvg:svgBlip xmlns:asvg="http://schemas.microsoft.com/office/drawing/2016/SVG/main" r:embed="rId8"/>
                </a:ext>
              </a:extLst>
            </a:blip>
            <a:stretch>
              <a:fillRect/>
            </a:stretch>
          </a:blipFill>
        </p:spPr>
        <p:txBody>
          <a:bodyPr/>
          <a:lstStyle/>
          <a:p/>
        </p:txBody>
      </p:sp>
      <p:grpSp>
        <p:nvGrpSpPr>
          <p:cNvPr id="9" name="Group 9"/>
          <p:cNvGrpSpPr/>
          <p:nvPr/>
        </p:nvGrpSpPr>
        <p:grpSpPr>
          <a:xfrm>
            <a:off x="2089487" y="1877799"/>
            <a:ext cx="14688400" cy="7948708"/>
            <a:chExt cx="3868550" cy="2093487"/>
          </a:xfrm>
        </p:grpSpPr>
        <p:sp>
          <p:nvSpPr>
            <p:cNvPr id="10" name="Freeform 10"/>
            <p:cNvSpPr/>
            <p:nvPr/>
          </p:nvSpPr>
          <p:spPr>
            <a:xfrm>
              <a:off x="0" y="0"/>
              <a:ext cx="3868550" cy="2093487"/>
            </a:xfrm>
            <a:custGeom>
              <a:rect l="l" t="t" r="r" b="b"/>
              <a:pathLst>
                <a:path w="3868549" h="2093487">
                  <a:moveTo>
                    <a:pt x="0" y="0"/>
                  </a:moveTo>
                  <a:lnTo>
                    <a:pt x="3868550" y="0"/>
                  </a:lnTo>
                  <a:lnTo>
                    <a:pt x="3868550" y="2093487"/>
                  </a:lnTo>
                  <a:lnTo>
                    <a:pt x="0" y="2093487"/>
                  </a:lnTo>
                  <a:close/>
                </a:path>
              </a:pathLst>
            </a:custGeom>
            <a:solidFill>
              <a:srgbClr val="E85041">
                <a:alpha val="62745"/>
              </a:srgbClr>
            </a:solidFill>
          </p:spPr>
          <p:txBody>
            <a:bodyPr/>
            <a:lstStyle/>
            <a:p/>
          </p:txBody>
        </p:sp>
        <p:sp>
          <p:nvSpPr>
            <p:cNvPr id="11" name="TextBox 11"/>
            <p:cNvSpPr txBox="1"/>
            <p:nvPr/>
          </p:nvSpPr>
          <p:spPr>
            <a:xfrm>
              <a:off x="0" y="-85725"/>
              <a:ext cx="3868550" cy="2179212"/>
            </a:xfrm>
            <a:prstGeom prst="rect">
              <a:avLst/>
            </a:prstGeom>
          </p:spPr>
          <p:txBody>
            <a:bodyPr lIns="50800" tIns="50800" rIns="50800" bIns="50800" rtlCol="0" anchor="ctr"/>
            <a:lstStyle/>
            <a:p>
              <a:pPr algn="ctr">
                <a:lnSpc>
                  <a:spcPts val="2679"/>
                </a:lnSpc>
              </a:pPr>
            </a:p>
          </p:txBody>
        </p:sp>
      </p:grpSp>
      <p:grpSp>
        <p:nvGrpSpPr>
          <p:cNvPr id="12" name="Group 12"/>
          <p:cNvGrpSpPr/>
          <p:nvPr/>
        </p:nvGrpSpPr>
        <p:grpSpPr>
          <a:xfrm>
            <a:off x="3485882" y="7746242"/>
            <a:ext cx="11629587" cy="2335743"/>
            <a:chExt cx="3062936" cy="615175"/>
          </a:xfrm>
        </p:grpSpPr>
        <p:sp>
          <p:nvSpPr>
            <p:cNvPr id="13" name="Freeform 13"/>
            <p:cNvSpPr/>
            <p:nvPr/>
          </p:nvSpPr>
          <p:spPr>
            <a:xfrm>
              <a:off x="0" y="0"/>
              <a:ext cx="3062936" cy="615175"/>
            </a:xfrm>
            <a:custGeom>
              <a:rect l="l" t="t" r="r" b="b"/>
              <a:pathLst>
                <a:path w="3062936" h="615175">
                  <a:moveTo>
                    <a:pt x="33951" y="0"/>
                  </a:moveTo>
                  <a:lnTo>
                    <a:pt x="3028985" y="0"/>
                  </a:lnTo>
                  <a:cubicBezTo>
                    <a:pt x="3047736" y="0"/>
                    <a:pt x="3062936" y="15200"/>
                    <a:pt x="3062936" y="33951"/>
                  </a:cubicBezTo>
                  <a:lnTo>
                    <a:pt x="3062936" y="581224"/>
                  </a:lnTo>
                  <a:cubicBezTo>
                    <a:pt x="3062936" y="590229"/>
                    <a:pt x="3059360" y="598864"/>
                    <a:pt x="3052993" y="605231"/>
                  </a:cubicBezTo>
                  <a:cubicBezTo>
                    <a:pt x="3046625" y="611598"/>
                    <a:pt x="3037990" y="615175"/>
                    <a:pt x="3028985" y="615175"/>
                  </a:cubicBezTo>
                  <a:lnTo>
                    <a:pt x="33951" y="615175"/>
                  </a:lnTo>
                  <a:cubicBezTo>
                    <a:pt x="24947" y="615175"/>
                    <a:pt x="16311" y="611598"/>
                    <a:pt x="9944" y="605231"/>
                  </a:cubicBezTo>
                  <a:cubicBezTo>
                    <a:pt x="3577" y="598864"/>
                    <a:pt x="0" y="590229"/>
                    <a:pt x="0" y="581224"/>
                  </a:cubicBezTo>
                  <a:lnTo>
                    <a:pt x="0" y="33951"/>
                  </a:lnTo>
                  <a:cubicBezTo>
                    <a:pt x="0" y="24947"/>
                    <a:pt x="3577" y="16311"/>
                    <a:pt x="9944" y="9944"/>
                  </a:cubicBezTo>
                  <a:cubicBezTo>
                    <a:pt x="16311" y="3577"/>
                    <a:pt x="24947" y="0"/>
                    <a:pt x="33951" y="0"/>
                  </a:cubicBezTo>
                  <a:close/>
                </a:path>
              </a:pathLst>
            </a:custGeom>
            <a:gradFill rotWithShape="1">
              <a:gsLst>
                <a:gs pos="0">
                  <a:srgbClr val="000000">
                    <a:alpha val="70000"/>
                  </a:srgbClr>
                </a:gs>
                <a:gs pos="100000">
                  <a:srgbClr val="740F0F">
                    <a:alpha val="70000"/>
                  </a:srgbClr>
                </a:gs>
              </a:gsLst>
              <a:lin ang="5400000"/>
            </a:gradFill>
          </p:spPr>
          <p:txBody>
            <a:bodyPr/>
            <a:lstStyle/>
            <a:p/>
          </p:txBody>
        </p:sp>
        <p:sp>
          <p:nvSpPr>
            <p:cNvPr id="14" name="TextBox 14"/>
            <p:cNvSpPr txBox="1"/>
            <p:nvPr/>
          </p:nvSpPr>
          <p:spPr>
            <a:xfrm>
              <a:off x="0" y="-85725"/>
              <a:ext cx="3062936" cy="700900"/>
            </a:xfrm>
            <a:prstGeom prst="rect">
              <a:avLst/>
            </a:prstGeom>
          </p:spPr>
          <p:txBody>
            <a:bodyPr lIns="50800" tIns="50800" rIns="50800" bIns="50800" rtlCol="0" anchor="ctr"/>
            <a:lstStyle/>
            <a:p>
              <a:pPr algn="ctr">
                <a:lnSpc>
                  <a:spcPts val="2679"/>
                </a:lnSpc>
              </a:pPr>
            </a:p>
          </p:txBody>
        </p:sp>
      </p:grpSp>
      <p:grpSp>
        <p:nvGrpSpPr>
          <p:cNvPr id="15" name="Group 15"/>
          <p:cNvGrpSpPr/>
          <p:nvPr/>
        </p:nvGrpSpPr>
        <p:grpSpPr>
          <a:xfrm>
            <a:off x="3485882" y="2781703"/>
            <a:ext cx="8193667" cy="4869289"/>
            <a:chExt cx="1918859" cy="1140330"/>
          </a:xfrm>
        </p:grpSpPr>
        <p:sp>
          <p:nvSpPr>
            <p:cNvPr id="16" name="Freeform 16"/>
            <p:cNvSpPr/>
            <p:nvPr/>
          </p:nvSpPr>
          <p:spPr>
            <a:xfrm>
              <a:off x="0" y="0"/>
              <a:ext cx="1918859" cy="1140330"/>
            </a:xfrm>
            <a:custGeom>
              <a:rect l="l" t="t" r="r" b="b"/>
              <a:pathLst>
                <a:path w="1918859" h="1140330">
                  <a:moveTo>
                    <a:pt x="0" y="0"/>
                  </a:moveTo>
                  <a:lnTo>
                    <a:pt x="1918859" y="0"/>
                  </a:lnTo>
                  <a:lnTo>
                    <a:pt x="1918859" y="1140330"/>
                  </a:lnTo>
                  <a:lnTo>
                    <a:pt x="0" y="1140330"/>
                  </a:lnTo>
                  <a:close/>
                </a:path>
              </a:pathLst>
            </a:custGeom>
            <a:blipFill>
              <a:blip r:embed="rId9"/>
              <a:stretch>
                <a:fillRect l="-1676" r="-1676"/>
              </a:stretch>
            </a:blipFill>
          </p:spPr>
          <p:txBody>
            <a:bodyPr/>
            <a:lstStyle/>
            <a:p/>
          </p:txBody>
        </p:sp>
      </p:grpSp>
      <p:sp>
        <p:nvSpPr>
          <p:cNvPr id="17" name="TextBox 17"/>
          <p:cNvSpPr txBox="1"/>
          <p:nvPr/>
        </p:nvSpPr>
        <p:spPr>
          <a:xfrm>
            <a:off x="3780480" y="7773871"/>
            <a:ext cx="11363563" cy="2136111"/>
          </a:xfrm>
          <a:prstGeom prst="rect">
            <a:avLst/>
          </a:prstGeom>
        </p:spPr>
        <p:txBody>
          <a:bodyPr lIns="0" tIns="0" rIns="0" bIns="0" rtlCol="0" anchor="t">
            <a:spAutoFit/>
          </a:bodyPr>
          <a:lstStyle/>
          <a:p>
            <a:pPr marL="663476" lvl="1" indent="-331738" algn="ctr">
              <a:lnSpc>
                <a:spcPts val="4117"/>
              </a:lnSpc>
              <a:buFont typeface="Arial"/>
              <a:buChar char="•"/>
            </a:pPr>
            <a:r>
              <a:rPr lang="en-US" sz="3073">
                <a:solidFill>
                  <a:srgbClr val="FFFFFF"/>
                </a:solidFill>
                <a:latin typeface="Agrandir"/>
                <a:ea typeface="Agrandir"/>
                <a:cs typeface="Agrandir"/>
                <a:sym typeface="Agrandir"/>
              </a:rPr>
              <a:t>Menunjukkan error dalam bentuk persentase.</a:t>
            </a:r>
          </a:p>
          <a:p>
            <a:pPr marL="663476" lvl="1" indent="-331738" algn="ctr">
              <a:lnSpc>
                <a:spcPts val="4117"/>
              </a:lnSpc>
              <a:buFont typeface="Arial"/>
              <a:buChar char="•"/>
            </a:pPr>
            <a:r>
              <a:rPr lang="en-US" sz="3073">
                <a:solidFill>
                  <a:srgbClr val="FFFFFF"/>
                </a:solidFill>
                <a:latin typeface="Agrandir"/>
                <a:ea typeface="Agrandir"/>
                <a:cs typeface="Agrandir"/>
                <a:sym typeface="Agrandir"/>
              </a:rPr>
              <a:t>Cocok untuk presentasi ke stakeholder non-teknis.</a:t>
            </a:r>
          </a:p>
          <a:p>
            <a:pPr marL="663476" lvl="1" indent="-331738" algn="ctr">
              <a:lnSpc>
                <a:spcPts val="4117"/>
              </a:lnSpc>
              <a:buFont typeface="Arial"/>
              <a:buChar char="•"/>
            </a:pPr>
            <a:r>
              <a:rPr lang="en-US" sz="3073">
                <a:solidFill>
                  <a:srgbClr val="FFFFFF"/>
                </a:solidFill>
                <a:latin typeface="Agrandir"/>
                <a:ea typeface="Agrandir"/>
                <a:cs typeface="Agrandir"/>
                <a:sym typeface="Agrandir"/>
              </a:rPr>
              <a:t>Best Model based on MAPE:</a:t>
            </a:r>
          </a:p>
          <a:p>
            <a:pPr marL="663476" lvl="1" indent="-331738" algn="ctr">
              <a:lnSpc>
                <a:spcPts val="4117"/>
              </a:lnSpc>
              <a:buFont typeface="Arial"/>
              <a:buChar char="•"/>
            </a:pPr>
            <a:r>
              <a:rPr lang="en-US" sz="3073">
                <a:solidFill>
                  <a:srgbClr val="FFFFFF"/>
                </a:solidFill>
                <a:latin typeface="Agrandir"/>
                <a:ea typeface="Agrandir"/>
                <a:cs typeface="Agrandir"/>
                <a:sym typeface="Agrandir"/>
              </a:rPr>
              <a:t>XGBoost with MAPE: 0.018042992183011763</a:t>
            </a:r>
          </a:p>
        </p:txBody>
      </p:sp>
      <p:grpSp>
        <p:nvGrpSpPr>
          <p:cNvPr id="18" name="Group 18"/>
          <p:cNvGrpSpPr/>
          <p:nvPr/>
        </p:nvGrpSpPr>
        <p:grpSpPr>
          <a:xfrm>
            <a:off x="11998164" y="2863370"/>
            <a:ext cx="2940193" cy="4825722"/>
            <a:chExt cx="3920258" cy="6434296"/>
          </a:xfrm>
        </p:grpSpPr>
        <p:sp>
          <p:nvSpPr>
            <p:cNvPr id="19" name="Freeform 19"/>
            <p:cNvSpPr/>
            <p:nvPr/>
          </p:nvSpPr>
          <p:spPr>
            <a:xfrm>
              <a:off x="0" y="0"/>
              <a:ext cx="2667402" cy="6434296"/>
            </a:xfrm>
            <a:custGeom>
              <a:rect l="l" t="t" r="r" b="b"/>
              <a:pathLst>
                <a:path w="2667402" h="6434296">
                  <a:moveTo>
                    <a:pt x="0" y="0"/>
                  </a:moveTo>
                  <a:lnTo>
                    <a:pt x="2667402" y="0"/>
                  </a:lnTo>
                  <a:lnTo>
                    <a:pt x="2667402" y="6434296"/>
                  </a:lnTo>
                  <a:lnTo>
                    <a:pt x="0" y="6434296"/>
                  </a:lnTo>
                  <a:lnTo>
                    <a:pt x="0" y="0"/>
                  </a:lnTo>
                  <a:close/>
                </a:path>
              </a:pathLst>
            </a:custGeom>
            <a:blipFill>
              <a:blip r:embed="rId10"/>
              <a:stretch>
                <a:fillRect t="-162" r="-149097" b="-162"/>
              </a:stretch>
            </a:blipFill>
          </p:spPr>
          <p:txBody>
            <a:bodyPr/>
            <a:lstStyle/>
            <a:p/>
          </p:txBody>
        </p:sp>
        <p:sp>
          <p:nvSpPr>
            <p:cNvPr id="20" name="Freeform 20"/>
            <p:cNvSpPr/>
            <p:nvPr/>
          </p:nvSpPr>
          <p:spPr>
            <a:xfrm>
              <a:off x="2452427" y="0"/>
              <a:ext cx="1467831" cy="6434296"/>
            </a:xfrm>
            <a:custGeom>
              <a:rect l="l" t="t" r="r" b="b"/>
              <a:pathLst>
                <a:path w="1467831" h="6434296">
                  <a:moveTo>
                    <a:pt x="0" y="0"/>
                  </a:moveTo>
                  <a:lnTo>
                    <a:pt x="1467831" y="0"/>
                  </a:lnTo>
                  <a:lnTo>
                    <a:pt x="1467831" y="6434296"/>
                  </a:lnTo>
                  <a:lnTo>
                    <a:pt x="0" y="6434296"/>
                  </a:lnTo>
                  <a:lnTo>
                    <a:pt x="0" y="0"/>
                  </a:lnTo>
                  <a:close/>
                </a:path>
              </a:pathLst>
            </a:custGeom>
            <a:blipFill>
              <a:blip r:embed="rId10"/>
              <a:stretch>
                <a:fillRect l="-352670" t="-162" b="-162"/>
              </a:stretch>
            </a:blipFill>
          </p:spPr>
          <p:txBody>
            <a:bodyPr/>
            <a:lstStyle/>
            <a:p/>
          </p:txBody>
        </p:sp>
      </p:grpSp>
      <p:sp>
        <p:nvSpPr>
          <p:cNvPr id="21" name="TextBox 21"/>
          <p:cNvSpPr txBox="1"/>
          <p:nvPr/>
        </p:nvSpPr>
        <p:spPr>
          <a:xfrm>
            <a:off x="4819739" y="542694"/>
            <a:ext cx="8648522" cy="1057738"/>
          </a:xfrm>
          <a:prstGeom prst="rect">
            <a:avLst/>
          </a:prstGeom>
        </p:spPr>
        <p:txBody>
          <a:bodyPr lIns="0" tIns="0" rIns="0" bIns="0" rtlCol="0" anchor="t">
            <a:spAutoFit/>
          </a:bodyPr>
          <a:lstStyle/>
          <a:p>
            <a:pPr algn="ctr">
              <a:lnSpc>
                <a:spcPts val="8061"/>
              </a:lnSpc>
            </a:pPr>
            <a:r>
              <a:rPr lang="en-US" sz="7534" b="1">
                <a:solidFill>
                  <a:srgbClr val="FFFFFF"/>
                </a:solidFill>
                <a:latin typeface="Londrina Solid Heavy"/>
                <a:ea typeface="Londrina Solid Heavy"/>
                <a:cs typeface="Londrina Solid Heavy"/>
                <a:sym typeface="Londrina Solid Heavy"/>
              </a:rPr>
              <a:t>Evaluasi Kerja</a:t>
            </a:r>
          </a:p>
        </p:txBody>
      </p:sp>
      <p:sp>
        <p:nvSpPr>
          <p:cNvPr id="22" name="TextBox 22"/>
          <p:cNvSpPr txBox="1"/>
          <p:nvPr/>
        </p:nvSpPr>
        <p:spPr>
          <a:xfrm>
            <a:off x="2718894" y="1919931"/>
            <a:ext cx="13429586" cy="767646"/>
          </a:xfrm>
          <a:prstGeom prst="rect">
            <a:avLst/>
          </a:prstGeom>
        </p:spPr>
        <p:txBody>
          <a:bodyPr lIns="0" tIns="0" rIns="0" bIns="0" rtlCol="0" anchor="t">
            <a:spAutoFit/>
          </a:bodyPr>
          <a:lstStyle/>
          <a:p>
            <a:pPr algn="ctr">
              <a:lnSpc>
                <a:spcPts val="5317"/>
              </a:lnSpc>
            </a:pPr>
            <a:r>
              <a:rPr lang="en-US" sz="3968">
                <a:solidFill>
                  <a:srgbClr val="FFFFFF"/>
                </a:solidFill>
                <a:latin typeface="Agrandir"/>
                <a:ea typeface="Agrandir"/>
                <a:cs typeface="Agrandir"/>
                <a:sym typeface="Agrandir"/>
              </a:rPr>
              <a:t>MAPE (Mean Absolute Percentage Error):</a:t>
            </a:r>
          </a:p>
        </p:txBody>
      </p:sp>
    </p:spTree>
  </p:cSld>
  <p:clrMapOvr>
    <a:masterClrMapping/>
  </p:clrMapOvr>
  <p:transition/>
  <p:timing/>
</p:sld>
</file>

<file path=ppt/slides/slide44.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TextBox 2"/>
          <p:cNvSpPr txBox="1"/>
          <p:nvPr/>
        </p:nvSpPr>
        <p:spPr>
          <a:xfrm>
            <a:off x="10925759" y="4400009"/>
            <a:ext cx="2167509" cy="383540"/>
          </a:xfrm>
          <a:prstGeom prst="rect">
            <a:avLst/>
          </a:prstGeom>
        </p:spPr>
        <p:txBody>
          <a:bodyPr lIns="0" tIns="0" rIns="0" bIns="0" rtlCol="0" anchor="t">
            <a:spAutoFit/>
          </a:bodyPr>
          <a:lstStyle/>
          <a:p>
            <a:pPr algn="ctr">
              <a:lnSpc>
                <a:spcPts val="2679"/>
              </a:lnSpc>
            </a:pPr>
            <a:r>
              <a:rPr lang="en-US" sz="1999" b="1">
                <a:solidFill>
                  <a:srgbClr val="000000"/>
                </a:solidFill>
                <a:latin typeface="Agrandir Bold"/>
                <a:ea typeface="Agrandir Bold"/>
                <a:cs typeface="Agrandir Bold"/>
                <a:sym typeface="Agrandir Bold"/>
              </a:rPr>
              <a:t>Trading</a:t>
            </a:r>
          </a:p>
        </p:txBody>
      </p:sp>
      <p:sp>
        <p:nvSpPr>
          <p:cNvPr id="3" name="Freeform 3"/>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p:txBody>
      </p:sp>
      <p:grpSp>
        <p:nvGrpSpPr>
          <p:cNvPr id="4" name="Group 4"/>
          <p:cNvGrpSpPr/>
          <p:nvPr/>
        </p:nvGrpSpPr>
        <p:grpSpPr>
          <a:xfrm>
            <a:off x="-699280" y="-404104"/>
            <a:ext cx="19570219" cy="11095207"/>
            <a:chExt cx="3031939" cy="1718938"/>
          </a:xfrm>
        </p:grpSpPr>
        <p:sp>
          <p:nvSpPr>
            <p:cNvPr id="5" name="Freeform 5"/>
            <p:cNvSpPr/>
            <p:nvPr/>
          </p:nvSpPr>
          <p:spPr>
            <a:xfrm>
              <a:off x="0" y="0"/>
              <a:ext cx="3031939" cy="1718938"/>
            </a:xfrm>
            <a:custGeom>
              <a:rect l="l" t="t" r="r" b="b"/>
              <a:pathLst>
                <a:path w="3031939" h="1718937">
                  <a:moveTo>
                    <a:pt x="0" y="0"/>
                  </a:moveTo>
                  <a:lnTo>
                    <a:pt x="3031939" y="0"/>
                  </a:lnTo>
                  <a:lnTo>
                    <a:pt x="3031939" y="1718938"/>
                  </a:lnTo>
                  <a:lnTo>
                    <a:pt x="0" y="1718938"/>
                  </a:lnTo>
                  <a:close/>
                </a:path>
              </a:pathLst>
            </a:custGeom>
            <a:blipFill>
              <a:blip r:embed="rId4">
                <a:alphaModFix amt="48000"/>
              </a:blip>
              <a:stretch>
                <a:fillRect l="-18991" t="-19916" r="0" b="-19916"/>
              </a:stretch>
            </a:blipFill>
          </p:spPr>
          <p:txBody>
            <a:bodyPr/>
            <a:lstStyle/>
            <a:p/>
          </p:txBody>
        </p:sp>
      </p:grpSp>
      <p:sp>
        <p:nvSpPr>
          <p:cNvPr id="6" name="Freeform 6"/>
          <p:cNvSpPr/>
          <p:nvPr/>
        </p:nvSpPr>
        <p:spPr>
          <a:xfrm rot="5400000" flipH="1" flipV="1">
            <a:off x="16617708" y="8587367"/>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2">
              <a:extLst>
                <a:ext uri="{96DAC541-7B7A-43D3-8B79-37D633B846F1}">
                  <asvg:svgBlip xmlns:asvg="http://schemas.microsoft.com/office/drawing/2016/SVG/main" r:embed="rId5"/>
                </a:ext>
              </a:extLst>
            </a:blip>
            <a:stretch>
              <a:fillRect/>
            </a:stretch>
          </a:blipFill>
        </p:spPr>
        <p:txBody>
          <a:bodyPr/>
          <a:lstStyle/>
          <a:p/>
        </p:txBody>
      </p:sp>
      <p:sp>
        <p:nvSpPr>
          <p:cNvPr id="7" name="Freeform 7"/>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6">
              <a:alphaModFix amt="38000"/>
              <a:extLst>
                <a:ext uri="{96DAC541-7B7A-43D3-8B79-37D633B846F1}">
                  <asvg:svgBlip xmlns:asvg="http://schemas.microsoft.com/office/drawing/2016/SVG/main" r:embed="rId7"/>
                </a:ext>
              </a:extLst>
            </a:blip>
            <a:stretch>
              <a:fillRect/>
            </a:stretch>
          </a:blipFill>
        </p:spPr>
        <p:txBody>
          <a:bodyPr/>
          <a:lstStyle/>
          <a:p/>
        </p:txBody>
      </p:sp>
      <p:sp>
        <p:nvSpPr>
          <p:cNvPr id="8" name="Freeform 8"/>
          <p:cNvSpPr/>
          <p:nvPr/>
        </p:nvSpPr>
        <p:spPr>
          <a:xfrm>
            <a:off x="-3850612" y="-2435861"/>
            <a:ext cx="9446368" cy="9446368"/>
          </a:xfrm>
          <a:custGeom>
            <a:rect l="l" t="t" r="r" b="b"/>
            <a:pathLst>
              <a:path w="9446368" h="9446368">
                <a:moveTo>
                  <a:pt x="0" y="0"/>
                </a:moveTo>
                <a:lnTo>
                  <a:pt x="9446367" y="0"/>
                </a:lnTo>
                <a:lnTo>
                  <a:pt x="9446367" y="9446368"/>
                </a:lnTo>
                <a:lnTo>
                  <a:pt x="0" y="9446368"/>
                </a:lnTo>
                <a:lnTo>
                  <a:pt x="0" y="0"/>
                </a:lnTo>
                <a:close/>
              </a:path>
            </a:pathLst>
          </a:custGeom>
          <a:blipFill>
            <a:blip r:embed="rId6">
              <a:alphaModFix amt="38000"/>
              <a:extLst>
                <a:ext uri="{96DAC541-7B7A-43D3-8B79-37D633B846F1}">
                  <asvg:svgBlip xmlns:asvg="http://schemas.microsoft.com/office/drawing/2016/SVG/main" r:embed="rId8"/>
                </a:ext>
              </a:extLst>
            </a:blip>
            <a:stretch>
              <a:fillRect/>
            </a:stretch>
          </a:blipFill>
        </p:spPr>
        <p:txBody>
          <a:bodyPr/>
          <a:lstStyle/>
          <a:p/>
        </p:txBody>
      </p:sp>
      <p:grpSp>
        <p:nvGrpSpPr>
          <p:cNvPr id="9" name="Group 9"/>
          <p:cNvGrpSpPr/>
          <p:nvPr/>
        </p:nvGrpSpPr>
        <p:grpSpPr>
          <a:xfrm>
            <a:off x="1799800" y="1600431"/>
            <a:ext cx="14688400" cy="8125886"/>
            <a:chExt cx="3868550" cy="2140151"/>
          </a:xfrm>
        </p:grpSpPr>
        <p:sp>
          <p:nvSpPr>
            <p:cNvPr id="10" name="Freeform 10"/>
            <p:cNvSpPr/>
            <p:nvPr/>
          </p:nvSpPr>
          <p:spPr>
            <a:xfrm>
              <a:off x="0" y="0"/>
              <a:ext cx="3868550" cy="2140151"/>
            </a:xfrm>
            <a:custGeom>
              <a:rect l="l" t="t" r="r" b="b"/>
              <a:pathLst>
                <a:path w="3868549" h="2140151">
                  <a:moveTo>
                    <a:pt x="0" y="0"/>
                  </a:moveTo>
                  <a:lnTo>
                    <a:pt x="3868550" y="0"/>
                  </a:lnTo>
                  <a:lnTo>
                    <a:pt x="3868550" y="2140151"/>
                  </a:lnTo>
                  <a:lnTo>
                    <a:pt x="0" y="2140151"/>
                  </a:lnTo>
                  <a:close/>
                </a:path>
              </a:pathLst>
            </a:custGeom>
            <a:solidFill>
              <a:srgbClr val="E85041">
                <a:alpha val="62745"/>
              </a:srgbClr>
            </a:solidFill>
          </p:spPr>
          <p:txBody>
            <a:bodyPr/>
            <a:lstStyle/>
            <a:p/>
          </p:txBody>
        </p:sp>
        <p:sp>
          <p:nvSpPr>
            <p:cNvPr id="11" name="TextBox 11"/>
            <p:cNvSpPr txBox="1"/>
            <p:nvPr/>
          </p:nvSpPr>
          <p:spPr>
            <a:xfrm>
              <a:off x="0" y="-85725"/>
              <a:ext cx="3868550" cy="2225876"/>
            </a:xfrm>
            <a:prstGeom prst="rect">
              <a:avLst/>
            </a:prstGeom>
          </p:spPr>
          <p:txBody>
            <a:bodyPr lIns="50800" tIns="50800" rIns="50800" bIns="50800" rtlCol="0" anchor="ctr"/>
            <a:lstStyle/>
            <a:p>
              <a:pPr algn="ctr">
                <a:lnSpc>
                  <a:spcPts val="2679"/>
                </a:lnSpc>
              </a:pPr>
            </a:p>
          </p:txBody>
        </p:sp>
      </p:grpSp>
      <p:grpSp>
        <p:nvGrpSpPr>
          <p:cNvPr id="12" name="Group 12"/>
          <p:cNvGrpSpPr/>
          <p:nvPr/>
        </p:nvGrpSpPr>
        <p:grpSpPr>
          <a:xfrm>
            <a:off x="2905139" y="2573498"/>
            <a:ext cx="8408747" cy="4997106"/>
            <a:chExt cx="1918859" cy="1140330"/>
          </a:xfrm>
        </p:grpSpPr>
        <p:sp>
          <p:nvSpPr>
            <p:cNvPr id="13" name="Freeform 13"/>
            <p:cNvSpPr/>
            <p:nvPr/>
          </p:nvSpPr>
          <p:spPr>
            <a:xfrm>
              <a:off x="0" y="0"/>
              <a:ext cx="1918859" cy="1140330"/>
            </a:xfrm>
            <a:custGeom>
              <a:rect l="l" t="t" r="r" b="b"/>
              <a:pathLst>
                <a:path w="1918859" h="1140330">
                  <a:moveTo>
                    <a:pt x="0" y="0"/>
                  </a:moveTo>
                  <a:lnTo>
                    <a:pt x="1918859" y="0"/>
                  </a:lnTo>
                  <a:lnTo>
                    <a:pt x="1918859" y="1140330"/>
                  </a:lnTo>
                  <a:lnTo>
                    <a:pt x="0" y="1140330"/>
                  </a:lnTo>
                  <a:close/>
                </a:path>
              </a:pathLst>
            </a:custGeom>
            <a:blipFill>
              <a:blip r:embed="rId9"/>
              <a:stretch>
                <a:fillRect l="-1676" r="-1676"/>
              </a:stretch>
            </a:blipFill>
          </p:spPr>
          <p:txBody>
            <a:bodyPr/>
            <a:lstStyle/>
            <a:p/>
          </p:txBody>
        </p:sp>
      </p:grpSp>
      <p:sp>
        <p:nvSpPr>
          <p:cNvPr id="14" name="Freeform 14"/>
          <p:cNvSpPr/>
          <p:nvPr/>
        </p:nvSpPr>
        <p:spPr>
          <a:xfrm>
            <a:off x="11799805" y="2931271"/>
            <a:ext cx="3336913" cy="4079236"/>
          </a:xfrm>
          <a:custGeom>
            <a:rect l="l" t="t" r="r" b="b"/>
            <a:pathLst>
              <a:path w="3336913" h="4079236">
                <a:moveTo>
                  <a:pt x="0" y="0"/>
                </a:moveTo>
                <a:lnTo>
                  <a:pt x="3336912" y="0"/>
                </a:lnTo>
                <a:lnTo>
                  <a:pt x="3336912" y="4079236"/>
                </a:lnTo>
                <a:lnTo>
                  <a:pt x="0" y="4079236"/>
                </a:lnTo>
                <a:lnTo>
                  <a:pt x="0" y="0"/>
                </a:lnTo>
                <a:close/>
              </a:path>
            </a:pathLst>
          </a:custGeom>
          <a:blipFill>
            <a:blip r:embed="rId10"/>
            <a:stretch>
              <a:fillRect r="-25829"/>
            </a:stretch>
          </a:blipFill>
        </p:spPr>
        <p:txBody>
          <a:bodyPr/>
          <a:lstStyle/>
          <a:p/>
        </p:txBody>
      </p:sp>
      <p:grpSp>
        <p:nvGrpSpPr>
          <p:cNvPr id="15" name="Group 15"/>
          <p:cNvGrpSpPr/>
          <p:nvPr/>
        </p:nvGrpSpPr>
        <p:grpSpPr>
          <a:xfrm>
            <a:off x="4039979" y="7694429"/>
            <a:ext cx="9899901" cy="2387557"/>
            <a:chExt cx="2607381" cy="628821"/>
          </a:xfrm>
        </p:grpSpPr>
        <p:sp>
          <p:nvSpPr>
            <p:cNvPr id="16" name="Freeform 16"/>
            <p:cNvSpPr/>
            <p:nvPr/>
          </p:nvSpPr>
          <p:spPr>
            <a:xfrm>
              <a:off x="0" y="0"/>
              <a:ext cx="2607381" cy="628822"/>
            </a:xfrm>
            <a:custGeom>
              <a:rect l="l" t="t" r="r" b="b"/>
              <a:pathLst>
                <a:path w="2607381" h="628822">
                  <a:moveTo>
                    <a:pt x="39883" y="0"/>
                  </a:moveTo>
                  <a:lnTo>
                    <a:pt x="2567498" y="0"/>
                  </a:lnTo>
                  <a:cubicBezTo>
                    <a:pt x="2578076" y="0"/>
                    <a:pt x="2588220" y="4202"/>
                    <a:pt x="2595700" y="11681"/>
                  </a:cubicBezTo>
                  <a:cubicBezTo>
                    <a:pt x="2603179" y="19161"/>
                    <a:pt x="2607381" y="29305"/>
                    <a:pt x="2607381" y="39883"/>
                  </a:cubicBezTo>
                  <a:lnTo>
                    <a:pt x="2607381" y="588938"/>
                  </a:lnTo>
                  <a:cubicBezTo>
                    <a:pt x="2607381" y="610965"/>
                    <a:pt x="2589525" y="628822"/>
                    <a:pt x="2567498" y="628822"/>
                  </a:cubicBezTo>
                  <a:lnTo>
                    <a:pt x="39883" y="628822"/>
                  </a:lnTo>
                  <a:cubicBezTo>
                    <a:pt x="17856" y="628822"/>
                    <a:pt x="0" y="610965"/>
                    <a:pt x="0" y="588938"/>
                  </a:cubicBezTo>
                  <a:lnTo>
                    <a:pt x="0" y="39883"/>
                  </a:lnTo>
                  <a:cubicBezTo>
                    <a:pt x="0" y="17856"/>
                    <a:pt x="17856" y="0"/>
                    <a:pt x="39883" y="0"/>
                  </a:cubicBezTo>
                  <a:close/>
                </a:path>
              </a:pathLst>
            </a:custGeom>
            <a:gradFill rotWithShape="1">
              <a:gsLst>
                <a:gs pos="0">
                  <a:srgbClr val="000000">
                    <a:alpha val="60000"/>
                  </a:srgbClr>
                </a:gs>
                <a:gs pos="100000">
                  <a:srgbClr val="740F0F">
                    <a:alpha val="60000"/>
                  </a:srgbClr>
                </a:gs>
              </a:gsLst>
              <a:lin ang="5400000"/>
            </a:gradFill>
          </p:spPr>
          <p:txBody>
            <a:bodyPr/>
            <a:lstStyle/>
            <a:p/>
          </p:txBody>
        </p:sp>
        <p:sp>
          <p:nvSpPr>
            <p:cNvPr id="17" name="TextBox 17"/>
            <p:cNvSpPr txBox="1"/>
            <p:nvPr/>
          </p:nvSpPr>
          <p:spPr>
            <a:xfrm>
              <a:off x="0" y="-85725"/>
              <a:ext cx="2607381" cy="714546"/>
            </a:xfrm>
            <a:prstGeom prst="rect">
              <a:avLst/>
            </a:prstGeom>
          </p:spPr>
          <p:txBody>
            <a:bodyPr lIns="50800" tIns="50800" rIns="50800" bIns="50800" rtlCol="0" anchor="ctr"/>
            <a:lstStyle/>
            <a:p>
              <a:pPr algn="ctr">
                <a:lnSpc>
                  <a:spcPts val="2679"/>
                </a:lnSpc>
              </a:pPr>
            </a:p>
          </p:txBody>
        </p:sp>
      </p:grpSp>
      <p:sp>
        <p:nvSpPr>
          <p:cNvPr id="18" name="TextBox 18"/>
          <p:cNvSpPr txBox="1"/>
          <p:nvPr/>
        </p:nvSpPr>
        <p:spPr>
          <a:xfrm>
            <a:off x="2218052" y="1017429"/>
            <a:ext cx="13735555" cy="1434396"/>
          </a:xfrm>
          <a:prstGeom prst="rect">
            <a:avLst/>
          </a:prstGeom>
        </p:spPr>
        <p:txBody>
          <a:bodyPr lIns="0" tIns="0" rIns="0" bIns="0" rtlCol="0" anchor="t">
            <a:spAutoFit/>
          </a:bodyPr>
          <a:lstStyle/>
          <a:p>
            <a:pPr algn="l">
              <a:lnSpc>
                <a:spcPts val="5317"/>
              </a:lnSpc>
            </a:pPr>
          </a:p>
          <a:p>
            <a:pPr algn="ctr">
              <a:lnSpc>
                <a:spcPts val="5317"/>
              </a:lnSpc>
            </a:pPr>
            <a:r>
              <a:rPr lang="en-US" sz="3968">
                <a:solidFill>
                  <a:srgbClr val="FFFFFF"/>
                </a:solidFill>
                <a:latin typeface="Agrandir"/>
                <a:ea typeface="Agrandir"/>
                <a:cs typeface="Agrandir"/>
                <a:sym typeface="Agrandir"/>
              </a:rPr>
              <a:t>MSE (Mean Squared Error)</a:t>
            </a:r>
          </a:p>
        </p:txBody>
      </p:sp>
      <p:sp>
        <p:nvSpPr>
          <p:cNvPr id="19" name="TextBox 19"/>
          <p:cNvSpPr txBox="1"/>
          <p:nvPr/>
        </p:nvSpPr>
        <p:spPr>
          <a:xfrm>
            <a:off x="4819739" y="291321"/>
            <a:ext cx="8648522" cy="1057738"/>
          </a:xfrm>
          <a:prstGeom prst="rect">
            <a:avLst/>
          </a:prstGeom>
        </p:spPr>
        <p:txBody>
          <a:bodyPr lIns="0" tIns="0" rIns="0" bIns="0" rtlCol="0" anchor="t">
            <a:spAutoFit/>
          </a:bodyPr>
          <a:lstStyle/>
          <a:p>
            <a:pPr algn="ctr">
              <a:lnSpc>
                <a:spcPts val="8061"/>
              </a:lnSpc>
            </a:pPr>
            <a:r>
              <a:rPr lang="en-US" sz="7534" b="1">
                <a:solidFill>
                  <a:srgbClr val="FFFFFF"/>
                </a:solidFill>
                <a:latin typeface="Londrina Solid Heavy"/>
                <a:ea typeface="Londrina Solid Heavy"/>
                <a:cs typeface="Londrina Solid Heavy"/>
                <a:sym typeface="Londrina Solid Heavy"/>
              </a:rPr>
              <a:t>Evaluasi Kerja</a:t>
            </a:r>
          </a:p>
        </p:txBody>
      </p:sp>
      <p:sp>
        <p:nvSpPr>
          <p:cNvPr id="20" name="TextBox 20"/>
          <p:cNvSpPr txBox="1"/>
          <p:nvPr/>
        </p:nvSpPr>
        <p:spPr>
          <a:xfrm>
            <a:off x="4308355" y="7805618"/>
            <a:ext cx="9125959" cy="2006425"/>
          </a:xfrm>
          <a:prstGeom prst="rect">
            <a:avLst/>
          </a:prstGeom>
        </p:spPr>
        <p:txBody>
          <a:bodyPr lIns="0" tIns="0" rIns="0" bIns="0" rtlCol="0" anchor="t">
            <a:spAutoFit/>
          </a:bodyPr>
          <a:lstStyle/>
          <a:p>
            <a:pPr marL="618984" lvl="1" indent="-309492" algn="l">
              <a:lnSpc>
                <a:spcPts val="3841"/>
              </a:lnSpc>
              <a:buFont typeface="Arial"/>
              <a:buChar char="•"/>
            </a:pPr>
            <a:r>
              <a:rPr lang="en-US" sz="2866">
                <a:solidFill>
                  <a:srgbClr val="FFFFFF"/>
                </a:solidFill>
                <a:latin typeface="Agrandir"/>
                <a:ea typeface="Agrandir"/>
                <a:cs typeface="Agrandir"/>
                <a:sym typeface="Agrandir"/>
              </a:rPr>
              <a:t>Memberi bobot besar pada error besar (outliers).</a:t>
            </a:r>
          </a:p>
          <a:p>
            <a:pPr marL="618984" lvl="1" indent="-309492" algn="l">
              <a:lnSpc>
                <a:spcPts val="3841"/>
              </a:lnSpc>
              <a:buFont typeface="Arial"/>
              <a:buChar char="•"/>
            </a:pPr>
            <a:r>
              <a:rPr lang="en-US" sz="2866">
                <a:solidFill>
                  <a:srgbClr val="FFFFFF"/>
                </a:solidFill>
                <a:latin typeface="Agrandir"/>
                <a:ea typeface="Agrandir"/>
                <a:cs typeface="Agrandir"/>
                <a:sym typeface="Agrandir"/>
              </a:rPr>
              <a:t>Cocok untuk mendeteksi prediksi ekstrem.</a:t>
            </a:r>
          </a:p>
          <a:p>
            <a:pPr marL="618984" lvl="1" indent="-309492" algn="l">
              <a:lnSpc>
                <a:spcPts val="3841"/>
              </a:lnSpc>
              <a:buFont typeface="Arial"/>
              <a:buChar char="•"/>
            </a:pPr>
            <a:r>
              <a:rPr lang="en-US" sz="2866">
                <a:solidFill>
                  <a:srgbClr val="FFFFFF"/>
                </a:solidFill>
                <a:latin typeface="Agrandir"/>
                <a:ea typeface="Agrandir"/>
                <a:cs typeface="Agrandir"/>
                <a:sym typeface="Agrandir"/>
              </a:rPr>
              <a:t>Best Model based on MSE:</a:t>
            </a:r>
          </a:p>
          <a:p>
            <a:pPr marL="618984" lvl="1" indent="-309492" algn="l">
              <a:lnSpc>
                <a:spcPts val="3841"/>
              </a:lnSpc>
              <a:buFont typeface="Arial"/>
              <a:buChar char="•"/>
            </a:pPr>
            <a:r>
              <a:rPr lang="en-US" sz="2866">
                <a:solidFill>
                  <a:srgbClr val="FFFFFF"/>
                </a:solidFill>
                <a:latin typeface="Agrandir"/>
                <a:ea typeface="Agrandir"/>
                <a:cs typeface="Agrandir"/>
                <a:sym typeface="Agrandir"/>
              </a:rPr>
              <a:t>XGBoost with MSE: 0.048433173995904716</a:t>
            </a:r>
          </a:p>
        </p:txBody>
      </p:sp>
    </p:spTree>
  </p:cSld>
  <p:clrMapOvr>
    <a:masterClrMapping/>
  </p:clrMapOvr>
  <p:transition/>
  <p:timing/>
</p:sld>
</file>

<file path=ppt/slides/slide45.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12939980" y="6484586"/>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3165293" y="-4710899"/>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4"/>
                </a:ext>
              </a:extLst>
            </a:blip>
            <a:stretch>
              <a:fillRect/>
            </a:stretch>
          </a:blipFill>
        </p:spPr>
        <p:txBody>
          <a:bodyPr/>
          <a:lstStyle/>
          <a:p/>
        </p:txBody>
      </p:sp>
      <p:sp>
        <p:nvSpPr>
          <p:cNvPr id="4" name="Freeform 4"/>
          <p:cNvSpPr/>
          <p:nvPr/>
        </p:nvSpPr>
        <p:spPr>
          <a:xfrm>
            <a:off x="1028700" y="8295474"/>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p:txBody>
      </p:sp>
      <p:sp>
        <p:nvSpPr>
          <p:cNvPr id="5" name="Freeform 5"/>
          <p:cNvSpPr/>
          <p:nvPr/>
        </p:nvSpPr>
        <p:spPr>
          <a:xfrm flipH="1" flipV="1">
            <a:off x="16938941" y="1028700"/>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5">
              <a:extLst>
                <a:ext uri="{96DAC541-7B7A-43D3-8B79-37D633B846F1}">
                  <asvg:svgBlip xmlns:asvg="http://schemas.microsoft.com/office/drawing/2016/SVG/main" r:embed="rId7"/>
                </a:ext>
              </a:extLst>
            </a:blip>
            <a:stretch>
              <a:fillRect/>
            </a:stretch>
          </a:blipFill>
        </p:spPr>
        <p:txBody>
          <a:bodyPr/>
          <a:lstStyle/>
          <a:p/>
        </p:txBody>
      </p:sp>
      <p:grpSp>
        <p:nvGrpSpPr>
          <p:cNvPr id="6" name="Group 6"/>
          <p:cNvGrpSpPr/>
          <p:nvPr/>
        </p:nvGrpSpPr>
        <p:grpSpPr>
          <a:xfrm>
            <a:off x="0" y="0"/>
            <a:ext cx="18288000" cy="6219760"/>
            <a:chExt cx="2833290" cy="963604"/>
          </a:xfrm>
        </p:grpSpPr>
        <p:sp>
          <p:nvSpPr>
            <p:cNvPr id="7" name="Freeform 7"/>
            <p:cNvSpPr/>
            <p:nvPr/>
          </p:nvSpPr>
          <p:spPr>
            <a:xfrm>
              <a:off x="0" y="0"/>
              <a:ext cx="2833290" cy="963604"/>
            </a:xfrm>
            <a:custGeom>
              <a:rect l="l" t="t" r="r" b="b"/>
              <a:pathLst>
                <a:path w="2833290" h="963604">
                  <a:moveTo>
                    <a:pt x="0" y="0"/>
                  </a:moveTo>
                  <a:lnTo>
                    <a:pt x="2833290" y="0"/>
                  </a:lnTo>
                  <a:lnTo>
                    <a:pt x="2833290" y="963604"/>
                  </a:lnTo>
                  <a:lnTo>
                    <a:pt x="0" y="963604"/>
                  </a:lnTo>
                  <a:close/>
                </a:path>
              </a:pathLst>
            </a:custGeom>
            <a:blipFill>
              <a:blip r:embed="rId8">
                <a:alphaModFix amt="56000"/>
              </a:blip>
              <a:stretch>
                <a:fillRect t="-40290" b="-55607"/>
              </a:stretch>
            </a:blipFill>
          </p:spPr>
          <p:txBody>
            <a:bodyPr/>
            <a:lstStyle/>
            <a:p/>
          </p:txBody>
        </p:sp>
      </p:grpSp>
      <p:graphicFrame>
        <p:nvGraphicFramePr>
          <p:cNvPr id="8" name="Table 8"/>
          <p:cNvGraphicFramePr>
            <a:graphicFrameLocks noGrp="1"/>
          </p:cNvGraphicFramePr>
          <p:nvPr/>
        </p:nvGraphicFramePr>
        <p:xfrm>
          <a:off x="1286395" y="1991526"/>
          <a:ext cx="15910241" cy="7266774"/>
        </p:xfrm>
        <a:graphic>
          <a:graphicData uri="http://schemas.openxmlformats.org/drawingml/2006/table">
            <a:tbl>
              <a:tblPr/>
              <a:tblGrid>
                <a:gridCol w="6172173"/>
                <a:gridCol w="9738069"/>
              </a:tblGrid>
              <a:tr h="1420620">
                <a:tc>
                  <a:txBody>
                    <a:bodyPr vert="horz" wrap="square" rtlCol="0" anchor="t"/>
                    <a:lstStyle/>
                    <a:p>
                      <a:pPr algn="ctr">
                        <a:lnSpc>
                          <a:spcPts val="2799"/>
                        </a:lnSpc>
                        <a:defRPr/>
                      </a:pP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solidFill>
                      <a:srgbClr val="FFCDCD"/>
                    </a:solidFill>
                  </a:tcPr>
                </a:tc>
                <a:tc>
                  <a:txBody>
                    <a:bodyPr vert="horz" wrap="square" rtlCol="0" anchor="t"/>
                    <a:lstStyle/>
                    <a:p>
                      <a:pPr algn="ctr">
                        <a:lnSpc>
                          <a:spcPts val="2799"/>
                        </a:lnSpc>
                        <a:defRPr/>
                      </a:pP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solidFill>
                      <a:srgbClr val="FFCDCD"/>
                    </a:solidFill>
                  </a:tcPr>
                </a:tc>
              </a:tr>
              <a:tr h="1147081">
                <a:tc>
                  <a:txBody>
                    <a:bodyPr vert="horz" wrap="square" rtlCol="0" anchor="t"/>
                    <a:lstStyle/>
                    <a:p>
                      <a:pPr algn="ctr">
                        <a:lnSpc>
                          <a:spcPts val="2799"/>
                        </a:lnSpc>
                        <a:defRPr/>
                      </a:pP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vert="horz" wrap="square" rtlCol="0" anchor="t"/>
                    <a:lstStyle/>
                    <a:p>
                      <a:pPr algn="ctr">
                        <a:lnSpc>
                          <a:spcPts val="2799"/>
                        </a:lnSpc>
                        <a:defRPr/>
                      </a:pP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r>
              <a:tr h="1449827">
                <a:tc>
                  <a:txBody>
                    <a:bodyPr vert="horz" wrap="square" rtlCol="0" anchor="t"/>
                    <a:lstStyle/>
                    <a:p>
                      <a:pPr algn="ctr">
                        <a:lnSpc>
                          <a:spcPts val="2799"/>
                        </a:lnSpc>
                        <a:defRPr/>
                      </a:pP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vert="horz" wrap="square" rtlCol="0" anchor="t"/>
                    <a:lstStyle/>
                    <a:p>
                      <a:pPr algn="ctr">
                        <a:lnSpc>
                          <a:spcPts val="2799"/>
                        </a:lnSpc>
                        <a:defRPr/>
                      </a:pP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r>
              <a:tr h="1423087">
                <a:tc>
                  <a:txBody>
                    <a:bodyPr vert="horz" wrap="square" rtlCol="0" anchor="t"/>
                    <a:lstStyle/>
                    <a:p>
                      <a:pPr algn="ctr">
                        <a:lnSpc>
                          <a:spcPts val="2799"/>
                        </a:lnSpc>
                        <a:defRPr/>
                      </a:pP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vert="horz" wrap="square" rtlCol="0" anchor="t"/>
                    <a:lstStyle/>
                    <a:p>
                      <a:pPr algn="ctr">
                        <a:lnSpc>
                          <a:spcPts val="2799"/>
                        </a:lnSpc>
                        <a:defRPr/>
                      </a:pP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r>
              <a:tr h="1826159">
                <a:tc>
                  <a:txBody>
                    <a:bodyPr vert="horz" wrap="square" rtlCol="0" anchor="t"/>
                    <a:lstStyle/>
                    <a:p>
                      <a:pPr algn="ctr">
                        <a:lnSpc>
                          <a:spcPts val="2799"/>
                        </a:lnSpc>
                        <a:defRPr/>
                      </a:pP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c>
                  <a:txBody>
                    <a:bodyPr vert="horz" wrap="square" rtlCol="0" anchor="t"/>
                    <a:lstStyle/>
                    <a:p>
                      <a:pPr algn="ctr">
                        <a:lnSpc>
                          <a:spcPts val="2799"/>
                        </a:lnSpc>
                        <a:defRPr/>
                      </a:pPr>
                      <a:endParaRPr lang="en-US" sz="1100"/>
                    </a:p>
                  </a:txBody>
                  <a:tcPr marL="190500" marR="190500" marT="190500" marB="190500" anchor="ctr">
                    <a:lnL w="38100" cap="flat" cmpd="sng" algn="ctr">
                      <a:solidFill>
                        <a:srgbClr val="FF9999"/>
                      </a:solidFill>
                      <a:prstDash val="solid"/>
                      <a:round/>
                      <a:headEnd type="none" w="med" len="med"/>
                      <a:tailEnd type="none" w="med" len="med"/>
                    </a:lnL>
                    <a:lnR w="38100" cap="flat" cmpd="sng" algn="ctr">
                      <a:solidFill>
                        <a:srgbClr val="FF9999"/>
                      </a:solidFill>
                      <a:prstDash val="solid"/>
                      <a:round/>
                      <a:headEnd type="none" w="med" len="med"/>
                      <a:tailEnd type="none" w="med" len="med"/>
                    </a:lnR>
                    <a:lnT w="38100" cap="flat" cmpd="sng" algn="ctr">
                      <a:solidFill>
                        <a:srgbClr val="FF9999"/>
                      </a:solidFill>
                      <a:prstDash val="solid"/>
                      <a:round/>
                      <a:headEnd type="none" w="med" len="med"/>
                      <a:tailEnd type="none" w="med" len="med"/>
                    </a:lnT>
                    <a:lnB w="38100" cap="flat" cmpd="sng" algn="ctr">
                      <a:solidFill>
                        <a:srgbClr val="FF9999"/>
                      </a:solidFill>
                      <a:prstDash val="solid"/>
                      <a:round/>
                      <a:headEnd type="none" w="med" len="med"/>
                      <a:tailEnd type="none" w="med" len="med"/>
                    </a:lnB>
                  </a:tcPr>
                </a:tc>
              </a:tr>
            </a:tbl>
          </a:graphicData>
        </a:graphic>
      </p:graphicFrame>
      <p:sp>
        <p:nvSpPr>
          <p:cNvPr id="9" name="TextBox 9"/>
          <p:cNvSpPr txBox="1"/>
          <p:nvPr/>
        </p:nvSpPr>
        <p:spPr>
          <a:xfrm>
            <a:off x="3623823" y="591673"/>
            <a:ext cx="11040354" cy="918440"/>
          </a:xfrm>
          <a:prstGeom prst="rect">
            <a:avLst/>
          </a:prstGeom>
        </p:spPr>
        <p:txBody>
          <a:bodyPr lIns="0" tIns="0" rIns="0" bIns="0" rtlCol="0" anchor="t">
            <a:spAutoFit/>
          </a:bodyPr>
          <a:lstStyle/>
          <a:p>
            <a:pPr algn="ctr">
              <a:lnSpc>
                <a:spcPts val="5803"/>
              </a:lnSpc>
            </a:pPr>
            <a:r>
              <a:rPr lang="en-US" sz="5424" b="1">
                <a:solidFill>
                  <a:srgbClr val="FFFFFF"/>
                </a:solidFill>
                <a:latin typeface="Agrandir Bold"/>
                <a:ea typeface="Agrandir Bold"/>
                <a:cs typeface="Agrandir Bold"/>
                <a:sym typeface="Agrandir Bold"/>
              </a:rPr>
              <a:t>Hasil Perbandingan Model</a:t>
            </a:r>
          </a:p>
        </p:txBody>
      </p:sp>
      <p:sp>
        <p:nvSpPr>
          <p:cNvPr id="10" name="TextBox 10"/>
          <p:cNvSpPr txBox="1"/>
          <p:nvPr/>
        </p:nvSpPr>
        <p:spPr>
          <a:xfrm>
            <a:off x="1028700" y="2279319"/>
            <a:ext cx="7041392" cy="918227"/>
          </a:xfrm>
          <a:prstGeom prst="rect">
            <a:avLst/>
          </a:prstGeom>
        </p:spPr>
        <p:txBody>
          <a:bodyPr lIns="0" tIns="0" rIns="0" bIns="0" rtlCol="0" anchor="t">
            <a:spAutoFit/>
          </a:bodyPr>
          <a:lstStyle/>
          <a:p>
            <a:pPr algn="ctr">
              <a:lnSpc>
                <a:spcPts val="5803"/>
              </a:lnSpc>
            </a:pPr>
            <a:r>
              <a:rPr lang="en-US" sz="5424" b="1">
                <a:solidFill>
                  <a:srgbClr val="000000"/>
                </a:solidFill>
                <a:latin typeface="Agrandir Bold"/>
                <a:ea typeface="Agrandir Bold"/>
                <a:cs typeface="Agrandir Bold"/>
                <a:sym typeface="Agrandir Bold"/>
              </a:rPr>
              <a:t>Model</a:t>
            </a:r>
          </a:p>
        </p:txBody>
      </p:sp>
      <p:sp>
        <p:nvSpPr>
          <p:cNvPr id="11" name="TextBox 11"/>
          <p:cNvSpPr txBox="1"/>
          <p:nvPr/>
        </p:nvSpPr>
        <p:spPr>
          <a:xfrm>
            <a:off x="8788909" y="2279319"/>
            <a:ext cx="7041392" cy="918227"/>
          </a:xfrm>
          <a:prstGeom prst="rect">
            <a:avLst/>
          </a:prstGeom>
        </p:spPr>
        <p:txBody>
          <a:bodyPr lIns="0" tIns="0" rIns="0" bIns="0" rtlCol="0" anchor="t">
            <a:spAutoFit/>
          </a:bodyPr>
          <a:lstStyle/>
          <a:p>
            <a:pPr algn="ctr">
              <a:lnSpc>
                <a:spcPts val="5803"/>
              </a:lnSpc>
            </a:pPr>
            <a:r>
              <a:rPr lang="en-US" sz="5424" b="1">
                <a:solidFill>
                  <a:srgbClr val="000000"/>
                </a:solidFill>
                <a:latin typeface="Agrandir Bold"/>
                <a:ea typeface="Agrandir Bold"/>
                <a:cs typeface="Agrandir Bold"/>
                <a:sym typeface="Agrandir Bold"/>
              </a:rPr>
              <a:t>Hasil</a:t>
            </a:r>
          </a:p>
        </p:txBody>
      </p:sp>
      <p:sp>
        <p:nvSpPr>
          <p:cNvPr id="12" name="TextBox 12"/>
          <p:cNvSpPr txBox="1"/>
          <p:nvPr/>
        </p:nvSpPr>
        <p:spPr>
          <a:xfrm>
            <a:off x="3601659" y="3642423"/>
            <a:ext cx="1895473" cy="774237"/>
          </a:xfrm>
          <a:prstGeom prst="rect">
            <a:avLst/>
          </a:prstGeom>
        </p:spPr>
        <p:txBody>
          <a:bodyPr lIns="0" tIns="0" rIns="0" bIns="0" rtlCol="0" anchor="t">
            <a:spAutoFit/>
          </a:bodyPr>
          <a:lstStyle/>
          <a:p>
            <a:pPr algn="l">
              <a:lnSpc>
                <a:spcPts val="5317"/>
              </a:lnSpc>
            </a:pPr>
            <a:r>
              <a:rPr lang="en-US" sz="3968">
                <a:solidFill>
                  <a:srgbClr val="FFFFFF"/>
                </a:solidFill>
                <a:latin typeface="Agrandir"/>
                <a:ea typeface="Agrandir"/>
                <a:cs typeface="Agrandir"/>
                <a:sym typeface="Agrandir"/>
              </a:rPr>
              <a:t>Sarima</a:t>
            </a:r>
          </a:p>
        </p:txBody>
      </p:sp>
      <p:sp>
        <p:nvSpPr>
          <p:cNvPr id="13" name="TextBox 13"/>
          <p:cNvSpPr txBox="1"/>
          <p:nvPr/>
        </p:nvSpPr>
        <p:spPr>
          <a:xfrm>
            <a:off x="7655631" y="3765194"/>
            <a:ext cx="9283311" cy="1180142"/>
          </a:xfrm>
          <a:prstGeom prst="rect">
            <a:avLst/>
          </a:prstGeom>
        </p:spPr>
        <p:txBody>
          <a:bodyPr lIns="0" tIns="0" rIns="0" bIns="0" rtlCol="0" anchor="t">
            <a:spAutoFit/>
          </a:bodyPr>
          <a:lstStyle/>
          <a:p>
            <a:pPr algn="ctr">
              <a:lnSpc>
                <a:spcPts val="4379"/>
              </a:lnSpc>
            </a:pPr>
            <a:r>
              <a:rPr lang="en-US" sz="3268">
                <a:solidFill>
                  <a:srgbClr val="FFFFFF"/>
                </a:solidFill>
                <a:latin typeface="Agrandir"/>
                <a:ea typeface="Agrandir"/>
                <a:cs typeface="Agrandir"/>
                <a:sym typeface="Agrandir"/>
              </a:rPr>
              <a:t>Baik dalam menangkap musiman jangka pendek.</a:t>
            </a:r>
          </a:p>
          <a:p>
            <a:pPr algn="l">
              <a:lnSpc>
                <a:spcPts val="4379"/>
              </a:lnSpc>
            </a:pPr>
            <a:endParaRPr lang="en-US" sz="3268">
              <a:solidFill>
                <a:srgbClr val="FFFFFF"/>
              </a:solidFill>
              <a:latin typeface="Agrandir"/>
              <a:ea typeface="Agrandir"/>
              <a:cs typeface="Agrandir"/>
              <a:sym typeface="Agrandir"/>
            </a:endParaRPr>
          </a:p>
        </p:txBody>
      </p:sp>
      <p:sp>
        <p:nvSpPr>
          <p:cNvPr id="14" name="TextBox 14"/>
          <p:cNvSpPr txBox="1"/>
          <p:nvPr/>
        </p:nvSpPr>
        <p:spPr>
          <a:xfrm>
            <a:off x="2320947" y="4797660"/>
            <a:ext cx="5187250" cy="774237"/>
          </a:xfrm>
          <a:prstGeom prst="rect">
            <a:avLst/>
          </a:prstGeom>
        </p:spPr>
        <p:txBody>
          <a:bodyPr lIns="0" tIns="0" rIns="0" bIns="0" rtlCol="0" anchor="t">
            <a:spAutoFit/>
          </a:bodyPr>
          <a:lstStyle/>
          <a:p>
            <a:pPr algn="l">
              <a:lnSpc>
                <a:spcPts val="5317"/>
              </a:lnSpc>
            </a:pPr>
            <a:r>
              <a:rPr lang="en-US" sz="3968">
                <a:solidFill>
                  <a:srgbClr val="FFFFFF"/>
                </a:solidFill>
                <a:latin typeface="Agrandir"/>
                <a:ea typeface="Agrandir"/>
                <a:cs typeface="Agrandir"/>
                <a:sym typeface="Agrandir"/>
              </a:rPr>
              <a:t>SES &amp; Holt Linear</a:t>
            </a:r>
          </a:p>
        </p:txBody>
      </p:sp>
      <p:sp>
        <p:nvSpPr>
          <p:cNvPr id="15" name="TextBox 15"/>
          <p:cNvSpPr txBox="1"/>
          <p:nvPr/>
        </p:nvSpPr>
        <p:spPr>
          <a:xfrm>
            <a:off x="2922554" y="6200547"/>
            <a:ext cx="3964985" cy="774237"/>
          </a:xfrm>
          <a:prstGeom prst="rect">
            <a:avLst/>
          </a:prstGeom>
        </p:spPr>
        <p:txBody>
          <a:bodyPr lIns="0" tIns="0" rIns="0" bIns="0" rtlCol="0" anchor="t">
            <a:spAutoFit/>
          </a:bodyPr>
          <a:lstStyle/>
          <a:p>
            <a:pPr algn="l">
              <a:lnSpc>
                <a:spcPts val="5317"/>
              </a:lnSpc>
            </a:pPr>
            <a:r>
              <a:rPr lang="en-US" sz="3968">
                <a:solidFill>
                  <a:srgbClr val="FFFFFF"/>
                </a:solidFill>
                <a:latin typeface="Agrandir"/>
                <a:ea typeface="Agrandir"/>
                <a:cs typeface="Agrandir"/>
                <a:sym typeface="Agrandir"/>
              </a:rPr>
              <a:t>Holt Winters</a:t>
            </a:r>
          </a:p>
        </p:txBody>
      </p:sp>
      <p:sp>
        <p:nvSpPr>
          <p:cNvPr id="16" name="TextBox 16"/>
          <p:cNvSpPr txBox="1"/>
          <p:nvPr/>
        </p:nvSpPr>
        <p:spPr>
          <a:xfrm>
            <a:off x="7508196" y="4726728"/>
            <a:ext cx="9590924" cy="1180142"/>
          </a:xfrm>
          <a:prstGeom prst="rect">
            <a:avLst/>
          </a:prstGeom>
        </p:spPr>
        <p:txBody>
          <a:bodyPr lIns="0" tIns="0" rIns="0" bIns="0" rtlCol="0" anchor="t">
            <a:spAutoFit/>
          </a:bodyPr>
          <a:lstStyle/>
          <a:p>
            <a:pPr algn="ctr">
              <a:lnSpc>
                <a:spcPts val="4379"/>
              </a:lnSpc>
            </a:pPr>
            <a:r>
              <a:rPr lang="en-US" sz="3268">
                <a:solidFill>
                  <a:srgbClr val="FFFFFF"/>
                </a:solidFill>
                <a:latin typeface="Agrandir"/>
                <a:ea typeface="Agrandir"/>
                <a:cs typeface="Agrandir"/>
                <a:sym typeface="Agrandir"/>
              </a:rPr>
              <a:t>Efektif untuk tren stabil, kurang adaptif terhadap kejadian tak terduga.</a:t>
            </a:r>
          </a:p>
        </p:txBody>
      </p:sp>
      <p:sp>
        <p:nvSpPr>
          <p:cNvPr id="17" name="TextBox 17"/>
          <p:cNvSpPr txBox="1"/>
          <p:nvPr/>
        </p:nvSpPr>
        <p:spPr>
          <a:xfrm>
            <a:off x="7501824" y="6381522"/>
            <a:ext cx="9590924" cy="627692"/>
          </a:xfrm>
          <a:prstGeom prst="rect">
            <a:avLst/>
          </a:prstGeom>
        </p:spPr>
        <p:txBody>
          <a:bodyPr lIns="0" tIns="0" rIns="0" bIns="0" rtlCol="0" anchor="t">
            <a:spAutoFit/>
          </a:bodyPr>
          <a:lstStyle/>
          <a:p>
            <a:pPr algn="ctr">
              <a:lnSpc>
                <a:spcPts val="4379"/>
              </a:lnSpc>
            </a:pPr>
            <a:r>
              <a:rPr lang="en-US" sz="3268">
                <a:solidFill>
                  <a:srgbClr val="FFFFFF"/>
                </a:solidFill>
                <a:latin typeface="Agrandir"/>
                <a:ea typeface="Agrandir"/>
                <a:cs typeface="Agrandir"/>
                <a:sym typeface="Agrandir"/>
              </a:rPr>
              <a:t>Cocok untuk data musiman dan tren berkala.</a:t>
            </a:r>
          </a:p>
        </p:txBody>
      </p:sp>
      <p:sp>
        <p:nvSpPr>
          <p:cNvPr id="18" name="TextBox 18"/>
          <p:cNvSpPr txBox="1"/>
          <p:nvPr/>
        </p:nvSpPr>
        <p:spPr>
          <a:xfrm>
            <a:off x="2566904" y="7825926"/>
            <a:ext cx="3964985" cy="767646"/>
          </a:xfrm>
          <a:prstGeom prst="rect">
            <a:avLst/>
          </a:prstGeom>
        </p:spPr>
        <p:txBody>
          <a:bodyPr lIns="0" tIns="0" rIns="0" bIns="0" rtlCol="0" anchor="t">
            <a:spAutoFit/>
          </a:bodyPr>
          <a:lstStyle/>
          <a:p>
            <a:pPr algn="ctr">
              <a:lnSpc>
                <a:spcPts val="5317"/>
              </a:lnSpc>
            </a:pPr>
            <a:r>
              <a:rPr lang="en-US" sz="3968">
                <a:solidFill>
                  <a:srgbClr val="FFFFFF"/>
                </a:solidFill>
                <a:latin typeface="Agrandir"/>
                <a:ea typeface="Agrandir"/>
                <a:cs typeface="Agrandir"/>
                <a:sym typeface="Agrandir"/>
              </a:rPr>
              <a:t>XGBoost</a:t>
            </a:r>
          </a:p>
        </p:txBody>
      </p:sp>
      <p:sp>
        <p:nvSpPr>
          <p:cNvPr id="19" name="TextBox 19"/>
          <p:cNvSpPr txBox="1"/>
          <p:nvPr/>
        </p:nvSpPr>
        <p:spPr>
          <a:xfrm>
            <a:off x="7605712" y="7742639"/>
            <a:ext cx="9590924" cy="1180142"/>
          </a:xfrm>
          <a:prstGeom prst="rect">
            <a:avLst/>
          </a:prstGeom>
        </p:spPr>
        <p:txBody>
          <a:bodyPr lIns="0" tIns="0" rIns="0" bIns="0" rtlCol="0" anchor="t">
            <a:spAutoFit/>
          </a:bodyPr>
          <a:lstStyle/>
          <a:p>
            <a:pPr algn="ctr">
              <a:lnSpc>
                <a:spcPts val="4379"/>
              </a:lnSpc>
            </a:pPr>
            <a:r>
              <a:rPr lang="en-US" sz="3268">
                <a:solidFill>
                  <a:srgbClr val="FFFFFF"/>
                </a:solidFill>
                <a:latin typeface="Agrandir"/>
                <a:ea typeface="Agrandir"/>
                <a:cs typeface="Agrandir"/>
                <a:sym typeface="Agrandir"/>
              </a:rPr>
              <a:t> Akurasi paling tinggi, bisa menangani pola non-linear dan interaksi kompleks.</a:t>
            </a:r>
          </a:p>
        </p:txBody>
      </p:sp>
    </p:spTree>
  </p:cSld>
  <p:clrMapOvr>
    <a:masterClrMapping/>
  </p:clrMapOvr>
  <p:transition/>
  <p:timing/>
</p:sld>
</file>

<file path=ppt/slides/slide46.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12939980" y="6484586"/>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3165293" y="-4710899"/>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4"/>
                </a:ext>
              </a:extLst>
            </a:blip>
            <a:stretch>
              <a:fillRect/>
            </a:stretch>
          </a:blipFill>
        </p:spPr>
        <p:txBody>
          <a:bodyPr/>
          <a:lstStyle/>
          <a:p/>
        </p:txBody>
      </p:sp>
      <p:grpSp>
        <p:nvGrpSpPr>
          <p:cNvPr id="4" name="Group 4"/>
          <p:cNvGrpSpPr/>
          <p:nvPr/>
        </p:nvGrpSpPr>
        <p:grpSpPr>
          <a:xfrm>
            <a:off x="-1137223" y="-838792"/>
            <a:ext cx="20959668" cy="12658761"/>
            <a:chExt cx="1809665" cy="1092962"/>
          </a:xfrm>
        </p:grpSpPr>
        <p:sp>
          <p:nvSpPr>
            <p:cNvPr id="5" name="Freeform 5"/>
            <p:cNvSpPr/>
            <p:nvPr/>
          </p:nvSpPr>
          <p:spPr>
            <a:xfrm>
              <a:off x="0" y="0"/>
              <a:ext cx="1809666" cy="1092962"/>
            </a:xfrm>
            <a:custGeom>
              <a:rect l="l" t="t" r="r" b="b"/>
              <a:pathLst>
                <a:path w="1809666" h="1092962">
                  <a:moveTo>
                    <a:pt x="0" y="0"/>
                  </a:moveTo>
                  <a:lnTo>
                    <a:pt x="1809666" y="0"/>
                  </a:lnTo>
                  <a:lnTo>
                    <a:pt x="1809666" y="1092962"/>
                  </a:lnTo>
                  <a:lnTo>
                    <a:pt x="0" y="1092962"/>
                  </a:lnTo>
                  <a:close/>
                </a:path>
              </a:pathLst>
            </a:custGeom>
            <a:blipFill>
              <a:blip r:embed="rId5"/>
              <a:stretch>
                <a:fillRect t="-5156" b="-5156"/>
              </a:stretch>
            </a:blipFill>
          </p:spPr>
          <p:txBody>
            <a:bodyPr/>
            <a:lstStyle/>
            <a:p/>
          </p:txBody>
        </p:sp>
      </p:grpSp>
      <p:sp>
        <p:nvSpPr>
          <p:cNvPr id="6" name="Freeform 6"/>
          <p:cNvSpPr/>
          <p:nvPr/>
        </p:nvSpPr>
        <p:spPr>
          <a:xfrm>
            <a:off x="1028700" y="8295474"/>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sp>
        <p:nvSpPr>
          <p:cNvPr id="7" name="Freeform 7"/>
          <p:cNvSpPr/>
          <p:nvPr/>
        </p:nvSpPr>
        <p:spPr>
          <a:xfrm flipH="1" flipV="1">
            <a:off x="16938941" y="1028700"/>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6">
              <a:extLst>
                <a:ext uri="{96DAC541-7B7A-43D3-8B79-37D633B846F1}">
                  <asvg:svgBlip xmlns:asvg="http://schemas.microsoft.com/office/drawing/2016/SVG/main" r:embed="rId8"/>
                </a:ext>
              </a:extLst>
            </a:blip>
            <a:stretch>
              <a:fillRect/>
            </a:stretch>
          </a:blipFill>
        </p:spPr>
        <p:txBody>
          <a:bodyPr/>
          <a:lstStyle/>
          <a:p/>
        </p:txBody>
      </p:sp>
      <p:grpSp>
        <p:nvGrpSpPr>
          <p:cNvPr id="8" name="Group 8"/>
          <p:cNvGrpSpPr/>
          <p:nvPr/>
        </p:nvGrpSpPr>
        <p:grpSpPr>
          <a:xfrm>
            <a:off x="1815086" y="1510113"/>
            <a:ext cx="14657828" cy="7748187"/>
            <a:chExt cx="3860498" cy="2040675"/>
          </a:xfrm>
        </p:grpSpPr>
        <p:sp>
          <p:nvSpPr>
            <p:cNvPr id="9" name="Freeform 9"/>
            <p:cNvSpPr/>
            <p:nvPr/>
          </p:nvSpPr>
          <p:spPr>
            <a:xfrm>
              <a:off x="0" y="0"/>
              <a:ext cx="3860498" cy="2040675"/>
            </a:xfrm>
            <a:custGeom>
              <a:rect l="l" t="t" r="r" b="b"/>
              <a:pathLst>
                <a:path w="3860498" h="2040674">
                  <a:moveTo>
                    <a:pt x="26937" y="0"/>
                  </a:moveTo>
                  <a:lnTo>
                    <a:pt x="3833561" y="0"/>
                  </a:lnTo>
                  <a:cubicBezTo>
                    <a:pt x="3848438" y="0"/>
                    <a:pt x="3860498" y="12060"/>
                    <a:pt x="3860498" y="26937"/>
                  </a:cubicBezTo>
                  <a:lnTo>
                    <a:pt x="3860498" y="2013738"/>
                  </a:lnTo>
                  <a:cubicBezTo>
                    <a:pt x="3860498" y="2028615"/>
                    <a:pt x="3848438" y="2040675"/>
                    <a:pt x="3833561" y="2040675"/>
                  </a:cubicBezTo>
                  <a:lnTo>
                    <a:pt x="26937" y="2040675"/>
                  </a:lnTo>
                  <a:cubicBezTo>
                    <a:pt x="12060" y="2040675"/>
                    <a:pt x="0" y="2028615"/>
                    <a:pt x="0" y="2013738"/>
                  </a:cubicBezTo>
                  <a:lnTo>
                    <a:pt x="0" y="26937"/>
                  </a:lnTo>
                  <a:cubicBezTo>
                    <a:pt x="0" y="12060"/>
                    <a:pt x="12060" y="0"/>
                    <a:pt x="26937" y="0"/>
                  </a:cubicBezTo>
                  <a:close/>
                </a:path>
              </a:pathLst>
            </a:custGeom>
            <a:gradFill rotWithShape="1">
              <a:gsLst>
                <a:gs pos="0">
                  <a:srgbClr val="000000">
                    <a:alpha val="63000"/>
                  </a:srgbClr>
                </a:gs>
                <a:gs pos="100000">
                  <a:srgbClr val="740F0F">
                    <a:alpha val="63000"/>
                  </a:srgbClr>
                </a:gs>
              </a:gsLst>
              <a:lin ang="5400000"/>
            </a:gradFill>
          </p:spPr>
          <p:txBody>
            <a:bodyPr/>
            <a:lstStyle/>
            <a:p/>
          </p:txBody>
        </p:sp>
        <p:sp>
          <p:nvSpPr>
            <p:cNvPr id="10" name="TextBox 10"/>
            <p:cNvSpPr txBox="1"/>
            <p:nvPr/>
          </p:nvSpPr>
          <p:spPr>
            <a:xfrm>
              <a:off x="0" y="-85725"/>
              <a:ext cx="3860498" cy="2126400"/>
            </a:xfrm>
            <a:prstGeom prst="rect">
              <a:avLst/>
            </a:prstGeom>
          </p:spPr>
          <p:txBody>
            <a:bodyPr lIns="50800" tIns="50800" rIns="50800" bIns="50800" rtlCol="0" anchor="ctr"/>
            <a:lstStyle/>
            <a:p>
              <a:pPr algn="ctr">
                <a:lnSpc>
                  <a:spcPts val="2679"/>
                </a:lnSpc>
              </a:pPr>
            </a:p>
          </p:txBody>
        </p:sp>
      </p:grpSp>
      <p:sp>
        <p:nvSpPr>
          <p:cNvPr id="11" name="TextBox 11"/>
          <p:cNvSpPr txBox="1"/>
          <p:nvPr/>
        </p:nvSpPr>
        <p:spPr>
          <a:xfrm>
            <a:off x="6425016" y="1886751"/>
            <a:ext cx="5835189" cy="1166163"/>
          </a:xfrm>
          <a:prstGeom prst="rect">
            <a:avLst/>
          </a:prstGeom>
        </p:spPr>
        <p:txBody>
          <a:bodyPr lIns="0" tIns="0" rIns="0" bIns="0" rtlCol="0" anchor="t">
            <a:spAutoFit/>
          </a:bodyPr>
          <a:lstStyle/>
          <a:p>
            <a:pPr algn="ctr">
              <a:lnSpc>
                <a:spcPts val="7483"/>
              </a:lnSpc>
            </a:pPr>
            <a:r>
              <a:rPr lang="en-US" sz="6993" b="1">
                <a:solidFill>
                  <a:srgbClr val="E85041"/>
                </a:solidFill>
                <a:latin typeface="Agrandir Bold"/>
                <a:ea typeface="Agrandir Bold"/>
                <a:cs typeface="Agrandir Bold"/>
                <a:sym typeface="Agrandir Bold"/>
              </a:rPr>
              <a:t>Kesimpulan</a:t>
            </a:r>
          </a:p>
        </p:txBody>
      </p:sp>
      <p:sp>
        <p:nvSpPr>
          <p:cNvPr id="12" name="TextBox 12"/>
          <p:cNvSpPr txBox="1"/>
          <p:nvPr/>
        </p:nvSpPr>
        <p:spPr>
          <a:xfrm>
            <a:off x="2015424" y="3007401"/>
            <a:ext cx="13908097" cy="5769486"/>
          </a:xfrm>
          <a:prstGeom prst="rect">
            <a:avLst/>
          </a:prstGeom>
        </p:spPr>
        <p:txBody>
          <a:bodyPr lIns="0" tIns="0" rIns="0" bIns="0" rtlCol="0" anchor="t">
            <a:spAutoFit/>
          </a:bodyPr>
          <a:lstStyle/>
          <a:p>
            <a:pPr marL="610655" lvl="1" indent="-305327" algn="just">
              <a:lnSpc>
                <a:spcPts val="3790"/>
              </a:lnSpc>
              <a:buFont typeface="Arial"/>
              <a:buChar char="•"/>
            </a:pPr>
            <a:r>
              <a:rPr lang="en-US" sz="2828">
                <a:solidFill>
                  <a:srgbClr val="FFFFFF"/>
                </a:solidFill>
                <a:latin typeface="Agrandir"/>
                <a:ea typeface="Agrandir"/>
                <a:cs typeface="Agrandir"/>
                <a:sym typeface="Agrandir"/>
              </a:rPr>
              <a:t>Hasil evaluasi menunjukkan bahwa XGBoost memberikan performa terbaik dalam memprediksi harga saham BBCA, dengan nilai RMSE dan MAPE terendah dibandingkan model lain. Keunggulan ini berasal dari kemampuannya menangani data non-linear dan kompleks melalui teknik gradient boosting.</a:t>
            </a:r>
          </a:p>
          <a:p>
            <a:pPr marL="610655" lvl="1" indent="-305327" algn="just">
              <a:lnSpc>
                <a:spcPts val="3790"/>
              </a:lnSpc>
              <a:buFont typeface="Arial"/>
              <a:buChar char="•"/>
            </a:pPr>
            <a:r>
              <a:rPr lang="en-US" sz="2828">
                <a:solidFill>
                  <a:srgbClr val="FFFFFF"/>
                </a:solidFill>
                <a:latin typeface="Agrandir"/>
                <a:ea typeface="Agrandir"/>
                <a:cs typeface="Agrandir"/>
                <a:sym typeface="Agrandir"/>
              </a:rPr>
              <a:t>Model tradisional (SARIMA, SES) tetap relevan untuk pola sederhana. Model SARIMA juga menunjukkan performa yang baik, khususnya dalam menangani data musiman dan tren, namun kinerjanya cenderung menurun saat menghadapi fluktuasi tren yang tidak stabil. Sementara itu, model ETS Holt Linear dan Holt Winter memberikan hasil yang cukup akurat pada data dengan tren dan musiman. ETS Holt Winter lebih unggul dalam menangani data musiman dibandingkan dengan ETS Holt Linear, yang lebih cocok untuk tren linier tanpa komponen musiman yang kuat.</a:t>
            </a:r>
          </a:p>
        </p:txBody>
      </p:sp>
    </p:spTree>
  </p:cSld>
  <p:clrMapOvr>
    <a:masterClrMapping/>
  </p:clrMapOvr>
  <p:transition/>
  <p:timing/>
</p:sld>
</file>

<file path=ppt/slides/slide47.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bg>
      <p:bgPr>
        <a:solidFill>
          <a:srgbClr val="000000"/>
        </a:solidFill>
      </p:bgPr>
    </p:bg>
    <p:spTree>
      <p:nvGrpSpPr>
        <p:cNvPr id="1" name=""/>
        <p:cNvGrpSpPr/>
        <p:nvPr/>
      </p:nvGrpSpPr>
      <p:grpSpPr>
        <a:xfrm>
          <a:off x="0" y="0"/>
          <a:ext cx="0" cy="0"/>
        </a:xfrm>
      </p:grpSpPr>
      <p:sp>
        <p:nvSpPr>
          <p:cNvPr id="2" name="Freeform 2"/>
          <p:cNvSpPr/>
          <p:nvPr/>
        </p:nvSpPr>
        <p:spPr>
          <a:xfrm>
            <a:off x="12939980" y="6484586"/>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3"/>
                </a:ext>
              </a:extLst>
            </a:blip>
            <a:stretch>
              <a:fillRect/>
            </a:stretch>
          </a:blipFill>
        </p:spPr>
        <p:txBody>
          <a:bodyPr/>
          <a:lstStyle/>
          <a:p/>
        </p:txBody>
      </p:sp>
      <p:sp>
        <p:nvSpPr>
          <p:cNvPr id="3" name="Freeform 3"/>
          <p:cNvSpPr/>
          <p:nvPr/>
        </p:nvSpPr>
        <p:spPr>
          <a:xfrm>
            <a:off x="-3165293" y="-4710899"/>
            <a:ext cx="8513313" cy="8513313"/>
          </a:xfrm>
          <a:custGeom>
            <a:rect l="l" t="t" r="r" b="b"/>
            <a:pathLst>
              <a:path w="8513313" h="8513313">
                <a:moveTo>
                  <a:pt x="0" y="0"/>
                </a:moveTo>
                <a:lnTo>
                  <a:pt x="8513313" y="0"/>
                </a:lnTo>
                <a:lnTo>
                  <a:pt x="8513313" y="8513313"/>
                </a:lnTo>
                <a:lnTo>
                  <a:pt x="0" y="8513313"/>
                </a:lnTo>
                <a:lnTo>
                  <a:pt x="0" y="0"/>
                </a:lnTo>
                <a:close/>
              </a:path>
            </a:pathLst>
          </a:custGeom>
          <a:blipFill>
            <a:blip r:embed="rId2">
              <a:alphaModFix amt="38000"/>
              <a:extLst>
                <a:ext uri="{96DAC541-7B7A-43D3-8B79-37D633B846F1}">
                  <asvg:svgBlip xmlns:asvg="http://schemas.microsoft.com/office/drawing/2016/SVG/main" r:embed="rId4"/>
                </a:ext>
              </a:extLst>
            </a:blip>
            <a:stretch>
              <a:fillRect/>
            </a:stretch>
          </a:blipFill>
        </p:spPr>
        <p:txBody>
          <a:bodyPr/>
          <a:lstStyle/>
          <a:p/>
        </p:txBody>
      </p:sp>
      <p:grpSp>
        <p:nvGrpSpPr>
          <p:cNvPr id="4" name="Group 4"/>
          <p:cNvGrpSpPr/>
          <p:nvPr/>
        </p:nvGrpSpPr>
        <p:grpSpPr>
          <a:xfrm>
            <a:off x="-1137223" y="-838792"/>
            <a:ext cx="20959668" cy="12658761"/>
            <a:chExt cx="1809665" cy="1092962"/>
          </a:xfrm>
        </p:grpSpPr>
        <p:sp>
          <p:nvSpPr>
            <p:cNvPr id="5" name="Freeform 5"/>
            <p:cNvSpPr/>
            <p:nvPr/>
          </p:nvSpPr>
          <p:spPr>
            <a:xfrm>
              <a:off x="0" y="0"/>
              <a:ext cx="1809666" cy="1092962"/>
            </a:xfrm>
            <a:custGeom>
              <a:rect l="l" t="t" r="r" b="b"/>
              <a:pathLst>
                <a:path w="1809666" h="1092962">
                  <a:moveTo>
                    <a:pt x="0" y="0"/>
                  </a:moveTo>
                  <a:lnTo>
                    <a:pt x="1809666" y="0"/>
                  </a:lnTo>
                  <a:lnTo>
                    <a:pt x="1809666" y="1092962"/>
                  </a:lnTo>
                  <a:lnTo>
                    <a:pt x="0" y="1092962"/>
                  </a:lnTo>
                  <a:close/>
                </a:path>
              </a:pathLst>
            </a:custGeom>
            <a:blipFill>
              <a:blip r:embed="rId5"/>
              <a:stretch>
                <a:fillRect t="-5156" b="-5156"/>
              </a:stretch>
            </a:blipFill>
          </p:spPr>
          <p:txBody>
            <a:bodyPr/>
            <a:lstStyle/>
            <a:p/>
          </p:txBody>
        </p:sp>
      </p:grpSp>
      <p:sp>
        <p:nvSpPr>
          <p:cNvPr id="6" name="Freeform 6"/>
          <p:cNvSpPr/>
          <p:nvPr/>
        </p:nvSpPr>
        <p:spPr>
          <a:xfrm>
            <a:off x="708342" y="8776887"/>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p:txBody>
      </p:sp>
      <p:sp>
        <p:nvSpPr>
          <p:cNvPr id="7" name="Freeform 7"/>
          <p:cNvSpPr/>
          <p:nvPr/>
        </p:nvSpPr>
        <p:spPr>
          <a:xfrm flipH="1" flipV="1">
            <a:off x="17099121" y="745000"/>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6">
              <a:extLst>
                <a:ext uri="{96DAC541-7B7A-43D3-8B79-37D633B846F1}">
                  <asvg:svgBlip xmlns:asvg="http://schemas.microsoft.com/office/drawing/2016/SVG/main" r:embed="rId8"/>
                </a:ext>
              </a:extLst>
            </a:blip>
            <a:stretch>
              <a:fillRect/>
            </a:stretch>
          </a:blipFill>
        </p:spPr>
        <p:txBody>
          <a:bodyPr/>
          <a:lstStyle/>
          <a:p/>
        </p:txBody>
      </p:sp>
      <p:grpSp>
        <p:nvGrpSpPr>
          <p:cNvPr id="8" name="Group 8"/>
          <p:cNvGrpSpPr/>
          <p:nvPr/>
        </p:nvGrpSpPr>
        <p:grpSpPr>
          <a:xfrm>
            <a:off x="1474646" y="857603"/>
            <a:ext cx="15225227" cy="8968096"/>
            <a:chExt cx="4009936" cy="2361968"/>
          </a:xfrm>
        </p:grpSpPr>
        <p:sp>
          <p:nvSpPr>
            <p:cNvPr id="9" name="Freeform 9"/>
            <p:cNvSpPr/>
            <p:nvPr/>
          </p:nvSpPr>
          <p:spPr>
            <a:xfrm>
              <a:off x="0" y="0"/>
              <a:ext cx="4009937" cy="2361968"/>
            </a:xfrm>
            <a:custGeom>
              <a:rect l="l" t="t" r="r" b="b"/>
              <a:pathLst>
                <a:path w="4009937" h="2361968">
                  <a:moveTo>
                    <a:pt x="25933" y="0"/>
                  </a:moveTo>
                  <a:lnTo>
                    <a:pt x="3984003" y="0"/>
                  </a:lnTo>
                  <a:cubicBezTo>
                    <a:pt x="3990881" y="0"/>
                    <a:pt x="3997478" y="2732"/>
                    <a:pt x="4002341" y="7596"/>
                  </a:cubicBezTo>
                  <a:cubicBezTo>
                    <a:pt x="4007204" y="12459"/>
                    <a:pt x="4009937" y="19055"/>
                    <a:pt x="4009937" y="25933"/>
                  </a:cubicBezTo>
                  <a:lnTo>
                    <a:pt x="4009937" y="2336035"/>
                  </a:lnTo>
                  <a:cubicBezTo>
                    <a:pt x="4009937" y="2342912"/>
                    <a:pt x="4007204" y="2349509"/>
                    <a:pt x="4002341" y="2354372"/>
                  </a:cubicBezTo>
                  <a:cubicBezTo>
                    <a:pt x="3997478" y="2359235"/>
                    <a:pt x="3990881" y="2361968"/>
                    <a:pt x="3984003" y="2361968"/>
                  </a:cubicBezTo>
                  <a:lnTo>
                    <a:pt x="25933" y="2361968"/>
                  </a:lnTo>
                  <a:cubicBezTo>
                    <a:pt x="19055" y="2361968"/>
                    <a:pt x="12459" y="2359235"/>
                    <a:pt x="7596" y="2354372"/>
                  </a:cubicBezTo>
                  <a:cubicBezTo>
                    <a:pt x="2732" y="2349509"/>
                    <a:pt x="0" y="2342912"/>
                    <a:pt x="0" y="2336035"/>
                  </a:cubicBezTo>
                  <a:lnTo>
                    <a:pt x="0" y="25933"/>
                  </a:lnTo>
                  <a:cubicBezTo>
                    <a:pt x="0" y="19055"/>
                    <a:pt x="2732" y="12459"/>
                    <a:pt x="7596" y="7596"/>
                  </a:cubicBezTo>
                  <a:cubicBezTo>
                    <a:pt x="12459" y="2732"/>
                    <a:pt x="19055" y="0"/>
                    <a:pt x="25933" y="0"/>
                  </a:cubicBezTo>
                  <a:close/>
                </a:path>
              </a:pathLst>
            </a:custGeom>
            <a:gradFill rotWithShape="1">
              <a:gsLst>
                <a:gs pos="0">
                  <a:srgbClr val="000000">
                    <a:alpha val="63000"/>
                  </a:srgbClr>
                </a:gs>
                <a:gs pos="100000">
                  <a:srgbClr val="740F0F">
                    <a:alpha val="63000"/>
                  </a:srgbClr>
                </a:gs>
              </a:gsLst>
              <a:lin ang="5400000"/>
            </a:gradFill>
          </p:spPr>
          <p:txBody>
            <a:bodyPr/>
            <a:lstStyle/>
            <a:p/>
          </p:txBody>
        </p:sp>
        <p:sp>
          <p:nvSpPr>
            <p:cNvPr id="10" name="TextBox 10"/>
            <p:cNvSpPr txBox="1"/>
            <p:nvPr/>
          </p:nvSpPr>
          <p:spPr>
            <a:xfrm>
              <a:off x="0" y="-85725"/>
              <a:ext cx="4009936" cy="2447693"/>
            </a:xfrm>
            <a:prstGeom prst="rect">
              <a:avLst/>
            </a:prstGeom>
          </p:spPr>
          <p:txBody>
            <a:bodyPr lIns="50800" tIns="50800" rIns="50800" bIns="50800" rtlCol="0" anchor="ctr"/>
            <a:lstStyle/>
            <a:p>
              <a:pPr algn="ctr">
                <a:lnSpc>
                  <a:spcPts val="2679"/>
                </a:lnSpc>
              </a:pPr>
            </a:p>
          </p:txBody>
        </p:sp>
      </p:grpSp>
      <p:sp>
        <p:nvSpPr>
          <p:cNvPr id="11" name="TextBox 11"/>
          <p:cNvSpPr txBox="1"/>
          <p:nvPr/>
        </p:nvSpPr>
        <p:spPr>
          <a:xfrm>
            <a:off x="6425016" y="1121638"/>
            <a:ext cx="5835189" cy="1166163"/>
          </a:xfrm>
          <a:prstGeom prst="rect">
            <a:avLst/>
          </a:prstGeom>
        </p:spPr>
        <p:txBody>
          <a:bodyPr lIns="0" tIns="0" rIns="0" bIns="0" rtlCol="0" anchor="t">
            <a:spAutoFit/>
          </a:bodyPr>
          <a:lstStyle/>
          <a:p>
            <a:pPr algn="ctr">
              <a:lnSpc>
                <a:spcPts val="7483"/>
              </a:lnSpc>
            </a:pPr>
            <a:r>
              <a:rPr lang="en-US" sz="6993" b="1">
                <a:solidFill>
                  <a:srgbClr val="E85041"/>
                </a:solidFill>
                <a:latin typeface="Agrandir Bold"/>
                <a:ea typeface="Agrandir Bold"/>
                <a:cs typeface="Agrandir Bold"/>
                <a:sym typeface="Agrandir Bold"/>
              </a:rPr>
              <a:t>Saran </a:t>
            </a:r>
          </a:p>
        </p:txBody>
      </p:sp>
      <p:sp>
        <p:nvSpPr>
          <p:cNvPr id="12" name="TextBox 12"/>
          <p:cNvSpPr txBox="1"/>
          <p:nvPr/>
        </p:nvSpPr>
        <p:spPr>
          <a:xfrm>
            <a:off x="2017713" y="2217451"/>
            <a:ext cx="14252573" cy="7608249"/>
          </a:xfrm>
          <a:prstGeom prst="rect">
            <a:avLst/>
          </a:prstGeom>
        </p:spPr>
        <p:txBody>
          <a:bodyPr lIns="0" tIns="0" rIns="0" bIns="0" rtlCol="0" anchor="t">
            <a:spAutoFit/>
          </a:bodyPr>
          <a:lstStyle/>
          <a:p>
            <a:pPr marL="742586" lvl="1" indent="-371293" algn="just">
              <a:lnSpc>
                <a:spcPts val="4608"/>
              </a:lnSpc>
              <a:buFont typeface="Arial"/>
              <a:buChar char="•"/>
            </a:pPr>
            <a:r>
              <a:rPr lang="en-US" sz="3439">
                <a:solidFill>
                  <a:srgbClr val="FFFFFF"/>
                </a:solidFill>
                <a:latin typeface="Agrandir"/>
                <a:ea typeface="Agrandir"/>
                <a:cs typeface="Agrandir"/>
                <a:sym typeface="Agrandir"/>
              </a:rPr>
              <a:t>Optimasi Parameter XGBoost</a:t>
            </a:r>
          </a:p>
          <a:p>
            <a:pPr algn="just">
              <a:lnSpc>
                <a:spcPts val="4608"/>
              </a:lnSpc>
            </a:pPr>
            <a:r>
              <a:rPr lang="en-US" sz="3439">
                <a:solidFill>
                  <a:srgbClr val="FFFFFF"/>
                </a:solidFill>
                <a:latin typeface="Agrandir"/>
                <a:ea typeface="Agrandir"/>
                <a:cs typeface="Agrandir"/>
                <a:sym typeface="Agrandir"/>
              </a:rPr>
              <a:t>Gunakan teknik cross-validation untuk menyetel parameter seperti learning_rate dan max_depth.</a:t>
            </a:r>
          </a:p>
          <a:p>
            <a:pPr marL="742586" lvl="1" indent="-371293" algn="just">
              <a:lnSpc>
                <a:spcPts val="4608"/>
              </a:lnSpc>
              <a:buFont typeface="Arial"/>
              <a:buChar char="•"/>
            </a:pPr>
            <a:r>
              <a:rPr lang="en-US" sz="3439">
                <a:solidFill>
                  <a:srgbClr val="FFFFFF"/>
                </a:solidFill>
                <a:latin typeface="Agrandir"/>
                <a:ea typeface="Agrandir"/>
                <a:cs typeface="Agrandir"/>
                <a:sym typeface="Agrandir"/>
              </a:rPr>
              <a:t>Penambahan Fitur Eksternal</a:t>
            </a:r>
          </a:p>
          <a:p>
            <a:pPr algn="just">
              <a:lnSpc>
                <a:spcPts val="4608"/>
              </a:lnSpc>
            </a:pPr>
            <a:r>
              <a:rPr lang="en-US" sz="3439">
                <a:solidFill>
                  <a:srgbClr val="FFFFFF"/>
                </a:solidFill>
                <a:latin typeface="Agrandir"/>
                <a:ea typeface="Agrandir"/>
                <a:cs typeface="Agrandir"/>
                <a:sym typeface="Agrandir"/>
              </a:rPr>
              <a:t>Sertakan faktor seperti sentimen pasar, indikator makroekonomi, dan berita ekonomi untuk memperkaya input model.</a:t>
            </a:r>
          </a:p>
          <a:p>
            <a:pPr marL="742586" lvl="1" indent="-371293" algn="just">
              <a:lnSpc>
                <a:spcPts val="4608"/>
              </a:lnSpc>
              <a:buFont typeface="Arial"/>
              <a:buChar char="•"/>
            </a:pPr>
            <a:r>
              <a:rPr lang="en-US" sz="3439">
                <a:solidFill>
                  <a:srgbClr val="FFFFFF"/>
                </a:solidFill>
                <a:latin typeface="Agrandir"/>
                <a:ea typeface="Agrandir"/>
                <a:cs typeface="Agrandir"/>
                <a:sym typeface="Agrandir"/>
              </a:rPr>
              <a:t>Penggunaan Data Berfrekuensi Lebih Tinggi</a:t>
            </a:r>
          </a:p>
          <a:p>
            <a:pPr algn="just">
              <a:lnSpc>
                <a:spcPts val="4608"/>
              </a:lnSpc>
            </a:pPr>
            <a:r>
              <a:rPr lang="en-US" sz="3439">
                <a:solidFill>
                  <a:srgbClr val="FFFFFF"/>
                </a:solidFill>
                <a:latin typeface="Agrandir"/>
                <a:ea typeface="Agrandir"/>
                <a:cs typeface="Agrandir"/>
                <a:sym typeface="Agrandir"/>
              </a:rPr>
              <a:t>Analisis data per jam atau menit dapat menangkap fluktuasi harga yang lebih dinamis.</a:t>
            </a:r>
          </a:p>
          <a:p>
            <a:pPr marL="742586" lvl="1" indent="-371293" algn="just">
              <a:lnSpc>
                <a:spcPts val="4608"/>
              </a:lnSpc>
              <a:buFont typeface="Arial"/>
              <a:buChar char="•"/>
            </a:pPr>
            <a:r>
              <a:rPr lang="en-US" sz="3439">
                <a:solidFill>
                  <a:srgbClr val="FFFFFF"/>
                </a:solidFill>
                <a:latin typeface="Agrandir"/>
                <a:ea typeface="Agrandir"/>
                <a:cs typeface="Agrandir"/>
                <a:sym typeface="Agrandir"/>
              </a:rPr>
              <a:t>Eksplorasi Model Canggih</a:t>
            </a:r>
          </a:p>
          <a:p>
            <a:pPr algn="just">
              <a:lnSpc>
                <a:spcPts val="4608"/>
              </a:lnSpc>
            </a:pPr>
            <a:r>
              <a:rPr lang="en-US" sz="3439">
                <a:solidFill>
                  <a:srgbClr val="FFFFFF"/>
                </a:solidFill>
                <a:latin typeface="Agrandir"/>
                <a:ea typeface="Agrandir"/>
                <a:cs typeface="Agrandir"/>
                <a:sym typeface="Agrandir"/>
              </a:rPr>
              <a:t>Terapkan model deep learning seperti LSTM untuk menangani pola time series yang lebih kompleks.</a:t>
            </a:r>
          </a:p>
          <a:p>
            <a:pPr algn="just">
              <a:lnSpc>
                <a:spcPts val="4340"/>
              </a:lnSpc>
            </a:pPr>
            <a:endParaRPr lang="en-US" sz="3439">
              <a:solidFill>
                <a:srgbClr val="FFFFFF"/>
              </a:solidFill>
              <a:latin typeface="Agrandir"/>
              <a:ea typeface="Agrandir"/>
              <a:cs typeface="Agrandir"/>
              <a:sym typeface="Agrandir"/>
            </a:endParaRPr>
          </a:p>
        </p:txBody>
      </p:sp>
    </p:spTree>
  </p:cSld>
  <p:clrMapOvr>
    <a:masterClrMapping/>
  </p:clrMapOvr>
  <p:transition/>
  <p:timing/>
</p:sld>
</file>

<file path=ppt/slides/slide48.xml><?xml version="1.0" encoding="utf-8"?>
<p:sld xmlns:a="http://schemas.openxmlformats.org/drawingml/2006/main" xmlns:r="http://schemas.openxmlformats.org/officeDocument/2006/relationships" xmlns:p14="http://schemas.microsoft.com/office/powerpoint/2010/main" xmlns:a14="http://schemas.microsoft.com/office/drawing/2010/main" xmlns:p15="http://schemas.microsoft.com/office/powerpoint/2012/main" xmlns:p159="http://schemas.microsoft.com/office/powerpoint/2015/09/main" xmlns:p="http://schemas.openxmlformats.org/presentationml/2006/main">
  <p:cSld>
    <p:spTree>
      <p:nvGrpSpPr>
        <p:cNvPr id="1" name=""/>
        <p:cNvGrpSpPr/>
        <p:nvPr/>
      </p:nvGrpSpPr>
      <p:grpSpPr>
        <a:xfrm>
          <a:off x="0" y="0"/>
          <a:ext cx="0" cy="0"/>
        </a:xfrm>
      </p:grpSpPr>
      <p:sp>
        <p:nvSpPr>
          <p:cNvPr id="2" name="Freeform 2"/>
          <p:cNvSpPr/>
          <p:nvPr/>
        </p:nvSpPr>
        <p:spPr>
          <a:xfrm>
            <a:off x="0" y="0"/>
            <a:ext cx="18288000" cy="10287000"/>
          </a:xfrm>
          <a:custGeom>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p:txBody>
      </p:sp>
      <p:sp>
        <p:nvSpPr>
          <p:cNvPr id="3" name="TextBox 3"/>
          <p:cNvSpPr txBox="1"/>
          <p:nvPr/>
        </p:nvSpPr>
        <p:spPr>
          <a:xfrm>
            <a:off x="2569947" y="4072370"/>
            <a:ext cx="13148108" cy="2355166"/>
          </a:xfrm>
          <a:prstGeom prst="rect">
            <a:avLst/>
          </a:prstGeom>
        </p:spPr>
        <p:txBody>
          <a:bodyPr lIns="0" tIns="0" rIns="0" bIns="0" rtlCol="0" anchor="t">
            <a:spAutoFit/>
          </a:bodyPr>
          <a:lstStyle/>
          <a:p>
            <a:pPr algn="ctr">
              <a:lnSpc>
                <a:spcPts val="14976"/>
              </a:lnSpc>
            </a:pPr>
            <a:r>
              <a:rPr lang="en-US" sz="13997" b="1">
                <a:solidFill>
                  <a:srgbClr val="E85041"/>
                </a:solidFill>
                <a:latin typeface="Agrandir Bold"/>
                <a:ea typeface="Agrandir Bold"/>
                <a:cs typeface="Agrandir Bold"/>
                <a:sym typeface="Agrandir Bold"/>
              </a:rPr>
              <a:t>THANK YOU</a:t>
            </a:r>
          </a:p>
        </p:txBody>
      </p:sp>
      <p:sp>
        <p:nvSpPr>
          <p:cNvPr id="4" name="Freeform 4"/>
          <p:cNvSpPr/>
          <p:nvPr/>
        </p:nvSpPr>
        <p:spPr>
          <a:xfrm rot="5400000">
            <a:off x="1349934" y="707466"/>
            <a:ext cx="320358" cy="962826"/>
          </a:xfrm>
          <a:custGeom>
            <a:rect l="l" t="t" r="r" b="b"/>
            <a:pathLst>
              <a:path w="320358" h="962826">
                <a:moveTo>
                  <a:pt x="0" y="0"/>
                </a:moveTo>
                <a:lnTo>
                  <a:pt x="320358" y="0"/>
                </a:lnTo>
                <a:lnTo>
                  <a:pt x="320358" y="962826"/>
                </a:lnTo>
                <a:lnTo>
                  <a:pt x="0" y="96282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p:txBody>
      </p:sp>
      <p:sp>
        <p:nvSpPr>
          <p:cNvPr id="5" name="Freeform 5"/>
          <p:cNvSpPr/>
          <p:nvPr/>
        </p:nvSpPr>
        <p:spPr>
          <a:xfrm rot="5400000" flipH="1" flipV="1">
            <a:off x="16617708" y="8587367"/>
            <a:ext cx="320358" cy="962826"/>
          </a:xfrm>
          <a:custGeom>
            <a:rect l="l" t="t" r="r" b="b"/>
            <a:pathLst>
              <a:path w="320358" h="962826">
                <a:moveTo>
                  <a:pt x="320358" y="962826"/>
                </a:moveTo>
                <a:lnTo>
                  <a:pt x="0" y="962826"/>
                </a:lnTo>
                <a:lnTo>
                  <a:pt x="0" y="0"/>
                </a:lnTo>
                <a:lnTo>
                  <a:pt x="320358" y="0"/>
                </a:lnTo>
                <a:lnTo>
                  <a:pt x="320358" y="962826"/>
                </a:lnTo>
                <a:close/>
              </a:path>
            </a:pathLst>
          </a:custGeom>
          <a:blipFill>
            <a:blip r:embed="rId3">
              <a:extLst>
                <a:ext uri="{96DAC541-7B7A-43D3-8B79-37D633B846F1}">
                  <asvg:svgBlip xmlns:asvg="http://schemas.microsoft.com/office/drawing/2016/SVG/main" r:embed="rId5"/>
                </a:ext>
              </a:extLst>
            </a:blip>
            <a:stretch>
              <a:fillRect/>
            </a:stretch>
          </a:blipFill>
        </p:spPr>
        <p:txBody>
          <a:bodyPr/>
          <a:lstStyle/>
          <a:p/>
        </p:txBody>
      </p:sp>
      <p:sp>
        <p:nvSpPr>
          <p:cNvPr id="6" name="Freeform 6"/>
          <p:cNvSpPr/>
          <p:nvPr/>
        </p:nvSpPr>
        <p:spPr>
          <a:xfrm>
            <a:off x="-3850612" y="5825329"/>
            <a:ext cx="8513313" cy="8513313"/>
          </a:xfrm>
          <a:custGeom>
            <a:rect l="l" t="t" r="r" b="b"/>
            <a:pathLst>
              <a:path w="8513313" h="8513313">
                <a:moveTo>
                  <a:pt x="0" y="0"/>
                </a:moveTo>
                <a:lnTo>
                  <a:pt x="8513313" y="0"/>
                </a:lnTo>
                <a:lnTo>
                  <a:pt x="8513313" y="8513314"/>
                </a:lnTo>
                <a:lnTo>
                  <a:pt x="0" y="8513314"/>
                </a:lnTo>
                <a:lnTo>
                  <a:pt x="0" y="0"/>
                </a:lnTo>
                <a:close/>
              </a:path>
            </a:pathLst>
          </a:custGeom>
          <a:blipFill>
            <a:blip r:embed="rId6">
              <a:alphaModFix amt="38000"/>
              <a:extLst>
                <a:ext uri="{96DAC541-7B7A-43D3-8B79-37D633B846F1}">
                  <asvg:svgBlip xmlns:asvg="http://schemas.microsoft.com/office/drawing/2016/SVG/main" r:embed="rId7"/>
                </a:ext>
              </a:extLst>
            </a:blip>
            <a:stretch>
              <a:fillRect/>
            </a:stretch>
          </a:blipFill>
        </p:spPr>
        <p:txBody>
          <a:bodyPr/>
          <a:lstStyle/>
          <a:p/>
        </p:txBody>
      </p:sp>
      <p:sp>
        <p:nvSpPr>
          <p:cNvPr id="7" name="Freeform 7"/>
          <p:cNvSpPr/>
          <p:nvPr/>
        </p:nvSpPr>
        <p:spPr>
          <a:xfrm>
            <a:off x="13237170" y="-3369813"/>
            <a:ext cx="8513313" cy="8513313"/>
          </a:xfrm>
          <a:custGeom>
            <a:rect l="l" t="t" r="r" b="b"/>
            <a:pathLst>
              <a:path w="8513313" h="8513313">
                <a:moveTo>
                  <a:pt x="0" y="0"/>
                </a:moveTo>
                <a:lnTo>
                  <a:pt x="8513314" y="0"/>
                </a:lnTo>
                <a:lnTo>
                  <a:pt x="8513314" y="8513313"/>
                </a:lnTo>
                <a:lnTo>
                  <a:pt x="0" y="8513313"/>
                </a:lnTo>
                <a:lnTo>
                  <a:pt x="0" y="0"/>
                </a:lnTo>
                <a:close/>
              </a:path>
            </a:pathLst>
          </a:custGeom>
          <a:blipFill>
            <a:blip r:embed="rId6">
              <a:alphaModFix amt="38000"/>
              <a:extLst>
                <a:ext uri="{96DAC541-7B7A-43D3-8B79-37D633B846F1}">
                  <asvg:svgBlip xmlns:asvg="http://schemas.microsoft.com/office/drawing/2016/SVG/main" r:embed="rId8"/>
                </a:ext>
              </a:extLst>
            </a:blip>
            <a:stretch>
              <a:fillRect/>
            </a:stretch>
          </a:blipFill>
        </p:spPr>
        <p:txBody>
          <a:bodyPr/>
          <a:lstStyle/>
          <a:p/>
        </p:txBody>
      </p:sp>
    </p:spTree>
  </p:cSld>
  <p:clrMapOvr>
    <a:masterClrMapping/>
  </p:clrMapOvr>
  <p:transition/>
  <p:timing/>
</p:sld>
</file>

<file path=ppt/tags/tag1.xml><?xml version="1.0" encoding="utf-8"?>
<p:tagLst xmlns:p="http://schemas.openxmlformats.org/presentationml/2006/main">
  <p:tag name="AS_NET" val="4.0.30319.42000"/>
  <p:tag name="AS_OS" val="Microsoft Windows NT 10.0.14393.0"/>
  <p:tag name="AS_RELEASE_DATE" val="2019.12.14"/>
  <p:tag name="AS_TITLE" val="Aspose.Slides for .NET 4.0 Client Profile"/>
  <p:tag name="AS_VERSION" val="19.12"/>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heme>
</file>

<file path=docProps/app.xml><?xml version="1.0" encoding="utf-8"?>
<Properties xmlns:vt="http://schemas.openxmlformats.org/officeDocument/2006/docPropsVTypes" xmlns="http://schemas.openxmlformats.org/officeDocument/2006/extended-properties">
  <Company/>
  <PresentationFormat>On-screen Show (4:3)</PresentationFormat>
  <Paragraphs>368</Paragraphs>
  <Slides>48</Slides>
  <Notes>0</Notes>
  <TotalTime>0</TotalTime>
  <HiddenSlides>0</HiddenSlides>
  <MMClips>0</MMClips>
  <ScaleCrop>0</ScaleCrop>
  <HeadingPairs>
    <vt:vector baseType="variant" size="6">
      <vt:variant>
        <vt:lpstr>Fonts used</vt:lpstr>
      </vt:variant>
      <vt:variant>
        <vt:i4>9</vt:i4>
      </vt:variant>
      <vt:variant>
        <vt:lpstr>Theme</vt:lpstr>
      </vt:variant>
      <vt:variant>
        <vt:i4>1</vt:i4>
      </vt:variant>
      <vt:variant>
        <vt:lpstr>Slide Titles</vt:lpstr>
      </vt:variant>
      <vt:variant>
        <vt:i4>48</vt:i4>
      </vt:variant>
    </vt:vector>
  </HeadingPairs>
  <TitlesOfParts>
    <vt:vector baseType="lpstr" size="58">
      <vt:lpstr>Arial</vt:lpstr>
      <vt:lpstr>Calibri</vt:lpstr>
      <vt:lpstr>Agrandir Bold</vt:lpstr>
      <vt:lpstr>Montserrat Semi-Bold</vt:lpstr>
      <vt:lpstr>Montserrat Bold</vt:lpstr>
      <vt:lpstr>Agrandir</vt:lpstr>
      <vt:lpstr>Helvetica World Bold</vt:lpstr>
      <vt:lpstr>Inter</vt:lpstr>
      <vt:lpstr>Londrina Solid Heavy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19.1200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Group 9 BBCA Stocks ALP Data Science</dc:title>
  <cp:revision>1</cp:revision>
  <dcterms:created xsi:type="dcterms:W3CDTF">2006-08-16T00:00:00Z</dcterms:created>
  <dcterms:modified xsi:type="dcterms:W3CDTF">2025-06-09T11:35:44Z</dcterms:modified>
</cp:coreProperties>
</file>